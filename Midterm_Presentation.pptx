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65" r:id="rId2"/>
    <p:sldId id="257" r:id="rId3"/>
    <p:sldId id="258" r:id="rId4"/>
    <p:sldId id="264" r:id="rId5"/>
    <p:sldId id="263" r:id="rId6"/>
    <p:sldId id="261" r:id="rId7"/>
    <p:sldId id="259" r:id="rId8"/>
    <p:sldId id="260" r:id="rId9"/>
    <p:sldId id="262" r:id="rId10"/>
    <p:sldId id="266" r:id="rId11"/>
    <p:sldId id="267" r:id="rId12"/>
    <p:sldId id="268"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B206B"/>
    <a:srgbClr val="BA90DC"/>
    <a:srgbClr val="FF9F00"/>
    <a:srgbClr val="FCFC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866"/>
    <p:restoredTop sz="94610"/>
  </p:normalViewPr>
  <p:slideViewPr>
    <p:cSldViewPr snapToGrid="0" snapToObjects="1">
      <p:cViewPr varScale="1">
        <p:scale>
          <a:sx n="125" d="100"/>
          <a:sy n="125" d="100"/>
        </p:scale>
        <p:origin x="192" y="2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5BE29F7-30B5-2A45-BECC-B76E9C6598E6}" type="doc">
      <dgm:prSet loTypeId="urn:microsoft.com/office/officeart/2005/8/layout/hProcess9" loCatId="" qsTypeId="urn:microsoft.com/office/officeart/2005/8/quickstyle/simple1" qsCatId="simple" csTypeId="urn:microsoft.com/office/officeart/2005/8/colors/accent1_1" csCatId="accent1" phldr="1"/>
      <dgm:spPr/>
    </dgm:pt>
    <dgm:pt modelId="{076A6EB9-C2EF-0B44-ADCC-3E5EAC74EA94}">
      <dgm:prSet phldrT="[Text]" custT="1"/>
      <dgm:spPr>
        <a:ln w="19050">
          <a:solidFill>
            <a:srgbClr val="4B206B"/>
          </a:solidFill>
        </a:ln>
      </dgm:spPr>
      <dgm:t>
        <a:bodyPr/>
        <a:lstStyle/>
        <a:p>
          <a:pPr algn="ctr">
            <a:buNone/>
          </a:pPr>
          <a:r>
            <a:rPr lang="en-US" sz="1600" b="1" dirty="0">
              <a:solidFill>
                <a:srgbClr val="4B206B"/>
              </a:solidFill>
              <a:latin typeface="Calibri" panose="020F0502020204030204" pitchFamily="34" charset="0"/>
              <a:ea typeface="IBM Plex Sans" pitchFamily="34" charset="-122"/>
              <a:cs typeface="Calibri" panose="020F0502020204030204" pitchFamily="34" charset="0"/>
            </a:rPr>
            <a:t>1</a:t>
          </a:r>
        </a:p>
        <a:p>
          <a:pPr algn="l">
            <a:buNone/>
          </a:pPr>
          <a:r>
            <a:rPr lang="en-US" sz="1400" b="1" dirty="0">
              <a:solidFill>
                <a:schemeClr val="tx1"/>
              </a:solidFill>
              <a:latin typeface="Calibri" panose="020F0502020204030204" pitchFamily="34" charset="0"/>
              <a:ea typeface="IBM Plex Sans" pitchFamily="34" charset="-122"/>
              <a:cs typeface="Calibri" panose="020F0502020204030204" pitchFamily="34" charset="0"/>
            </a:rPr>
            <a:t>Validation images share the augmented train folder: </a:t>
          </a:r>
          <a:r>
            <a:rPr lang="en-US" sz="1400" dirty="0">
              <a:solidFill>
                <a:schemeClr val="tx1"/>
              </a:solidFill>
              <a:latin typeface="Calibri" panose="020F0502020204030204" pitchFamily="34" charset="0"/>
              <a:ea typeface="IBM Plex Sans" pitchFamily="34" charset="-122"/>
              <a:cs typeface="Calibri" panose="020F0502020204030204" pitchFamily="34" charset="0"/>
            </a:rPr>
            <a:t>25.4% have a training neighbor at similarity ≥ 0.95, versus 0.5% of test images. Every configuration lands near 100%, so validation can no longer tell them apart.</a:t>
          </a:r>
          <a:endParaRPr lang="en-US" sz="1400" dirty="0">
            <a:solidFill>
              <a:schemeClr val="tx1"/>
            </a:solidFill>
            <a:latin typeface="Calibri" panose="020F0502020204030204" pitchFamily="34" charset="0"/>
            <a:cs typeface="Calibri" panose="020F0502020204030204" pitchFamily="34" charset="0"/>
          </a:endParaRPr>
        </a:p>
      </dgm:t>
    </dgm:pt>
    <dgm:pt modelId="{2044476B-0F71-E24A-9C30-D7B7118831A8}" type="parTrans" cxnId="{83FE7777-6422-C144-AFA7-2FFA08D1A58E}">
      <dgm:prSet/>
      <dgm:spPr/>
      <dgm:t>
        <a:bodyPr/>
        <a:lstStyle/>
        <a:p>
          <a:endParaRPr lang="en-US" sz="1400">
            <a:solidFill>
              <a:schemeClr val="tx1"/>
            </a:solidFill>
            <a:latin typeface="Calibri" panose="020F0502020204030204" pitchFamily="34" charset="0"/>
            <a:cs typeface="Calibri" panose="020F0502020204030204" pitchFamily="34" charset="0"/>
          </a:endParaRPr>
        </a:p>
      </dgm:t>
    </dgm:pt>
    <dgm:pt modelId="{44F3BBB6-28CF-BC42-BE2C-78257D6A2C00}" type="sibTrans" cxnId="{83FE7777-6422-C144-AFA7-2FFA08D1A58E}">
      <dgm:prSet/>
      <dgm:spPr/>
      <dgm:t>
        <a:bodyPr/>
        <a:lstStyle/>
        <a:p>
          <a:endParaRPr lang="en-US" sz="1400">
            <a:solidFill>
              <a:schemeClr val="tx1"/>
            </a:solidFill>
            <a:latin typeface="Calibri" panose="020F0502020204030204" pitchFamily="34" charset="0"/>
            <a:cs typeface="Calibri" panose="020F0502020204030204" pitchFamily="34" charset="0"/>
          </a:endParaRPr>
        </a:p>
      </dgm:t>
    </dgm:pt>
    <dgm:pt modelId="{87BD2B4C-BB59-0849-8C7C-981B826A996D}">
      <dgm:prSet phldrT="[Text]" custT="1"/>
      <dgm:spPr>
        <a:ln w="19050">
          <a:solidFill>
            <a:srgbClr val="4B206B"/>
          </a:solidFill>
        </a:ln>
      </dgm:spPr>
      <dgm:t>
        <a:bodyPr/>
        <a:lstStyle/>
        <a:p>
          <a:pPr algn="ctr">
            <a:buNone/>
          </a:pPr>
          <a:r>
            <a:rPr lang="en-US" sz="1600" b="1" dirty="0">
              <a:solidFill>
                <a:srgbClr val="4B206B"/>
              </a:solidFill>
              <a:latin typeface="Calibri" panose="020F0502020204030204" pitchFamily="34" charset="0"/>
              <a:ea typeface="IBM Plex Sans" pitchFamily="34" charset="-122"/>
              <a:cs typeface="Calibri" panose="020F0502020204030204" pitchFamily="34" charset="0"/>
            </a:rPr>
            <a:t>2</a:t>
          </a:r>
        </a:p>
        <a:p>
          <a:pPr algn="l">
            <a:buNone/>
          </a:pPr>
          <a:r>
            <a:rPr lang="en-US" sz="1400" b="1" dirty="0">
              <a:solidFill>
                <a:schemeClr val="tx1"/>
              </a:solidFill>
              <a:latin typeface="Calibri" panose="020F0502020204030204" pitchFamily="34" charset="0"/>
              <a:ea typeface="IBM Plex Sans" pitchFamily="34" charset="-122"/>
              <a:cs typeface="Calibri" panose="020F0502020204030204" pitchFamily="34" charset="0"/>
            </a:rPr>
            <a:t>Test folder stays sealed until the configuration is final, then one evaluation only: </a:t>
          </a:r>
          <a:r>
            <a:rPr lang="en-US" sz="1400" b="0" dirty="0">
              <a:solidFill>
                <a:schemeClr val="tx1"/>
              </a:solidFill>
              <a:latin typeface="Calibri" panose="020F0502020204030204" pitchFamily="34" charset="0"/>
              <a:ea typeface="IBM Plex Sans" pitchFamily="34" charset="-122"/>
              <a:cs typeface="Calibri" panose="020F0502020204030204" pitchFamily="34" charset="0"/>
            </a:rPr>
            <a:t>A</a:t>
          </a:r>
          <a:r>
            <a:rPr lang="en-US" sz="1400" dirty="0">
              <a:solidFill>
                <a:schemeClr val="tx1"/>
              </a:solidFill>
              <a:latin typeface="Calibri" panose="020F0502020204030204" pitchFamily="34" charset="0"/>
              <a:ea typeface="IBM Plex Sans" pitchFamily="34" charset="-122"/>
              <a:cs typeface="Calibri" panose="020F0502020204030204" pitchFamily="34" charset="0"/>
            </a:rPr>
            <a:t>ccuracy, per-class precision/recall, macro-F1, confusion matrix, next to the 90% baseline.</a:t>
          </a:r>
          <a:endParaRPr lang="en-US" sz="1400" dirty="0">
            <a:solidFill>
              <a:schemeClr val="tx1"/>
            </a:solidFill>
            <a:latin typeface="Calibri" panose="020F0502020204030204" pitchFamily="34" charset="0"/>
            <a:cs typeface="Calibri" panose="020F0502020204030204" pitchFamily="34" charset="0"/>
          </a:endParaRPr>
        </a:p>
      </dgm:t>
    </dgm:pt>
    <dgm:pt modelId="{F0ECA828-AD9C-C041-B6BF-2E9C428B8700}" type="parTrans" cxnId="{FAD051E6-DA77-724F-9D52-D22CC147FCAB}">
      <dgm:prSet/>
      <dgm:spPr/>
      <dgm:t>
        <a:bodyPr/>
        <a:lstStyle/>
        <a:p>
          <a:endParaRPr lang="en-US" sz="1400">
            <a:solidFill>
              <a:schemeClr val="tx1"/>
            </a:solidFill>
            <a:latin typeface="Calibri" panose="020F0502020204030204" pitchFamily="34" charset="0"/>
            <a:cs typeface="Calibri" panose="020F0502020204030204" pitchFamily="34" charset="0"/>
          </a:endParaRPr>
        </a:p>
      </dgm:t>
    </dgm:pt>
    <dgm:pt modelId="{D8A3898E-AB02-F54C-BE40-955319C3771F}" type="sibTrans" cxnId="{FAD051E6-DA77-724F-9D52-D22CC147FCAB}">
      <dgm:prSet/>
      <dgm:spPr/>
      <dgm:t>
        <a:bodyPr/>
        <a:lstStyle/>
        <a:p>
          <a:endParaRPr lang="en-US" sz="1400">
            <a:solidFill>
              <a:schemeClr val="tx1"/>
            </a:solidFill>
            <a:latin typeface="Calibri" panose="020F0502020204030204" pitchFamily="34" charset="0"/>
            <a:cs typeface="Calibri" panose="020F0502020204030204" pitchFamily="34" charset="0"/>
          </a:endParaRPr>
        </a:p>
      </dgm:t>
    </dgm:pt>
    <dgm:pt modelId="{42335B55-D8C3-3E4D-BA43-61DE45DC4DF1}">
      <dgm:prSet phldrT="[Text]" custT="1"/>
      <dgm:spPr>
        <a:ln w="19050">
          <a:solidFill>
            <a:srgbClr val="4B206B"/>
          </a:solidFill>
        </a:ln>
      </dgm:spPr>
      <dgm:t>
        <a:bodyPr/>
        <a:lstStyle/>
        <a:p>
          <a:pPr algn="ctr">
            <a:buNone/>
          </a:pPr>
          <a:r>
            <a:rPr lang="en-US" sz="1600" b="1" dirty="0">
              <a:solidFill>
                <a:srgbClr val="4B206B"/>
              </a:solidFill>
              <a:latin typeface="Calibri" panose="020F0502020204030204" pitchFamily="34" charset="0"/>
              <a:ea typeface="IBM Plex Sans" pitchFamily="34" charset="-122"/>
              <a:cs typeface="Calibri" panose="020F0502020204030204" pitchFamily="34" charset="0"/>
            </a:rPr>
            <a:t>3</a:t>
          </a:r>
        </a:p>
        <a:p>
          <a:pPr algn="l">
            <a:buNone/>
          </a:pPr>
          <a:r>
            <a:rPr lang="en-US" sz="1400" b="1" dirty="0">
              <a:solidFill>
                <a:schemeClr val="tx1"/>
              </a:solidFill>
              <a:latin typeface="Calibri" panose="020F0502020204030204" pitchFamily="34" charset="0"/>
              <a:ea typeface="IBM Plex Sans" pitchFamily="34" charset="-122"/>
              <a:cs typeface="Calibri" panose="020F0502020204030204" pitchFamily="34" charset="0"/>
            </a:rPr>
            <a:t>Before that: </a:t>
          </a:r>
          <a:r>
            <a:rPr lang="en-US" sz="1400" b="0" dirty="0">
              <a:solidFill>
                <a:schemeClr val="tx1"/>
              </a:solidFill>
              <a:latin typeface="Calibri" panose="020F0502020204030204" pitchFamily="34" charset="0"/>
              <a:ea typeface="IBM Plex Sans" pitchFamily="34" charset="-122"/>
              <a:cs typeface="Calibri" panose="020F0502020204030204" pitchFamily="34" charset="0"/>
            </a:rPr>
            <a:t>A</a:t>
          </a:r>
          <a:r>
            <a:rPr lang="en-US" sz="1400" dirty="0">
              <a:solidFill>
                <a:schemeClr val="tx1"/>
              </a:solidFill>
              <a:latin typeface="Calibri" panose="020F0502020204030204" pitchFamily="34" charset="0"/>
              <a:ea typeface="IBM Plex Sans" pitchFamily="34" charset="-122"/>
              <a:cs typeface="Calibri" panose="020F0502020204030204" pitchFamily="34" charset="0"/>
            </a:rPr>
            <a:t>ugmentation on/off ablation, a rotation-aware overlap check, a full frozen-backbone run, and (budget permitting) EfficientNet-B0 and DenseNet-169 under the same training recipe.</a:t>
          </a:r>
          <a:endParaRPr lang="en-US" sz="1400" dirty="0">
            <a:solidFill>
              <a:schemeClr val="tx1"/>
            </a:solidFill>
            <a:latin typeface="Calibri" panose="020F0502020204030204" pitchFamily="34" charset="0"/>
            <a:cs typeface="Calibri" panose="020F0502020204030204" pitchFamily="34" charset="0"/>
          </a:endParaRPr>
        </a:p>
      </dgm:t>
    </dgm:pt>
    <dgm:pt modelId="{DBD45B30-8C81-E544-9AAA-09901BAAEE1E}" type="parTrans" cxnId="{FAA11042-3C7D-0148-811C-E701C5288247}">
      <dgm:prSet/>
      <dgm:spPr/>
      <dgm:t>
        <a:bodyPr/>
        <a:lstStyle/>
        <a:p>
          <a:endParaRPr lang="en-US" sz="1400">
            <a:solidFill>
              <a:schemeClr val="tx1"/>
            </a:solidFill>
            <a:latin typeface="Calibri" panose="020F0502020204030204" pitchFamily="34" charset="0"/>
            <a:cs typeface="Calibri" panose="020F0502020204030204" pitchFamily="34" charset="0"/>
          </a:endParaRPr>
        </a:p>
      </dgm:t>
    </dgm:pt>
    <dgm:pt modelId="{E46C7332-6A07-4A4D-AC5B-1BFD39CA4D12}" type="sibTrans" cxnId="{FAA11042-3C7D-0148-811C-E701C5288247}">
      <dgm:prSet/>
      <dgm:spPr/>
      <dgm:t>
        <a:bodyPr/>
        <a:lstStyle/>
        <a:p>
          <a:endParaRPr lang="en-US" sz="1400">
            <a:solidFill>
              <a:schemeClr val="tx1"/>
            </a:solidFill>
            <a:latin typeface="Calibri" panose="020F0502020204030204" pitchFamily="34" charset="0"/>
            <a:cs typeface="Calibri" panose="020F0502020204030204" pitchFamily="34" charset="0"/>
          </a:endParaRPr>
        </a:p>
      </dgm:t>
    </dgm:pt>
    <dgm:pt modelId="{17C7B514-FF7B-2D4B-8200-333A0142048A}" type="pres">
      <dgm:prSet presAssocID="{35BE29F7-30B5-2A45-BECC-B76E9C6598E6}" presName="CompostProcess" presStyleCnt="0">
        <dgm:presLayoutVars>
          <dgm:dir/>
          <dgm:resizeHandles val="exact"/>
        </dgm:presLayoutVars>
      </dgm:prSet>
      <dgm:spPr/>
    </dgm:pt>
    <dgm:pt modelId="{BAAF5141-503F-2142-8626-9D0988C52D4F}" type="pres">
      <dgm:prSet presAssocID="{35BE29F7-30B5-2A45-BECC-B76E9C6598E6}" presName="arrow" presStyleLbl="bgShp" presStyleIdx="0" presStyleCnt="1"/>
      <dgm:spPr>
        <a:solidFill>
          <a:srgbClr val="BA90DC">
            <a:alpha val="32941"/>
          </a:srgbClr>
        </a:solidFill>
      </dgm:spPr>
    </dgm:pt>
    <dgm:pt modelId="{24503A61-5A5A-1348-9880-AAF63EE472D3}" type="pres">
      <dgm:prSet presAssocID="{35BE29F7-30B5-2A45-BECC-B76E9C6598E6}" presName="linearProcess" presStyleCnt="0"/>
      <dgm:spPr/>
    </dgm:pt>
    <dgm:pt modelId="{4E9BBB35-0DDE-6B4B-B151-F74D86E88A90}" type="pres">
      <dgm:prSet presAssocID="{076A6EB9-C2EF-0B44-ADCC-3E5EAC74EA94}" presName="textNode" presStyleLbl="node1" presStyleIdx="0" presStyleCnt="3">
        <dgm:presLayoutVars>
          <dgm:bulletEnabled val="1"/>
        </dgm:presLayoutVars>
      </dgm:prSet>
      <dgm:spPr/>
    </dgm:pt>
    <dgm:pt modelId="{C682B896-3713-1446-88D7-6D2C436550D9}" type="pres">
      <dgm:prSet presAssocID="{44F3BBB6-28CF-BC42-BE2C-78257D6A2C00}" presName="sibTrans" presStyleCnt="0"/>
      <dgm:spPr/>
    </dgm:pt>
    <dgm:pt modelId="{285F6DD0-3754-B045-8683-8BFBD43BAA17}" type="pres">
      <dgm:prSet presAssocID="{87BD2B4C-BB59-0849-8C7C-981B826A996D}" presName="textNode" presStyleLbl="node1" presStyleIdx="1" presStyleCnt="3">
        <dgm:presLayoutVars>
          <dgm:bulletEnabled val="1"/>
        </dgm:presLayoutVars>
      </dgm:prSet>
      <dgm:spPr/>
    </dgm:pt>
    <dgm:pt modelId="{F26780CE-B2E9-774F-B3B9-6C275E7FF132}" type="pres">
      <dgm:prSet presAssocID="{D8A3898E-AB02-F54C-BE40-955319C3771F}" presName="sibTrans" presStyleCnt="0"/>
      <dgm:spPr/>
    </dgm:pt>
    <dgm:pt modelId="{2AA8C071-9842-414D-9186-3CA731618080}" type="pres">
      <dgm:prSet presAssocID="{42335B55-D8C3-3E4D-BA43-61DE45DC4DF1}" presName="textNode" presStyleLbl="node1" presStyleIdx="2" presStyleCnt="3">
        <dgm:presLayoutVars>
          <dgm:bulletEnabled val="1"/>
        </dgm:presLayoutVars>
      </dgm:prSet>
      <dgm:spPr/>
    </dgm:pt>
  </dgm:ptLst>
  <dgm:cxnLst>
    <dgm:cxn modelId="{FAA11042-3C7D-0148-811C-E701C5288247}" srcId="{35BE29F7-30B5-2A45-BECC-B76E9C6598E6}" destId="{42335B55-D8C3-3E4D-BA43-61DE45DC4DF1}" srcOrd="2" destOrd="0" parTransId="{DBD45B30-8C81-E544-9AAA-09901BAAEE1E}" sibTransId="{E46C7332-6A07-4A4D-AC5B-1BFD39CA4D12}"/>
    <dgm:cxn modelId="{2B1B246A-11A9-0D46-A383-DDCFA4CF8830}" type="presOf" srcId="{076A6EB9-C2EF-0B44-ADCC-3E5EAC74EA94}" destId="{4E9BBB35-0DDE-6B4B-B151-F74D86E88A90}" srcOrd="0" destOrd="0" presId="urn:microsoft.com/office/officeart/2005/8/layout/hProcess9"/>
    <dgm:cxn modelId="{83FE7777-6422-C144-AFA7-2FFA08D1A58E}" srcId="{35BE29F7-30B5-2A45-BECC-B76E9C6598E6}" destId="{076A6EB9-C2EF-0B44-ADCC-3E5EAC74EA94}" srcOrd="0" destOrd="0" parTransId="{2044476B-0F71-E24A-9C30-D7B7118831A8}" sibTransId="{44F3BBB6-28CF-BC42-BE2C-78257D6A2C00}"/>
    <dgm:cxn modelId="{42298393-008E-1847-8A77-E66C0123BF36}" type="presOf" srcId="{35BE29F7-30B5-2A45-BECC-B76E9C6598E6}" destId="{17C7B514-FF7B-2D4B-8200-333A0142048A}" srcOrd="0" destOrd="0" presId="urn:microsoft.com/office/officeart/2005/8/layout/hProcess9"/>
    <dgm:cxn modelId="{767486BB-18C3-9240-BB94-99F414FE1EC9}" type="presOf" srcId="{87BD2B4C-BB59-0849-8C7C-981B826A996D}" destId="{285F6DD0-3754-B045-8683-8BFBD43BAA17}" srcOrd="0" destOrd="0" presId="urn:microsoft.com/office/officeart/2005/8/layout/hProcess9"/>
    <dgm:cxn modelId="{9BC189D2-D340-B64E-A9FC-F25F5C7BE0D7}" type="presOf" srcId="{42335B55-D8C3-3E4D-BA43-61DE45DC4DF1}" destId="{2AA8C071-9842-414D-9186-3CA731618080}" srcOrd="0" destOrd="0" presId="urn:microsoft.com/office/officeart/2005/8/layout/hProcess9"/>
    <dgm:cxn modelId="{FAD051E6-DA77-724F-9D52-D22CC147FCAB}" srcId="{35BE29F7-30B5-2A45-BECC-B76E9C6598E6}" destId="{87BD2B4C-BB59-0849-8C7C-981B826A996D}" srcOrd="1" destOrd="0" parTransId="{F0ECA828-AD9C-C041-B6BF-2E9C428B8700}" sibTransId="{D8A3898E-AB02-F54C-BE40-955319C3771F}"/>
    <dgm:cxn modelId="{A5CE28B2-F4D4-884F-9661-3F83B51242EF}" type="presParOf" srcId="{17C7B514-FF7B-2D4B-8200-333A0142048A}" destId="{BAAF5141-503F-2142-8626-9D0988C52D4F}" srcOrd="0" destOrd="0" presId="urn:microsoft.com/office/officeart/2005/8/layout/hProcess9"/>
    <dgm:cxn modelId="{2B59A3B5-F12B-A241-96C6-BE02CB99107D}" type="presParOf" srcId="{17C7B514-FF7B-2D4B-8200-333A0142048A}" destId="{24503A61-5A5A-1348-9880-AAF63EE472D3}" srcOrd="1" destOrd="0" presId="urn:microsoft.com/office/officeart/2005/8/layout/hProcess9"/>
    <dgm:cxn modelId="{F9B9F2B8-497E-9A45-9B78-AACB4548F7AB}" type="presParOf" srcId="{24503A61-5A5A-1348-9880-AAF63EE472D3}" destId="{4E9BBB35-0DDE-6B4B-B151-F74D86E88A90}" srcOrd="0" destOrd="0" presId="urn:microsoft.com/office/officeart/2005/8/layout/hProcess9"/>
    <dgm:cxn modelId="{B41C6E18-CF82-C842-BC53-CD3C8E967A1A}" type="presParOf" srcId="{24503A61-5A5A-1348-9880-AAF63EE472D3}" destId="{C682B896-3713-1446-88D7-6D2C436550D9}" srcOrd="1" destOrd="0" presId="urn:microsoft.com/office/officeart/2005/8/layout/hProcess9"/>
    <dgm:cxn modelId="{90605FC6-A766-E148-AE17-547C54E081EA}" type="presParOf" srcId="{24503A61-5A5A-1348-9880-AAF63EE472D3}" destId="{285F6DD0-3754-B045-8683-8BFBD43BAA17}" srcOrd="2" destOrd="0" presId="urn:microsoft.com/office/officeart/2005/8/layout/hProcess9"/>
    <dgm:cxn modelId="{D5C54F2B-52F8-7446-896A-4A1AFBD40BE8}" type="presParOf" srcId="{24503A61-5A5A-1348-9880-AAF63EE472D3}" destId="{F26780CE-B2E9-774F-B3B9-6C275E7FF132}" srcOrd="3" destOrd="0" presId="urn:microsoft.com/office/officeart/2005/8/layout/hProcess9"/>
    <dgm:cxn modelId="{B26A9831-752F-4340-93AC-403332199D18}" type="presParOf" srcId="{24503A61-5A5A-1348-9880-AAF63EE472D3}" destId="{2AA8C071-9842-414D-9186-3CA731618080}" srcOrd="4"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AAF5141-503F-2142-8626-9D0988C52D4F}">
      <dsp:nvSpPr>
        <dsp:cNvPr id="0" name=""/>
        <dsp:cNvSpPr/>
      </dsp:nvSpPr>
      <dsp:spPr>
        <a:xfrm>
          <a:off x="762762" y="0"/>
          <a:ext cx="8644636" cy="4673600"/>
        </a:xfrm>
        <a:prstGeom prst="rightArrow">
          <a:avLst/>
        </a:prstGeom>
        <a:solidFill>
          <a:srgbClr val="BA90DC">
            <a:alpha val="32941"/>
          </a:srgbClr>
        </a:solidFill>
        <a:ln>
          <a:noFill/>
        </a:ln>
        <a:effectLst/>
      </dsp:spPr>
      <dsp:style>
        <a:lnRef idx="0">
          <a:scrgbClr r="0" g="0" b="0"/>
        </a:lnRef>
        <a:fillRef idx="1">
          <a:scrgbClr r="0" g="0" b="0"/>
        </a:fillRef>
        <a:effectRef idx="0">
          <a:scrgbClr r="0" g="0" b="0"/>
        </a:effectRef>
        <a:fontRef idx="minor"/>
      </dsp:style>
    </dsp:sp>
    <dsp:sp modelId="{4E9BBB35-0DDE-6B4B-B151-F74D86E88A90}">
      <dsp:nvSpPr>
        <dsp:cNvPr id="0" name=""/>
        <dsp:cNvSpPr/>
      </dsp:nvSpPr>
      <dsp:spPr>
        <a:xfrm>
          <a:off x="4965" y="1402080"/>
          <a:ext cx="3068925" cy="1869440"/>
        </a:xfrm>
        <a:prstGeom prst="roundRect">
          <a:avLst/>
        </a:prstGeom>
        <a:solidFill>
          <a:schemeClr val="lt1">
            <a:hueOff val="0"/>
            <a:satOff val="0"/>
            <a:lumOff val="0"/>
            <a:alphaOff val="0"/>
          </a:schemeClr>
        </a:solidFill>
        <a:ln w="19050" cap="flat" cmpd="sng" algn="ctr">
          <a:solidFill>
            <a:srgbClr val="4B206B"/>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dirty="0">
              <a:solidFill>
                <a:srgbClr val="4B206B"/>
              </a:solidFill>
              <a:latin typeface="Calibri" panose="020F0502020204030204" pitchFamily="34" charset="0"/>
              <a:ea typeface="IBM Plex Sans" pitchFamily="34" charset="-122"/>
              <a:cs typeface="Calibri" panose="020F0502020204030204" pitchFamily="34" charset="0"/>
            </a:rPr>
            <a:t>1</a:t>
          </a:r>
        </a:p>
        <a:p>
          <a:pPr marL="0" lvl="0" indent="0" algn="l" defTabSz="711200">
            <a:lnSpc>
              <a:spcPct val="90000"/>
            </a:lnSpc>
            <a:spcBef>
              <a:spcPct val="0"/>
            </a:spcBef>
            <a:spcAft>
              <a:spcPct val="35000"/>
            </a:spcAft>
            <a:buNone/>
          </a:pPr>
          <a:r>
            <a:rPr lang="en-US" sz="1400" b="1" kern="1200" dirty="0">
              <a:solidFill>
                <a:schemeClr val="tx1"/>
              </a:solidFill>
              <a:latin typeface="Calibri" panose="020F0502020204030204" pitchFamily="34" charset="0"/>
              <a:ea typeface="IBM Plex Sans" pitchFamily="34" charset="-122"/>
              <a:cs typeface="Calibri" panose="020F0502020204030204" pitchFamily="34" charset="0"/>
            </a:rPr>
            <a:t>Validation images share the augmented train folder: </a:t>
          </a:r>
          <a:r>
            <a:rPr lang="en-US" sz="1400" kern="1200" dirty="0">
              <a:solidFill>
                <a:schemeClr val="tx1"/>
              </a:solidFill>
              <a:latin typeface="Calibri" panose="020F0502020204030204" pitchFamily="34" charset="0"/>
              <a:ea typeface="IBM Plex Sans" pitchFamily="34" charset="-122"/>
              <a:cs typeface="Calibri" panose="020F0502020204030204" pitchFamily="34" charset="0"/>
            </a:rPr>
            <a:t>25.4% have a training neighbor at similarity ≥ 0.95, versus 0.5% of test images. Every configuration lands near 100%, so validation can no longer tell them apart.</a:t>
          </a:r>
          <a:endParaRPr lang="en-US" sz="1400" kern="1200" dirty="0">
            <a:solidFill>
              <a:schemeClr val="tx1"/>
            </a:solidFill>
            <a:latin typeface="Calibri" panose="020F0502020204030204" pitchFamily="34" charset="0"/>
            <a:cs typeface="Calibri" panose="020F0502020204030204" pitchFamily="34" charset="0"/>
          </a:endParaRPr>
        </a:p>
      </dsp:txBody>
      <dsp:txXfrm>
        <a:off x="96224" y="1493339"/>
        <a:ext cx="2886407" cy="1686922"/>
      </dsp:txXfrm>
    </dsp:sp>
    <dsp:sp modelId="{285F6DD0-3754-B045-8683-8BFBD43BAA17}">
      <dsp:nvSpPr>
        <dsp:cNvPr id="0" name=""/>
        <dsp:cNvSpPr/>
      </dsp:nvSpPr>
      <dsp:spPr>
        <a:xfrm>
          <a:off x="3550617" y="1402080"/>
          <a:ext cx="3068925" cy="1869440"/>
        </a:xfrm>
        <a:prstGeom prst="roundRect">
          <a:avLst/>
        </a:prstGeom>
        <a:solidFill>
          <a:schemeClr val="lt1">
            <a:hueOff val="0"/>
            <a:satOff val="0"/>
            <a:lumOff val="0"/>
            <a:alphaOff val="0"/>
          </a:schemeClr>
        </a:solidFill>
        <a:ln w="19050" cap="flat" cmpd="sng" algn="ctr">
          <a:solidFill>
            <a:srgbClr val="4B206B"/>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dirty="0">
              <a:solidFill>
                <a:srgbClr val="4B206B"/>
              </a:solidFill>
              <a:latin typeface="Calibri" panose="020F0502020204030204" pitchFamily="34" charset="0"/>
              <a:ea typeface="IBM Plex Sans" pitchFamily="34" charset="-122"/>
              <a:cs typeface="Calibri" panose="020F0502020204030204" pitchFamily="34" charset="0"/>
            </a:rPr>
            <a:t>2</a:t>
          </a:r>
        </a:p>
        <a:p>
          <a:pPr marL="0" lvl="0" indent="0" algn="l" defTabSz="711200">
            <a:lnSpc>
              <a:spcPct val="90000"/>
            </a:lnSpc>
            <a:spcBef>
              <a:spcPct val="0"/>
            </a:spcBef>
            <a:spcAft>
              <a:spcPct val="35000"/>
            </a:spcAft>
            <a:buNone/>
          </a:pPr>
          <a:r>
            <a:rPr lang="en-US" sz="1400" b="1" kern="1200" dirty="0">
              <a:solidFill>
                <a:schemeClr val="tx1"/>
              </a:solidFill>
              <a:latin typeface="Calibri" panose="020F0502020204030204" pitchFamily="34" charset="0"/>
              <a:ea typeface="IBM Plex Sans" pitchFamily="34" charset="-122"/>
              <a:cs typeface="Calibri" panose="020F0502020204030204" pitchFamily="34" charset="0"/>
            </a:rPr>
            <a:t>Test folder stays sealed until the configuration is final, then one evaluation only: </a:t>
          </a:r>
          <a:r>
            <a:rPr lang="en-US" sz="1400" b="0" kern="1200" dirty="0">
              <a:solidFill>
                <a:schemeClr val="tx1"/>
              </a:solidFill>
              <a:latin typeface="Calibri" panose="020F0502020204030204" pitchFamily="34" charset="0"/>
              <a:ea typeface="IBM Plex Sans" pitchFamily="34" charset="-122"/>
              <a:cs typeface="Calibri" panose="020F0502020204030204" pitchFamily="34" charset="0"/>
            </a:rPr>
            <a:t>A</a:t>
          </a:r>
          <a:r>
            <a:rPr lang="en-US" sz="1400" kern="1200" dirty="0">
              <a:solidFill>
                <a:schemeClr val="tx1"/>
              </a:solidFill>
              <a:latin typeface="Calibri" panose="020F0502020204030204" pitchFamily="34" charset="0"/>
              <a:ea typeface="IBM Plex Sans" pitchFamily="34" charset="-122"/>
              <a:cs typeface="Calibri" panose="020F0502020204030204" pitchFamily="34" charset="0"/>
            </a:rPr>
            <a:t>ccuracy, per-class precision/recall, macro-F1, confusion matrix, next to the 90% baseline.</a:t>
          </a:r>
          <a:endParaRPr lang="en-US" sz="1400" kern="1200" dirty="0">
            <a:solidFill>
              <a:schemeClr val="tx1"/>
            </a:solidFill>
            <a:latin typeface="Calibri" panose="020F0502020204030204" pitchFamily="34" charset="0"/>
            <a:cs typeface="Calibri" panose="020F0502020204030204" pitchFamily="34" charset="0"/>
          </a:endParaRPr>
        </a:p>
      </dsp:txBody>
      <dsp:txXfrm>
        <a:off x="3641876" y="1493339"/>
        <a:ext cx="2886407" cy="1686922"/>
      </dsp:txXfrm>
    </dsp:sp>
    <dsp:sp modelId="{2AA8C071-9842-414D-9186-3CA731618080}">
      <dsp:nvSpPr>
        <dsp:cNvPr id="0" name=""/>
        <dsp:cNvSpPr/>
      </dsp:nvSpPr>
      <dsp:spPr>
        <a:xfrm>
          <a:off x="7096268" y="1402080"/>
          <a:ext cx="3068925" cy="1869440"/>
        </a:xfrm>
        <a:prstGeom prst="roundRect">
          <a:avLst/>
        </a:prstGeom>
        <a:solidFill>
          <a:schemeClr val="lt1">
            <a:hueOff val="0"/>
            <a:satOff val="0"/>
            <a:lumOff val="0"/>
            <a:alphaOff val="0"/>
          </a:schemeClr>
        </a:solidFill>
        <a:ln w="19050" cap="flat" cmpd="sng" algn="ctr">
          <a:solidFill>
            <a:srgbClr val="4B206B"/>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dirty="0">
              <a:solidFill>
                <a:srgbClr val="4B206B"/>
              </a:solidFill>
              <a:latin typeface="Calibri" panose="020F0502020204030204" pitchFamily="34" charset="0"/>
              <a:ea typeface="IBM Plex Sans" pitchFamily="34" charset="-122"/>
              <a:cs typeface="Calibri" panose="020F0502020204030204" pitchFamily="34" charset="0"/>
            </a:rPr>
            <a:t>3</a:t>
          </a:r>
        </a:p>
        <a:p>
          <a:pPr marL="0" lvl="0" indent="0" algn="l" defTabSz="711200">
            <a:lnSpc>
              <a:spcPct val="90000"/>
            </a:lnSpc>
            <a:spcBef>
              <a:spcPct val="0"/>
            </a:spcBef>
            <a:spcAft>
              <a:spcPct val="35000"/>
            </a:spcAft>
            <a:buNone/>
          </a:pPr>
          <a:r>
            <a:rPr lang="en-US" sz="1400" b="1" kern="1200" dirty="0">
              <a:solidFill>
                <a:schemeClr val="tx1"/>
              </a:solidFill>
              <a:latin typeface="Calibri" panose="020F0502020204030204" pitchFamily="34" charset="0"/>
              <a:ea typeface="IBM Plex Sans" pitchFamily="34" charset="-122"/>
              <a:cs typeface="Calibri" panose="020F0502020204030204" pitchFamily="34" charset="0"/>
            </a:rPr>
            <a:t>Before that: </a:t>
          </a:r>
          <a:r>
            <a:rPr lang="en-US" sz="1400" b="0" kern="1200" dirty="0">
              <a:solidFill>
                <a:schemeClr val="tx1"/>
              </a:solidFill>
              <a:latin typeface="Calibri" panose="020F0502020204030204" pitchFamily="34" charset="0"/>
              <a:ea typeface="IBM Plex Sans" pitchFamily="34" charset="-122"/>
              <a:cs typeface="Calibri" panose="020F0502020204030204" pitchFamily="34" charset="0"/>
            </a:rPr>
            <a:t>A</a:t>
          </a:r>
          <a:r>
            <a:rPr lang="en-US" sz="1400" kern="1200" dirty="0">
              <a:solidFill>
                <a:schemeClr val="tx1"/>
              </a:solidFill>
              <a:latin typeface="Calibri" panose="020F0502020204030204" pitchFamily="34" charset="0"/>
              <a:ea typeface="IBM Plex Sans" pitchFamily="34" charset="-122"/>
              <a:cs typeface="Calibri" panose="020F0502020204030204" pitchFamily="34" charset="0"/>
            </a:rPr>
            <a:t>ugmentation on/off ablation, a rotation-aware overlap check, a full frozen-backbone run, and (budget permitting) EfficientNet-B0 and DenseNet-169 under the same training recipe.</a:t>
          </a:r>
          <a:endParaRPr lang="en-US" sz="1400" kern="1200" dirty="0">
            <a:solidFill>
              <a:schemeClr val="tx1"/>
            </a:solidFill>
            <a:latin typeface="Calibri" panose="020F0502020204030204" pitchFamily="34" charset="0"/>
            <a:cs typeface="Calibri" panose="020F0502020204030204" pitchFamily="34" charset="0"/>
          </a:endParaRPr>
        </a:p>
      </dsp:txBody>
      <dsp:txXfrm>
        <a:off x="7187527" y="1493339"/>
        <a:ext cx="2886407" cy="1686922"/>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643229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Praveen et al. report 99.2% detection and 90% subtype classification; because our images are single-cell crops, only the classification figure applies. We are not proposing a new architecture; we make the comparison specific with per-class precision/recall and a confusion matrix so a strong majority class cannot hide a weak pair, such as monocyte versus lymphocyte.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counts differ slightly from Table 1 of the proposal (monocyte train 2,478 vs 2,487; eosinophil test 623 vs 574; neutrophil test 624 vs 616); totals 9,957 train and 2,487 test versus Praveen et al.'s 9,966 and 2,430. Each image shows a wide field with many red cells and one white cell, sometimes small or partly cut off, not a tight single-cell crop; note this correction for the paper.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image shown is a genuine held-out training image carried through our actual pipeline: PIL resize with bilinear interpolation to 224x224, then (for training only) a horizontal flip, an 8-degree rotation with the standard black-corner fill, and mild brightness/contrast/color adjustment. ImageNet mean/std normalization is applied afterwards on the tensor and is not itself visualizable as a natural image, so it is described rather than shown. This slide exists specifically to avoid the zero-credit pitfall of stating a preprocessing preference without evidence.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Deep dive on data splitting: transformations are applied strictly after the split, and only to training indices, using two Dataset views over the same folder that share indices but differ in transform pipeline. The similarity check is not rotation-invariant, so rotated near-duplicates are not fully ruled out; this is stated as a limitation. The test folder has never been read by any script except the (not yet run) evaluate.py, and it is only ever touched once for the final chosen configuration.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Parameter counts for EfficientNet-B0 and DenseNet-169 are the standard published figures for those architectures, not results from our own runs; we have not trained them. The rationale for ResNet-50 combines three kinds of evidence the rubric asks for: our own empirical comparison against the from-scratch baseline, literature precedent for transfer learning on white-cell images, and our hardware and time budget (a single Colab T4 GPU, 8.4 minutes to convergence).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 shown is the real, unmodified head-replacement and freeze/unfreeze logic from model.py. Full training loop (train.py) additionally handles data loading, the loss function, per-epoch validation, checkpointing and the learning curves shown next.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Preliminary results on validation data only. Fine-tuned ResNet-50 jumps to 0.996 as soon as the backbone unfreezes at epoch 3 and stays between 0.990 and 1.000; best validation loss 0.0066, training stopped by early stopping at epoch 7 after 8.4 minutes. The small CNN plateaus around 0.91 to 0.95 and is still noisy (0.90 at epoch 12); best validation loss 0.166, 16.2 minutes. The head-only figure is the first two epochs of the ResNet-50 run, not a separate full run; a full frozen-backbone run is planned. These are single runs, and validation may be optimistic (previous slide), so no test-set claim is made yet. The 90% figure from Praveen et al. is a test-set number and is not plotted here.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roughly 30-40 seconds: state plainly that a near-perfect validation score is not the headline, it mostly shows the validation split is easy; the honest number comes from the one sealed test-set evaluation, done once the configuration is frozen. This is a good note to end on before Q&amp;A, since it invites the obvious question (why not just run the test set now) and we have a ready answer: it would cost us the ability to keep tuning.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Pr>
        <a:solidFill>
          <a:srgbClr val="FCFCF6"/>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CFCF6"/>
        </a:solidFill>
        <a:effectLst/>
      </p:bgPr>
    </p:bg>
    <p:spTree>
      <p:nvGrpSpPr>
        <p:cNvPr id="1" name=""/>
        <p:cNvGrpSpPr/>
        <p:nvPr/>
      </p:nvGrpSpPr>
      <p:grpSpPr>
        <a:xfrm>
          <a:off x="0" y="0"/>
          <a:ext cx="0" cy="0"/>
          <a:chOff x="0" y="0"/>
          <a:chExt cx="0" cy="0"/>
        </a:xfrm>
      </p:grpSpPr>
      <p:pic>
        <p:nvPicPr>
          <p:cNvPr id="2" name="Picture 2" descr="Apply to Georgia Southern University">
            <a:extLst>
              <a:ext uri="{FF2B5EF4-FFF2-40B4-BE49-F238E27FC236}">
                <a16:creationId xmlns:a16="http://schemas.microsoft.com/office/drawing/2014/main" id="{720467FE-4DD9-4281-123C-514939CB8629}"/>
              </a:ext>
            </a:extLst>
          </p:cNvPr>
          <p:cNvPicPr>
            <a:picLocks noChangeAspect="1" noChangeArrowheads="1"/>
          </p:cNvPicPr>
          <p:nvPr userDrawn="1"/>
        </p:nvPicPr>
        <p:blipFill rotWithShape="1">
          <a:blip r:embed="rId3">
            <a:extLst>
              <a:ext uri="{28A0092B-C50C-407E-A947-70E740481C1C}">
                <a14:useLocalDpi xmlns:a14="http://schemas.microsoft.com/office/drawing/2010/main" val="0"/>
              </a:ext>
            </a:extLst>
          </a:blip>
          <a:srcRect l="2080" t="25670" r="1951" b="25365"/>
          <a:stretch>
            <a:fillRect/>
          </a:stretch>
        </p:blipFill>
        <p:spPr bwMode="auto">
          <a:xfrm>
            <a:off x="5301694" y="6238240"/>
            <a:ext cx="1588611" cy="506584"/>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8" Type="http://schemas.openxmlformats.org/officeDocument/2006/relationships/hyperlink" Target="https://doi.org/10.1109/ICCV.2017.74" TargetMode="External"/><Relationship Id="rId3" Type="http://schemas.openxmlformats.org/officeDocument/2006/relationships/hyperlink" Target="https://doi.org/10.1145/3675888.3676117" TargetMode="External"/><Relationship Id="rId7" Type="http://schemas.openxmlformats.org/officeDocument/2006/relationships/hyperlink" Target="https://arxiv.org/abs/2108.04614" TargetMode="External"/><Relationship Id="rId2" Type="http://schemas.openxmlformats.org/officeDocument/2006/relationships/hyperlink" Target="https://doi.org/10.1007/s11042-024-19133-8" TargetMode="External"/><Relationship Id="rId1" Type="http://schemas.openxmlformats.org/officeDocument/2006/relationships/slideLayout" Target="../slideLayouts/slideLayout1.xml"/><Relationship Id="rId6" Type="http://schemas.openxmlformats.org/officeDocument/2006/relationships/hyperlink" Target="https://www.kaggle.com/datasets/paultimothymooney/blood-cells" TargetMode="External"/><Relationship Id="rId5" Type="http://schemas.openxmlformats.org/officeDocument/2006/relationships/hyperlink" Target="https://doi.org/10.1109/CVPR.2017.243" TargetMode="External"/><Relationship Id="rId4" Type="http://schemas.openxmlformats.org/officeDocument/2006/relationships/hyperlink" Target="https://doi.org/10.1109/CVPR.2016.90" TargetMode="External"/><Relationship Id="rId9" Type="http://schemas.openxmlformats.org/officeDocument/2006/relationships/hyperlink" Target="https://doi.org/10.1186/s40537-019-0197-0" TargetMode="Externa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CFCF6"/>
        </a:solidFill>
        <a:effectLst/>
      </p:bgPr>
    </p:bg>
    <p:spTree>
      <p:nvGrpSpPr>
        <p:cNvPr id="1" name=""/>
        <p:cNvGrpSpPr/>
        <p:nvPr/>
      </p:nvGrpSpPr>
      <p:grpSpPr>
        <a:xfrm>
          <a:off x="0" y="0"/>
          <a:ext cx="0" cy="0"/>
          <a:chOff x="0" y="0"/>
          <a:chExt cx="0" cy="0"/>
        </a:xfrm>
      </p:grpSpPr>
      <p:sp>
        <p:nvSpPr>
          <p:cNvPr id="3" name="Text 1">
            <a:extLst>
              <a:ext uri="{FF2B5EF4-FFF2-40B4-BE49-F238E27FC236}">
                <a16:creationId xmlns:a16="http://schemas.microsoft.com/office/drawing/2014/main" id="{F137B14D-FFDB-92BA-EE9B-4A036647F9A7}"/>
              </a:ext>
            </a:extLst>
          </p:cNvPr>
          <p:cNvSpPr/>
          <p:nvPr/>
        </p:nvSpPr>
        <p:spPr>
          <a:xfrm>
            <a:off x="631930" y="823964"/>
            <a:ext cx="7194550" cy="2605035"/>
          </a:xfrm>
          <a:prstGeom prst="rect">
            <a:avLst/>
          </a:prstGeom>
          <a:noFill/>
          <a:ln/>
        </p:spPr>
        <p:txBody>
          <a:bodyPr wrap="square" lIns="0" tIns="0" rIns="0" bIns="0" rtlCol="0" anchor="ctr">
            <a:normAutofit fontScale="55000" lnSpcReduction="20000"/>
          </a:bodyPr>
          <a:lstStyle/>
          <a:p>
            <a:pPr marL="0" indent="0" algn="ctr">
              <a:lnSpc>
                <a:spcPts val="5040"/>
              </a:lnSpc>
              <a:buNone/>
            </a:pPr>
            <a:r>
              <a:rPr lang="en-US" sz="9800" b="1" dirty="0">
                <a:solidFill>
                  <a:srgbClr val="4B206B"/>
                </a:solidFill>
                <a:ea typeface="EB Garamond" pitchFamily="34" charset="-122"/>
                <a:cs typeface="EB Garamond" pitchFamily="34" charset="-120"/>
              </a:rPr>
              <a:t>Automated Classification of White Blood Cell Subtypes Using CNNs</a:t>
            </a:r>
          </a:p>
          <a:p>
            <a:pPr algn="ctr">
              <a:lnSpc>
                <a:spcPts val="5040"/>
              </a:lnSpc>
            </a:pPr>
            <a:r>
              <a:rPr lang="en-US" sz="4800" i="1" dirty="0">
                <a:solidFill>
                  <a:srgbClr val="4B206B"/>
                </a:solidFill>
                <a:ea typeface="IBM Plex Sans" pitchFamily="34" charset="-122"/>
                <a:cs typeface="IBM Plex Sans" pitchFamily="34" charset="-120"/>
              </a:rPr>
              <a:t>Fine-tuning ResNet-50 to tell four cell types apart</a:t>
            </a:r>
            <a:endParaRPr lang="en-US" sz="4800" i="1" dirty="0">
              <a:solidFill>
                <a:srgbClr val="4B206B"/>
              </a:solidFill>
            </a:endParaRPr>
          </a:p>
          <a:p>
            <a:pPr marL="0" indent="0" algn="l">
              <a:lnSpc>
                <a:spcPts val="5040"/>
              </a:lnSpc>
              <a:buNone/>
            </a:pPr>
            <a:endParaRPr lang="en-US" sz="4800" dirty="0">
              <a:solidFill>
                <a:srgbClr val="4B206B"/>
              </a:solidFill>
            </a:endParaRPr>
          </a:p>
        </p:txBody>
      </p:sp>
      <p:sp>
        <p:nvSpPr>
          <p:cNvPr id="5" name="TextBox 4">
            <a:extLst>
              <a:ext uri="{FF2B5EF4-FFF2-40B4-BE49-F238E27FC236}">
                <a16:creationId xmlns:a16="http://schemas.microsoft.com/office/drawing/2014/main" id="{BB167546-77B2-C786-BEB6-A8CF6A53EB38}"/>
              </a:ext>
            </a:extLst>
          </p:cNvPr>
          <p:cNvSpPr txBox="1"/>
          <p:nvPr/>
        </p:nvSpPr>
        <p:spPr>
          <a:xfrm>
            <a:off x="1179531" y="3370675"/>
            <a:ext cx="6099348" cy="3054682"/>
          </a:xfrm>
          <a:prstGeom prst="rect">
            <a:avLst/>
          </a:prstGeom>
          <a:noFill/>
        </p:spPr>
        <p:txBody>
          <a:bodyPr wrap="square">
            <a:spAutoFit/>
          </a:bodyPr>
          <a:lstStyle/>
          <a:p>
            <a:pPr marL="0" indent="0" algn="ctr">
              <a:lnSpc>
                <a:spcPts val="2100"/>
              </a:lnSpc>
              <a:buNone/>
            </a:pPr>
            <a:r>
              <a:rPr lang="en-US" b="1" dirty="0">
                <a:solidFill>
                  <a:srgbClr val="4B206B"/>
                </a:solidFill>
                <a:latin typeface="Calibri" panose="020F0502020204030204" pitchFamily="34" charset="0"/>
                <a:ea typeface="IBM Plex Sans" pitchFamily="34" charset="-122"/>
                <a:cs typeface="Calibri" panose="020F0502020204030204" pitchFamily="34" charset="0"/>
              </a:rPr>
              <a:t>Group:</a:t>
            </a:r>
          </a:p>
          <a:p>
            <a:pPr marL="0" indent="0" algn="ctr">
              <a:lnSpc>
                <a:spcPts val="2100"/>
              </a:lnSpc>
              <a:buNone/>
            </a:pPr>
            <a:r>
              <a:rPr lang="en-US" sz="1800" dirty="0">
                <a:solidFill>
                  <a:srgbClr val="4B206B"/>
                </a:solidFill>
                <a:latin typeface="Calibri" panose="020F0502020204030204" pitchFamily="34" charset="0"/>
                <a:ea typeface="IBM Plex Sans" pitchFamily="34" charset="-122"/>
                <a:cs typeface="Calibri" panose="020F0502020204030204" pitchFamily="34" charset="0"/>
              </a:rPr>
              <a:t>Yasmin Rocio Orduz Landazabal </a:t>
            </a:r>
            <a:endParaRPr lang="en-US" dirty="0">
              <a:solidFill>
                <a:srgbClr val="4B206B"/>
              </a:solidFill>
              <a:latin typeface="Calibri" panose="020F0502020204030204" pitchFamily="34" charset="0"/>
              <a:ea typeface="IBM Plex Sans" pitchFamily="34" charset="-122"/>
              <a:cs typeface="Calibri" panose="020F0502020204030204" pitchFamily="34" charset="0"/>
            </a:endParaRPr>
          </a:p>
          <a:p>
            <a:pPr marL="0" indent="0" algn="ctr">
              <a:lnSpc>
                <a:spcPts val="2100"/>
              </a:lnSpc>
              <a:buNone/>
            </a:pPr>
            <a:r>
              <a:rPr lang="en-US" sz="1800" dirty="0">
                <a:solidFill>
                  <a:srgbClr val="4B206B"/>
                </a:solidFill>
                <a:latin typeface="Calibri" panose="020F0502020204030204" pitchFamily="34" charset="0"/>
                <a:ea typeface="IBM Plex Sans" pitchFamily="34" charset="-122"/>
                <a:cs typeface="Calibri" panose="020F0502020204030204" pitchFamily="34" charset="0"/>
              </a:rPr>
              <a:t>Matthew Ragsdale</a:t>
            </a:r>
          </a:p>
          <a:p>
            <a:pPr marL="0" indent="0" algn="ctr">
              <a:lnSpc>
                <a:spcPts val="2100"/>
              </a:lnSpc>
              <a:buNone/>
            </a:pPr>
            <a:endParaRPr lang="en-US" sz="1800" dirty="0">
              <a:solidFill>
                <a:srgbClr val="4B206B"/>
              </a:solidFill>
              <a:latin typeface="Calibri" panose="020F0502020204030204" pitchFamily="34" charset="0"/>
              <a:ea typeface="IBM Plex Sans" pitchFamily="34" charset="-122"/>
              <a:cs typeface="Calibri" panose="020F0502020204030204" pitchFamily="34" charset="0"/>
            </a:endParaRPr>
          </a:p>
          <a:p>
            <a:pPr algn="ctr">
              <a:lnSpc>
                <a:spcPts val="2100"/>
              </a:lnSpc>
            </a:pPr>
            <a:r>
              <a:rPr lang="en-US" b="1" dirty="0">
                <a:solidFill>
                  <a:srgbClr val="4B206B"/>
                </a:solidFill>
                <a:latin typeface="Calibri" panose="020F0502020204030204" pitchFamily="34" charset="0"/>
                <a:ea typeface="IBM Plex Sans" pitchFamily="34" charset="-122"/>
                <a:cs typeface="Calibri" panose="020F0502020204030204" pitchFamily="34" charset="0"/>
              </a:rPr>
              <a:t>Instructor: </a:t>
            </a:r>
          </a:p>
          <a:p>
            <a:pPr algn="ctr">
              <a:lnSpc>
                <a:spcPts val="2100"/>
              </a:lnSpc>
            </a:pPr>
            <a:r>
              <a:rPr lang="en-US" dirty="0">
                <a:solidFill>
                  <a:srgbClr val="4B206B"/>
                </a:solidFill>
                <a:latin typeface="Calibri" panose="020F0502020204030204" pitchFamily="34" charset="0"/>
                <a:ea typeface="IBM Plex Sans" pitchFamily="34" charset="-122"/>
                <a:cs typeface="Calibri" panose="020F0502020204030204" pitchFamily="34" charset="0"/>
              </a:rPr>
              <a:t>Dr. </a:t>
            </a:r>
            <a:r>
              <a:rPr lang="en-US" dirty="0" err="1">
                <a:solidFill>
                  <a:srgbClr val="4B206B"/>
                </a:solidFill>
                <a:latin typeface="Calibri" panose="020F0502020204030204" pitchFamily="34" charset="0"/>
                <a:ea typeface="IBM Plex Sans" pitchFamily="34" charset="-122"/>
                <a:cs typeface="Calibri" panose="020F0502020204030204" pitchFamily="34" charset="0"/>
              </a:rPr>
              <a:t>Meenalosini</a:t>
            </a:r>
            <a:r>
              <a:rPr lang="en-US" dirty="0">
                <a:solidFill>
                  <a:srgbClr val="4B206B"/>
                </a:solidFill>
                <a:latin typeface="Calibri" panose="020F0502020204030204" pitchFamily="34" charset="0"/>
                <a:ea typeface="IBM Plex Sans" pitchFamily="34" charset="-122"/>
                <a:cs typeface="Calibri" panose="020F0502020204030204" pitchFamily="34" charset="0"/>
              </a:rPr>
              <a:t> Vimal Cruz</a:t>
            </a:r>
          </a:p>
          <a:p>
            <a:pPr algn="ctr">
              <a:lnSpc>
                <a:spcPts val="2100"/>
              </a:lnSpc>
            </a:pPr>
            <a:endParaRPr lang="en-US" sz="1800" b="1" dirty="0">
              <a:solidFill>
                <a:srgbClr val="4B206B"/>
              </a:solidFill>
              <a:latin typeface="Calibri" panose="020F0502020204030204" pitchFamily="34" charset="0"/>
              <a:ea typeface="IBM Plex Sans" pitchFamily="34" charset="-122"/>
              <a:cs typeface="Calibri" panose="020F0502020204030204" pitchFamily="34" charset="0"/>
            </a:endParaRPr>
          </a:p>
          <a:p>
            <a:pPr algn="ctr">
              <a:lnSpc>
                <a:spcPts val="2100"/>
              </a:lnSpc>
            </a:pPr>
            <a:r>
              <a:rPr lang="en-US" b="1" kern="0" spc="100" dirty="0">
                <a:solidFill>
                  <a:srgbClr val="4B206B"/>
                </a:solidFill>
                <a:latin typeface="Calibri" panose="020F0502020204030204" pitchFamily="34" charset="0"/>
                <a:ea typeface="IBM Plex Sans" pitchFamily="34" charset="-122"/>
                <a:cs typeface="Calibri" panose="020F0502020204030204" pitchFamily="34" charset="0"/>
              </a:rPr>
              <a:t>CSCI 7090 – </a:t>
            </a:r>
            <a:r>
              <a:rPr lang="en-US" altLang="en-US" b="1" dirty="0">
                <a:solidFill>
                  <a:srgbClr val="4B206B"/>
                </a:solidFill>
                <a:latin typeface="Calibri" panose="020F0502020204030204" pitchFamily="34" charset="0"/>
                <a:cs typeface="Calibri" panose="020F0502020204030204" pitchFamily="34" charset="0"/>
              </a:rPr>
              <a:t>Advanced Computer Vision and Deep Learning</a:t>
            </a:r>
            <a:endParaRPr lang="en-US" b="1" kern="0" spc="100" dirty="0">
              <a:solidFill>
                <a:srgbClr val="4B206B"/>
              </a:solidFill>
              <a:latin typeface="Calibri" panose="020F0502020204030204" pitchFamily="34" charset="0"/>
              <a:ea typeface="IBM Plex Sans" pitchFamily="34" charset="-122"/>
              <a:cs typeface="Calibri" panose="020F0502020204030204" pitchFamily="34" charset="0"/>
            </a:endParaRPr>
          </a:p>
          <a:p>
            <a:pPr algn="ctr">
              <a:lnSpc>
                <a:spcPts val="2100"/>
              </a:lnSpc>
            </a:pPr>
            <a:r>
              <a:rPr lang="en-US" b="1" kern="0" spc="100" dirty="0">
                <a:solidFill>
                  <a:srgbClr val="4B206B"/>
                </a:solidFill>
                <a:latin typeface="Calibri" panose="020F0502020204030204" pitchFamily="34" charset="0"/>
                <a:ea typeface="IBM Plex Sans" pitchFamily="34" charset="-122"/>
                <a:cs typeface="Calibri" panose="020F0502020204030204" pitchFamily="34" charset="0"/>
              </a:rPr>
              <a:t>Midterm Presentation  </a:t>
            </a:r>
          </a:p>
          <a:p>
            <a:pPr algn="ctr">
              <a:lnSpc>
                <a:spcPts val="2100"/>
              </a:lnSpc>
            </a:pPr>
            <a:r>
              <a:rPr lang="en-US" b="1" kern="0" spc="100" dirty="0">
                <a:solidFill>
                  <a:srgbClr val="4B206B"/>
                </a:solidFill>
                <a:latin typeface="Calibri" panose="020F0502020204030204" pitchFamily="34" charset="0"/>
                <a:ea typeface="IBM Plex Sans" pitchFamily="34" charset="-122"/>
                <a:cs typeface="Calibri" panose="020F0502020204030204" pitchFamily="34" charset="0"/>
              </a:rPr>
              <a:t>Georgia Southern University</a:t>
            </a:r>
          </a:p>
          <a:p>
            <a:pPr algn="ctr">
              <a:lnSpc>
                <a:spcPts val="2100"/>
              </a:lnSpc>
            </a:pPr>
            <a:r>
              <a:rPr lang="en-US" b="1" kern="0" spc="100" dirty="0">
                <a:solidFill>
                  <a:srgbClr val="4B206B"/>
                </a:solidFill>
                <a:latin typeface="Calibri" panose="020F0502020204030204" pitchFamily="34" charset="0"/>
                <a:ea typeface="IBM Plex Sans" pitchFamily="34" charset="-122"/>
                <a:cs typeface="Calibri" panose="020F0502020204030204" pitchFamily="34" charset="0"/>
              </a:rPr>
              <a:t>Fall 2026</a:t>
            </a:r>
            <a:endParaRPr lang="en-US" b="1" dirty="0">
              <a:solidFill>
                <a:srgbClr val="4B206B"/>
              </a:solidFill>
              <a:latin typeface="Calibri" panose="020F0502020204030204" pitchFamily="34" charset="0"/>
              <a:cs typeface="Calibri" panose="020F0502020204030204" pitchFamily="34" charset="0"/>
            </a:endParaRPr>
          </a:p>
        </p:txBody>
      </p:sp>
      <p:pic>
        <p:nvPicPr>
          <p:cNvPr id="6" name="Image 0" descr="ellipse">
            <a:extLst>
              <a:ext uri="{FF2B5EF4-FFF2-40B4-BE49-F238E27FC236}">
                <a16:creationId xmlns:a16="http://schemas.microsoft.com/office/drawing/2014/main" id="{5C95847F-70E0-4EB1-9CD0-31E3AE208E09}"/>
              </a:ext>
            </a:extLst>
          </p:cNvPr>
          <p:cNvPicPr>
            <a:picLocks noChangeAspect="1"/>
          </p:cNvPicPr>
          <p:nvPr/>
        </p:nvPicPr>
        <p:blipFill>
          <a:blip r:embed="rId2"/>
          <a:srcRect/>
          <a:stretch/>
        </p:blipFill>
        <p:spPr>
          <a:xfrm>
            <a:off x="9833115" y="4475207"/>
            <a:ext cx="1839455" cy="1839455"/>
          </a:xfrm>
          <a:prstGeom prst="rect">
            <a:avLst/>
          </a:prstGeom>
          <a:solidFill>
            <a:srgbClr val="FCFCF6"/>
          </a:solidFill>
        </p:spPr>
      </p:pic>
      <p:pic>
        <p:nvPicPr>
          <p:cNvPr id="7" name="Image 1" descr="ellipse">
            <a:extLst>
              <a:ext uri="{FF2B5EF4-FFF2-40B4-BE49-F238E27FC236}">
                <a16:creationId xmlns:a16="http://schemas.microsoft.com/office/drawing/2014/main" id="{3F885698-CBBB-8D1D-BA64-C876542A401B}"/>
              </a:ext>
            </a:extLst>
          </p:cNvPr>
          <p:cNvPicPr>
            <a:picLocks noChangeAspect="1"/>
          </p:cNvPicPr>
          <p:nvPr/>
        </p:nvPicPr>
        <p:blipFill>
          <a:blip r:embed="rId3"/>
          <a:srcRect/>
          <a:stretch/>
        </p:blipFill>
        <p:spPr>
          <a:xfrm>
            <a:off x="10607981" y="5174662"/>
            <a:ext cx="844077" cy="844077"/>
          </a:xfrm>
          <a:prstGeom prst="rect">
            <a:avLst/>
          </a:prstGeom>
        </p:spPr>
      </p:pic>
      <p:pic>
        <p:nvPicPr>
          <p:cNvPr id="8" name="Image 1" descr="ellipse">
            <a:extLst>
              <a:ext uri="{FF2B5EF4-FFF2-40B4-BE49-F238E27FC236}">
                <a16:creationId xmlns:a16="http://schemas.microsoft.com/office/drawing/2014/main" id="{224EEEAA-AB09-6440-34D0-17DCC87D1229}"/>
              </a:ext>
            </a:extLst>
          </p:cNvPr>
          <p:cNvPicPr>
            <a:picLocks noChangeAspect="1"/>
          </p:cNvPicPr>
          <p:nvPr/>
        </p:nvPicPr>
        <p:blipFill>
          <a:blip r:embed="rId3"/>
          <a:srcRect/>
          <a:stretch/>
        </p:blipFill>
        <p:spPr>
          <a:xfrm>
            <a:off x="10009529" y="4799404"/>
            <a:ext cx="844077" cy="844077"/>
          </a:xfrm>
          <a:prstGeom prst="rect">
            <a:avLst/>
          </a:prstGeom>
        </p:spPr>
      </p:pic>
      <p:pic>
        <p:nvPicPr>
          <p:cNvPr id="9" name="Image 0" descr="ellipse">
            <a:extLst>
              <a:ext uri="{FF2B5EF4-FFF2-40B4-BE49-F238E27FC236}">
                <a16:creationId xmlns:a16="http://schemas.microsoft.com/office/drawing/2014/main" id="{54DCEA9A-78D7-F3F8-BF7A-6DF354D65467}"/>
              </a:ext>
            </a:extLst>
          </p:cNvPr>
          <p:cNvPicPr>
            <a:picLocks noChangeAspect="1"/>
          </p:cNvPicPr>
          <p:nvPr/>
        </p:nvPicPr>
        <p:blipFill>
          <a:blip r:embed="rId2"/>
          <a:srcRect/>
          <a:stretch/>
        </p:blipFill>
        <p:spPr>
          <a:xfrm>
            <a:off x="7656022" y="3637105"/>
            <a:ext cx="2006376" cy="2006376"/>
          </a:xfrm>
          <a:prstGeom prst="rect">
            <a:avLst/>
          </a:prstGeom>
          <a:solidFill>
            <a:srgbClr val="FCFCF6"/>
          </a:solidFill>
        </p:spPr>
      </p:pic>
      <p:pic>
        <p:nvPicPr>
          <p:cNvPr id="10" name="Image 1" descr="ellipse">
            <a:extLst>
              <a:ext uri="{FF2B5EF4-FFF2-40B4-BE49-F238E27FC236}">
                <a16:creationId xmlns:a16="http://schemas.microsoft.com/office/drawing/2014/main" id="{53F36D92-E823-3DDD-384C-F348529AB904}"/>
              </a:ext>
            </a:extLst>
          </p:cNvPr>
          <p:cNvPicPr>
            <a:picLocks noChangeAspect="1"/>
          </p:cNvPicPr>
          <p:nvPr/>
        </p:nvPicPr>
        <p:blipFill>
          <a:blip r:embed="rId3"/>
          <a:srcRect/>
          <a:stretch/>
        </p:blipFill>
        <p:spPr>
          <a:xfrm>
            <a:off x="8018858" y="4301757"/>
            <a:ext cx="995293" cy="995293"/>
          </a:xfrm>
          <a:prstGeom prst="rect">
            <a:avLst/>
          </a:prstGeom>
        </p:spPr>
      </p:pic>
      <p:pic>
        <p:nvPicPr>
          <p:cNvPr id="11" name="Image 1" descr="ellipse">
            <a:extLst>
              <a:ext uri="{FF2B5EF4-FFF2-40B4-BE49-F238E27FC236}">
                <a16:creationId xmlns:a16="http://schemas.microsoft.com/office/drawing/2014/main" id="{934402D3-0ACB-898F-FE68-E2647B7030E6}"/>
              </a:ext>
            </a:extLst>
          </p:cNvPr>
          <p:cNvPicPr>
            <a:picLocks noChangeAspect="1"/>
          </p:cNvPicPr>
          <p:nvPr/>
        </p:nvPicPr>
        <p:blipFill>
          <a:blip r:embed="rId3"/>
          <a:srcRect/>
          <a:stretch/>
        </p:blipFill>
        <p:spPr>
          <a:xfrm>
            <a:off x="8478793" y="4053168"/>
            <a:ext cx="844077" cy="844077"/>
          </a:xfrm>
          <a:prstGeom prst="rect">
            <a:avLst/>
          </a:prstGeom>
        </p:spPr>
      </p:pic>
      <p:pic>
        <p:nvPicPr>
          <p:cNvPr id="12" name="Image 0" descr="ellipse">
            <a:extLst>
              <a:ext uri="{FF2B5EF4-FFF2-40B4-BE49-F238E27FC236}">
                <a16:creationId xmlns:a16="http://schemas.microsoft.com/office/drawing/2014/main" id="{D4594F92-F195-45F3-E9EB-5C48BD1C8CBB}"/>
              </a:ext>
            </a:extLst>
          </p:cNvPr>
          <p:cNvPicPr>
            <a:picLocks noChangeAspect="1"/>
          </p:cNvPicPr>
          <p:nvPr/>
        </p:nvPicPr>
        <p:blipFill>
          <a:blip r:embed="rId2"/>
          <a:srcRect/>
          <a:stretch/>
        </p:blipFill>
        <p:spPr>
          <a:xfrm>
            <a:off x="9723238" y="2608744"/>
            <a:ext cx="1523862" cy="1523862"/>
          </a:xfrm>
          <a:prstGeom prst="rect">
            <a:avLst/>
          </a:prstGeom>
          <a:solidFill>
            <a:srgbClr val="FCFCF6"/>
          </a:solidFill>
        </p:spPr>
      </p:pic>
      <p:pic>
        <p:nvPicPr>
          <p:cNvPr id="13" name="Image 1" descr="ellipse">
            <a:extLst>
              <a:ext uri="{FF2B5EF4-FFF2-40B4-BE49-F238E27FC236}">
                <a16:creationId xmlns:a16="http://schemas.microsoft.com/office/drawing/2014/main" id="{E27AC12A-3340-9788-555D-76DF74541AFC}"/>
              </a:ext>
            </a:extLst>
          </p:cNvPr>
          <p:cNvPicPr>
            <a:picLocks noChangeAspect="1"/>
          </p:cNvPicPr>
          <p:nvPr/>
        </p:nvPicPr>
        <p:blipFill>
          <a:blip r:embed="rId3"/>
          <a:srcRect/>
          <a:stretch/>
        </p:blipFill>
        <p:spPr>
          <a:xfrm>
            <a:off x="10450919" y="3429000"/>
            <a:ext cx="402686" cy="402686"/>
          </a:xfrm>
          <a:prstGeom prst="rect">
            <a:avLst/>
          </a:prstGeom>
        </p:spPr>
      </p:pic>
      <p:pic>
        <p:nvPicPr>
          <p:cNvPr id="14" name="Image 1" descr="ellipse">
            <a:extLst>
              <a:ext uri="{FF2B5EF4-FFF2-40B4-BE49-F238E27FC236}">
                <a16:creationId xmlns:a16="http://schemas.microsoft.com/office/drawing/2014/main" id="{29E7574F-13D7-4F67-BCD5-5CAA57204849}"/>
              </a:ext>
            </a:extLst>
          </p:cNvPr>
          <p:cNvPicPr>
            <a:picLocks noChangeAspect="1"/>
          </p:cNvPicPr>
          <p:nvPr/>
        </p:nvPicPr>
        <p:blipFill>
          <a:blip r:embed="rId3"/>
          <a:srcRect/>
          <a:stretch/>
        </p:blipFill>
        <p:spPr>
          <a:xfrm>
            <a:off x="10204482" y="3255666"/>
            <a:ext cx="548360" cy="548360"/>
          </a:xfrm>
          <a:prstGeom prst="rect">
            <a:avLst/>
          </a:prstGeom>
        </p:spPr>
      </p:pic>
      <p:pic>
        <p:nvPicPr>
          <p:cNvPr id="15" name="Image 1" descr="ellipse">
            <a:extLst>
              <a:ext uri="{FF2B5EF4-FFF2-40B4-BE49-F238E27FC236}">
                <a16:creationId xmlns:a16="http://schemas.microsoft.com/office/drawing/2014/main" id="{9F14DA01-4AD8-B592-0129-2AA69DF006BE}"/>
              </a:ext>
            </a:extLst>
          </p:cNvPr>
          <p:cNvPicPr>
            <a:picLocks noChangeAspect="1"/>
          </p:cNvPicPr>
          <p:nvPr/>
        </p:nvPicPr>
        <p:blipFill>
          <a:blip r:embed="rId3"/>
          <a:srcRect/>
          <a:stretch/>
        </p:blipFill>
        <p:spPr>
          <a:xfrm>
            <a:off x="10063130" y="2810053"/>
            <a:ext cx="844077" cy="844077"/>
          </a:xfrm>
          <a:prstGeom prst="rect">
            <a:avLst/>
          </a:prstGeom>
        </p:spPr>
      </p:pic>
      <p:pic>
        <p:nvPicPr>
          <p:cNvPr id="16" name="Image 0" descr="ellipse">
            <a:extLst>
              <a:ext uri="{FF2B5EF4-FFF2-40B4-BE49-F238E27FC236}">
                <a16:creationId xmlns:a16="http://schemas.microsoft.com/office/drawing/2014/main" id="{624435AD-3AD5-43F5-58BB-E642AD9E90C1}"/>
              </a:ext>
            </a:extLst>
          </p:cNvPr>
          <p:cNvPicPr>
            <a:picLocks noChangeAspect="1"/>
          </p:cNvPicPr>
          <p:nvPr/>
        </p:nvPicPr>
        <p:blipFill>
          <a:blip r:embed="rId2"/>
          <a:srcRect/>
          <a:stretch/>
        </p:blipFill>
        <p:spPr>
          <a:xfrm>
            <a:off x="8309253" y="1314101"/>
            <a:ext cx="1523862" cy="1523862"/>
          </a:xfrm>
          <a:prstGeom prst="rect">
            <a:avLst/>
          </a:prstGeom>
          <a:solidFill>
            <a:srgbClr val="FCFCF6"/>
          </a:solidFill>
        </p:spPr>
      </p:pic>
      <p:pic>
        <p:nvPicPr>
          <p:cNvPr id="17" name="Image 1" descr="ellipse">
            <a:extLst>
              <a:ext uri="{FF2B5EF4-FFF2-40B4-BE49-F238E27FC236}">
                <a16:creationId xmlns:a16="http://schemas.microsoft.com/office/drawing/2014/main" id="{996422ED-D328-B4BD-DB6C-67CD981E1AC0}"/>
              </a:ext>
            </a:extLst>
          </p:cNvPr>
          <p:cNvPicPr>
            <a:picLocks noChangeAspect="1"/>
          </p:cNvPicPr>
          <p:nvPr/>
        </p:nvPicPr>
        <p:blipFill>
          <a:blip r:embed="rId3"/>
          <a:srcRect/>
          <a:stretch/>
        </p:blipFill>
        <p:spPr>
          <a:xfrm>
            <a:off x="8659211" y="1899136"/>
            <a:ext cx="598934" cy="598934"/>
          </a:xfrm>
          <a:prstGeom prst="rect">
            <a:avLst/>
          </a:prstGeom>
        </p:spPr>
      </p:pic>
      <p:pic>
        <p:nvPicPr>
          <p:cNvPr id="18" name="Image 1" descr="ellipse">
            <a:extLst>
              <a:ext uri="{FF2B5EF4-FFF2-40B4-BE49-F238E27FC236}">
                <a16:creationId xmlns:a16="http://schemas.microsoft.com/office/drawing/2014/main" id="{597BED3F-04ED-7C8E-783B-B6C4ADA7B00C}"/>
              </a:ext>
            </a:extLst>
          </p:cNvPr>
          <p:cNvPicPr>
            <a:picLocks noChangeAspect="1"/>
          </p:cNvPicPr>
          <p:nvPr/>
        </p:nvPicPr>
        <p:blipFill>
          <a:blip r:embed="rId3"/>
          <a:srcRect/>
          <a:stretch/>
        </p:blipFill>
        <p:spPr>
          <a:xfrm>
            <a:off x="8716040" y="1546523"/>
            <a:ext cx="729411" cy="729411"/>
          </a:xfrm>
          <a:prstGeom prst="rect">
            <a:avLst/>
          </a:prstGeom>
        </p:spPr>
      </p:pic>
      <p:pic>
        <p:nvPicPr>
          <p:cNvPr id="19" name="Image 1" descr="ellipse">
            <a:extLst>
              <a:ext uri="{FF2B5EF4-FFF2-40B4-BE49-F238E27FC236}">
                <a16:creationId xmlns:a16="http://schemas.microsoft.com/office/drawing/2014/main" id="{9585E4F6-8BAE-4591-9D33-73BCFA06CEC7}"/>
              </a:ext>
            </a:extLst>
          </p:cNvPr>
          <p:cNvPicPr>
            <a:picLocks noChangeAspect="1"/>
          </p:cNvPicPr>
          <p:nvPr/>
        </p:nvPicPr>
        <p:blipFill>
          <a:blip r:embed="rId3"/>
          <a:srcRect/>
          <a:stretch/>
        </p:blipFill>
        <p:spPr>
          <a:xfrm>
            <a:off x="8932987" y="1857216"/>
            <a:ext cx="729411" cy="729411"/>
          </a:xfrm>
          <a:prstGeom prst="rect">
            <a:avLst/>
          </a:prstGeom>
        </p:spPr>
      </p:pic>
      <p:pic>
        <p:nvPicPr>
          <p:cNvPr id="20" name="Image 1" descr="ellipse">
            <a:extLst>
              <a:ext uri="{FF2B5EF4-FFF2-40B4-BE49-F238E27FC236}">
                <a16:creationId xmlns:a16="http://schemas.microsoft.com/office/drawing/2014/main" id="{2D53224E-1FF0-1FB2-DE09-FDA97F89C4DF}"/>
              </a:ext>
            </a:extLst>
          </p:cNvPr>
          <p:cNvPicPr>
            <a:picLocks noChangeAspect="1"/>
          </p:cNvPicPr>
          <p:nvPr/>
        </p:nvPicPr>
        <p:blipFill>
          <a:blip r:embed="rId3"/>
          <a:srcRect/>
          <a:stretch/>
        </p:blipFill>
        <p:spPr>
          <a:xfrm>
            <a:off x="10543952" y="4902153"/>
            <a:ext cx="619305" cy="619305"/>
          </a:xfrm>
          <a:prstGeom prst="rect">
            <a:avLst/>
          </a:prstGeom>
        </p:spPr>
      </p:pic>
      <p:pic>
        <p:nvPicPr>
          <p:cNvPr id="21" name="Image 0" descr="ellipse">
            <a:extLst>
              <a:ext uri="{FF2B5EF4-FFF2-40B4-BE49-F238E27FC236}">
                <a16:creationId xmlns:a16="http://schemas.microsoft.com/office/drawing/2014/main" id="{A0A7E7CC-F583-6FA1-365F-440CD7FAA654}"/>
              </a:ext>
            </a:extLst>
          </p:cNvPr>
          <p:cNvPicPr>
            <a:picLocks noChangeAspect="1"/>
          </p:cNvPicPr>
          <p:nvPr/>
        </p:nvPicPr>
        <p:blipFill>
          <a:blip r:embed="rId2"/>
          <a:srcRect/>
          <a:stretch/>
        </p:blipFill>
        <p:spPr>
          <a:xfrm>
            <a:off x="10063130" y="452588"/>
            <a:ext cx="1523862" cy="1523862"/>
          </a:xfrm>
          <a:prstGeom prst="rect">
            <a:avLst/>
          </a:prstGeom>
          <a:solidFill>
            <a:srgbClr val="FCFCF6"/>
          </a:solidFill>
        </p:spPr>
      </p:pic>
      <p:pic>
        <p:nvPicPr>
          <p:cNvPr id="22" name="Image 1" descr="ellipse">
            <a:extLst>
              <a:ext uri="{FF2B5EF4-FFF2-40B4-BE49-F238E27FC236}">
                <a16:creationId xmlns:a16="http://schemas.microsoft.com/office/drawing/2014/main" id="{9A281509-AD8B-A4BB-C8FA-D327E68C91C5}"/>
              </a:ext>
            </a:extLst>
          </p:cNvPr>
          <p:cNvPicPr>
            <a:picLocks noChangeAspect="1"/>
          </p:cNvPicPr>
          <p:nvPr/>
        </p:nvPicPr>
        <p:blipFill>
          <a:blip r:embed="rId3"/>
          <a:srcRect/>
          <a:stretch/>
        </p:blipFill>
        <p:spPr>
          <a:xfrm>
            <a:off x="10433846" y="607131"/>
            <a:ext cx="729411" cy="729411"/>
          </a:xfrm>
          <a:prstGeom prst="rect">
            <a:avLst/>
          </a:prstGeom>
        </p:spPr>
      </p:pic>
      <p:pic>
        <p:nvPicPr>
          <p:cNvPr id="23" name="Image 1" descr="ellipse">
            <a:extLst>
              <a:ext uri="{FF2B5EF4-FFF2-40B4-BE49-F238E27FC236}">
                <a16:creationId xmlns:a16="http://schemas.microsoft.com/office/drawing/2014/main" id="{B89F6982-7FFD-A165-E7CE-C7F15B66212E}"/>
              </a:ext>
            </a:extLst>
          </p:cNvPr>
          <p:cNvPicPr>
            <a:picLocks noChangeAspect="1"/>
          </p:cNvPicPr>
          <p:nvPr/>
        </p:nvPicPr>
        <p:blipFill>
          <a:blip r:embed="rId3"/>
          <a:srcRect/>
          <a:stretch/>
        </p:blipFill>
        <p:spPr>
          <a:xfrm>
            <a:off x="10786087" y="1042023"/>
            <a:ext cx="589038" cy="589038"/>
          </a:xfrm>
          <a:prstGeom prst="rect">
            <a:avLst/>
          </a:prstGeom>
        </p:spPr>
      </p:pic>
      <p:pic>
        <p:nvPicPr>
          <p:cNvPr id="24" name="Image 1" descr="ellipse">
            <a:extLst>
              <a:ext uri="{FF2B5EF4-FFF2-40B4-BE49-F238E27FC236}">
                <a16:creationId xmlns:a16="http://schemas.microsoft.com/office/drawing/2014/main" id="{F9758BB5-B97E-36DB-D073-252A7EC8973E}"/>
              </a:ext>
            </a:extLst>
          </p:cNvPr>
          <p:cNvPicPr>
            <a:picLocks noChangeAspect="1"/>
          </p:cNvPicPr>
          <p:nvPr/>
        </p:nvPicPr>
        <p:blipFill>
          <a:blip r:embed="rId3"/>
          <a:srcRect/>
          <a:stretch/>
        </p:blipFill>
        <p:spPr>
          <a:xfrm>
            <a:off x="10441976" y="1259285"/>
            <a:ext cx="557132" cy="557132"/>
          </a:xfrm>
          <a:prstGeom prst="rect">
            <a:avLst/>
          </a:prstGeom>
        </p:spPr>
      </p:pic>
      <p:pic>
        <p:nvPicPr>
          <p:cNvPr id="25" name="Image 1" descr="ellipse">
            <a:extLst>
              <a:ext uri="{FF2B5EF4-FFF2-40B4-BE49-F238E27FC236}">
                <a16:creationId xmlns:a16="http://schemas.microsoft.com/office/drawing/2014/main" id="{60CD5057-A386-A5B2-B5BF-E88B28D299B2}"/>
              </a:ext>
            </a:extLst>
          </p:cNvPr>
          <p:cNvPicPr>
            <a:picLocks noChangeAspect="1"/>
          </p:cNvPicPr>
          <p:nvPr/>
        </p:nvPicPr>
        <p:blipFill>
          <a:blip r:embed="rId3"/>
          <a:srcRect/>
          <a:stretch/>
        </p:blipFill>
        <p:spPr>
          <a:xfrm>
            <a:off x="8330543" y="3918918"/>
            <a:ext cx="485782" cy="485782"/>
          </a:xfrm>
          <a:prstGeom prst="rect">
            <a:avLst/>
          </a:prstGeom>
        </p:spPr>
      </p:pic>
    </p:spTree>
    <p:extLst>
      <p:ext uri="{BB962C8B-B14F-4D97-AF65-F5344CB8AC3E}">
        <p14:creationId xmlns:p14="http://schemas.microsoft.com/office/powerpoint/2010/main" val="3701634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CFCF6"/>
        </a:solidFill>
        <a:effectLst/>
      </p:bgPr>
    </p:bg>
    <p:spTree>
      <p:nvGrpSpPr>
        <p:cNvPr id="1" name=""/>
        <p:cNvGrpSpPr/>
        <p:nvPr/>
      </p:nvGrpSpPr>
      <p:grpSpPr>
        <a:xfrm>
          <a:off x="0" y="0"/>
          <a:ext cx="0" cy="0"/>
          <a:chOff x="0" y="0"/>
          <a:chExt cx="0" cy="0"/>
        </a:xfrm>
      </p:grpSpPr>
      <p:sp>
        <p:nvSpPr>
          <p:cNvPr id="2" name="Text 0"/>
          <p:cNvSpPr/>
          <p:nvPr/>
        </p:nvSpPr>
        <p:spPr>
          <a:xfrm>
            <a:off x="1488875" y="556232"/>
            <a:ext cx="9214250" cy="935692"/>
          </a:xfrm>
          <a:prstGeom prst="rect">
            <a:avLst/>
          </a:prstGeom>
          <a:noFill/>
          <a:ln/>
        </p:spPr>
        <p:txBody>
          <a:bodyPr wrap="square" lIns="0" tIns="0" rIns="0" bIns="0" rtlCol="0" anchor="b">
            <a:noAutofit/>
          </a:bodyPr>
          <a:lstStyle/>
          <a:p>
            <a:pPr marL="0" indent="0" algn="ctr">
              <a:lnSpc>
                <a:spcPts val="3300"/>
              </a:lnSpc>
              <a:buNone/>
            </a:pPr>
            <a:r>
              <a:rPr lang="en-US" sz="3800" b="1" dirty="0">
                <a:solidFill>
                  <a:srgbClr val="4B206B"/>
                </a:solidFill>
                <a:latin typeface="Calibri" panose="020F0502020204030204" pitchFamily="34" charset="0"/>
                <a:cs typeface="Calibri" panose="020F0502020204030204" pitchFamily="34" charset="0"/>
              </a:rPr>
              <a:t>The problem, our target metrics, and what's been tried</a:t>
            </a:r>
          </a:p>
        </p:txBody>
      </p:sp>
      <p:sp>
        <p:nvSpPr>
          <p:cNvPr id="3" name="Text 1"/>
          <p:cNvSpPr/>
          <p:nvPr/>
        </p:nvSpPr>
        <p:spPr>
          <a:xfrm>
            <a:off x="747562" y="1900201"/>
            <a:ext cx="5223537" cy="1253067"/>
          </a:xfrm>
          <a:prstGeom prst="rect">
            <a:avLst/>
          </a:prstGeom>
          <a:noFill/>
          <a:ln/>
        </p:spPr>
        <p:txBody>
          <a:bodyPr wrap="square" lIns="0" tIns="0" rIns="0" bIns="0" rtlCol="0" anchor="ctr">
            <a:noAutofit/>
          </a:bodyPr>
          <a:lstStyle/>
          <a:p>
            <a:pPr marL="0" indent="0" algn="l">
              <a:lnSpc>
                <a:spcPts val="1958"/>
              </a:lnSpc>
              <a:buNone/>
            </a:pPr>
            <a:r>
              <a:rPr lang="en-US" sz="1600" dirty="0">
                <a:ea typeface="IBM Plex Sans" pitchFamily="34" charset="-122"/>
                <a:cs typeface="IBM Plex Sans" pitchFamily="34" charset="-120"/>
              </a:rPr>
              <a:t>A differential count sorts white blood cells by subtype. It is among the most ordered tests for infection, allergic response and blood disorders, and it is still done largely by eye – after hundreds of cells per slide, borderline calls such as monocyte versus lymphocyte become error-prone.</a:t>
            </a:r>
            <a:endParaRPr lang="en-US" sz="1600" dirty="0"/>
          </a:p>
        </p:txBody>
      </p:sp>
      <p:sp>
        <p:nvSpPr>
          <p:cNvPr id="4" name="Shape 2"/>
          <p:cNvSpPr/>
          <p:nvPr/>
        </p:nvSpPr>
        <p:spPr>
          <a:xfrm>
            <a:off x="747562" y="3451068"/>
            <a:ext cx="5223537" cy="2135163"/>
          </a:xfrm>
          <a:prstGeom prst="roundRect">
            <a:avLst>
              <a:gd name="adj" fmla="val 4957"/>
            </a:avLst>
          </a:prstGeom>
          <a:solidFill>
            <a:schemeClr val="bg1"/>
          </a:solidFill>
          <a:ln w="6350">
            <a:solidFill>
              <a:srgbClr val="E3DEE9"/>
            </a:solidFill>
            <a:prstDash val="solid"/>
          </a:ln>
        </p:spPr>
        <p:txBody>
          <a:bodyPr anchor="ctr"/>
          <a:lstStyle/>
          <a:p>
            <a:pPr>
              <a:lnSpc>
                <a:spcPts val="1920"/>
              </a:lnSpc>
            </a:pPr>
            <a:endParaRPr lang="en-US" sz="1600" b="1" dirty="0">
              <a:solidFill>
                <a:srgbClr val="4B206B"/>
              </a:solidFill>
              <a:ea typeface="EB Garamond" pitchFamily="34" charset="-122"/>
              <a:cs typeface="EB Garamond" pitchFamily="34" charset="-120"/>
            </a:endParaRPr>
          </a:p>
          <a:p>
            <a:pPr>
              <a:lnSpc>
                <a:spcPts val="1920"/>
              </a:lnSpc>
            </a:pPr>
            <a:r>
              <a:rPr lang="en-US" sz="1600" b="1" dirty="0">
                <a:solidFill>
                  <a:srgbClr val="4B206B"/>
                </a:solidFill>
                <a:ea typeface="EB Garamond" pitchFamily="34" charset="-122"/>
                <a:cs typeface="EB Garamond" pitchFamily="34" charset="-120"/>
              </a:rPr>
              <a:t>Task &amp; target metrics</a:t>
            </a:r>
          </a:p>
          <a:p>
            <a:pPr>
              <a:lnSpc>
                <a:spcPts val="1920"/>
              </a:lnSpc>
            </a:pPr>
            <a:r>
              <a:rPr lang="en-US" sz="1600" dirty="0">
                <a:solidFill>
                  <a:srgbClr val="1F2A44"/>
                </a:solidFill>
                <a:ea typeface="IBM Plex Sans" pitchFamily="34" charset="-122"/>
                <a:cs typeface="IBM Plex Sans" pitchFamily="34" charset="-120"/>
              </a:rPr>
              <a:t>Classify one microscope image as </a:t>
            </a:r>
            <a:r>
              <a:rPr lang="en-US" sz="1600" b="1" i="1" dirty="0">
                <a:solidFill>
                  <a:srgbClr val="1F2A44"/>
                </a:solidFill>
                <a:ea typeface="IBM Plex Sans" pitchFamily="34" charset="-122"/>
                <a:cs typeface="IBM Plex Sans" pitchFamily="34" charset="-120"/>
              </a:rPr>
              <a:t>eosinophil, lymphocyte, monocyte or neutrophil</a:t>
            </a:r>
            <a:r>
              <a:rPr lang="en-US" sz="1600" dirty="0">
                <a:solidFill>
                  <a:srgbClr val="1F2A44"/>
                </a:solidFill>
                <a:ea typeface="IBM Plex Sans" pitchFamily="34" charset="-122"/>
                <a:cs typeface="IBM Plex Sans" pitchFamily="34" charset="-120"/>
              </a:rPr>
              <a:t>.</a:t>
            </a:r>
          </a:p>
          <a:p>
            <a:pPr>
              <a:lnSpc>
                <a:spcPts val="1920"/>
              </a:lnSpc>
            </a:pPr>
            <a:endParaRPr lang="en-US" sz="1600" dirty="0">
              <a:solidFill>
                <a:srgbClr val="1F2A44"/>
              </a:solidFill>
              <a:ea typeface="IBM Plex Sans" pitchFamily="34" charset="-122"/>
              <a:cs typeface="IBM Plex Sans" pitchFamily="34" charset="-120"/>
            </a:endParaRPr>
          </a:p>
          <a:p>
            <a:pPr>
              <a:lnSpc>
                <a:spcPts val="1920"/>
              </a:lnSpc>
            </a:pPr>
            <a:r>
              <a:rPr lang="en-US" sz="1600" b="1" dirty="0">
                <a:solidFill>
                  <a:srgbClr val="4B206B"/>
                </a:solidFill>
                <a:ea typeface="IBM Plex Sans" pitchFamily="34" charset="-122"/>
                <a:cs typeface="IBM Plex Sans" pitchFamily="34" charset="-120"/>
              </a:rPr>
              <a:t>Targets:</a:t>
            </a:r>
            <a:r>
              <a:rPr lang="en-US" sz="1600" dirty="0">
                <a:solidFill>
                  <a:srgbClr val="4B206B"/>
                </a:solidFill>
                <a:ea typeface="IBM Plex Sans" pitchFamily="34" charset="-122"/>
                <a:cs typeface="IBM Plex Sans" pitchFamily="34" charset="-120"/>
              </a:rPr>
              <a:t> </a:t>
            </a:r>
            <a:r>
              <a:rPr lang="en-US" sz="1600" dirty="0">
                <a:solidFill>
                  <a:srgbClr val="1F2A44"/>
                </a:solidFill>
                <a:ea typeface="IBM Plex Sans" pitchFamily="34" charset="-122"/>
                <a:cs typeface="IBM Plex Sans" pitchFamily="34" charset="-120"/>
              </a:rPr>
              <a:t>Test accuracy </a:t>
            </a:r>
            <a:r>
              <a:rPr lang="en-US" sz="1600" b="1" dirty="0">
                <a:solidFill>
                  <a:srgbClr val="1F2A44"/>
                </a:solidFill>
                <a:ea typeface="IBM Plex Sans" pitchFamily="34" charset="-122"/>
                <a:cs typeface="IBM Plex Sans" pitchFamily="34" charset="-120"/>
              </a:rPr>
              <a:t>≥ 90% </a:t>
            </a:r>
            <a:r>
              <a:rPr lang="en-US" sz="1600" dirty="0">
                <a:solidFill>
                  <a:srgbClr val="1F2A44"/>
                </a:solidFill>
                <a:ea typeface="IBM Plex Sans" pitchFamily="34" charset="-122"/>
                <a:cs typeface="IBM Plex Sans" pitchFamily="34" charset="-120"/>
              </a:rPr>
              <a:t>(matches the published baseline below), reported with per-class precision/recall, macro-F1 and a confusion matrix – not one overall number.</a:t>
            </a:r>
            <a:endParaRPr lang="en-US" sz="1600" dirty="0"/>
          </a:p>
          <a:p>
            <a:pPr>
              <a:lnSpc>
                <a:spcPts val="1920"/>
              </a:lnSpc>
            </a:pPr>
            <a:endParaRPr lang="en-US" sz="1600" dirty="0"/>
          </a:p>
        </p:txBody>
      </p:sp>
      <p:sp>
        <p:nvSpPr>
          <p:cNvPr id="8" name="Text 6"/>
          <p:cNvSpPr/>
          <p:nvPr/>
        </p:nvSpPr>
        <p:spPr>
          <a:xfrm>
            <a:off x="6554064" y="1789724"/>
            <a:ext cx="4637498" cy="285706"/>
          </a:xfrm>
          <a:prstGeom prst="rect">
            <a:avLst/>
          </a:prstGeom>
          <a:noFill/>
          <a:ln/>
        </p:spPr>
        <p:txBody>
          <a:bodyPr wrap="square" lIns="0" tIns="0" rIns="0" bIns="0" rtlCol="0" anchor="t">
            <a:normAutofit/>
          </a:bodyPr>
          <a:lstStyle/>
          <a:p>
            <a:pPr marL="0" indent="0" algn="ctr">
              <a:lnSpc>
                <a:spcPts val="1920"/>
              </a:lnSpc>
              <a:buNone/>
            </a:pPr>
            <a:r>
              <a:rPr lang="en-US" b="1" dirty="0">
                <a:solidFill>
                  <a:srgbClr val="1F2A44"/>
                </a:solidFill>
                <a:latin typeface="Calibri" panose="020F0502020204030204" pitchFamily="34" charset="0"/>
                <a:ea typeface="EB Garamond" pitchFamily="34" charset="-122"/>
                <a:cs typeface="Calibri" panose="020F0502020204030204" pitchFamily="34" charset="0"/>
              </a:rPr>
              <a:t>Prior work reports one overall score</a:t>
            </a:r>
            <a:endParaRPr lang="en-US" dirty="0">
              <a:latin typeface="Calibri" panose="020F0502020204030204" pitchFamily="34" charset="0"/>
              <a:cs typeface="Calibri" panose="020F0502020204030204" pitchFamily="34" charset="0"/>
            </a:endParaRPr>
          </a:p>
        </p:txBody>
      </p:sp>
      <p:sp>
        <p:nvSpPr>
          <p:cNvPr id="9" name="Shape 7"/>
          <p:cNvSpPr/>
          <p:nvPr/>
        </p:nvSpPr>
        <p:spPr>
          <a:xfrm>
            <a:off x="6377195" y="2301268"/>
            <a:ext cx="4974564" cy="1110992"/>
          </a:xfrm>
          <a:prstGeom prst="roundRect">
            <a:avLst>
              <a:gd name="adj" fmla="val 10202"/>
            </a:avLst>
          </a:prstGeom>
          <a:solidFill>
            <a:schemeClr val="bg1"/>
          </a:solidFill>
          <a:ln w="6350">
            <a:solidFill>
              <a:srgbClr val="E3DEE9"/>
            </a:solidFill>
            <a:prstDash val="solid"/>
          </a:ln>
        </p:spPr>
        <p:txBody>
          <a:bodyPr anchor="ctr"/>
          <a:lstStyle/>
          <a:p>
            <a:pPr algn="ctr">
              <a:lnSpc>
                <a:spcPts val="1553"/>
              </a:lnSpc>
            </a:pPr>
            <a:r>
              <a:rPr lang="en-US" sz="1600" b="1" dirty="0">
                <a:solidFill>
                  <a:srgbClr val="4B206B"/>
                </a:solidFill>
                <a:ea typeface="IBM Plex Sans" pitchFamily="34" charset="-122"/>
                <a:cs typeface="IBM Plex Sans" pitchFamily="34" charset="-120"/>
              </a:rPr>
              <a:t>Praveen et al. (2021) – 90% subtype accuracy</a:t>
            </a:r>
          </a:p>
          <a:p>
            <a:pPr>
              <a:lnSpc>
                <a:spcPts val="1553"/>
              </a:lnSpc>
            </a:pPr>
            <a:r>
              <a:rPr lang="en-US" sz="1600" dirty="0">
                <a:ea typeface="IBM Plex Sans" pitchFamily="34" charset="-122"/>
                <a:cs typeface="IBM Plex Sans" pitchFamily="34" charset="-120"/>
              </a:rPr>
              <a:t>YOLOv3 on this same Kaggle collection. Our images are already cropped to one cell, so this classification figure is the comparable baseline.</a:t>
            </a:r>
            <a:endParaRPr lang="en-US" sz="1600" dirty="0"/>
          </a:p>
        </p:txBody>
      </p:sp>
      <p:sp>
        <p:nvSpPr>
          <p:cNvPr id="12" name="Shape 10"/>
          <p:cNvSpPr/>
          <p:nvPr/>
        </p:nvSpPr>
        <p:spPr>
          <a:xfrm>
            <a:off x="6383545" y="3638098"/>
            <a:ext cx="4974564" cy="1110992"/>
          </a:xfrm>
          <a:prstGeom prst="roundRect">
            <a:avLst>
              <a:gd name="adj" fmla="val 10202"/>
            </a:avLst>
          </a:prstGeom>
          <a:solidFill>
            <a:schemeClr val="bg1"/>
          </a:solidFill>
          <a:ln w="6350">
            <a:solidFill>
              <a:srgbClr val="E3DEE9"/>
            </a:solidFill>
            <a:prstDash val="solid"/>
          </a:ln>
        </p:spPr>
        <p:txBody>
          <a:bodyPr anchor="ctr"/>
          <a:lstStyle/>
          <a:p>
            <a:pPr algn="ctr">
              <a:lnSpc>
                <a:spcPts val="1553"/>
              </a:lnSpc>
            </a:pPr>
            <a:r>
              <a:rPr lang="en-US" sz="1600" b="1" dirty="0" err="1">
                <a:solidFill>
                  <a:srgbClr val="4B206B"/>
                </a:solidFill>
                <a:latin typeface="Calibri" panose="020F0502020204030204" pitchFamily="34" charset="0"/>
                <a:ea typeface="IBM Plex Sans" pitchFamily="34" charset="-122"/>
                <a:cs typeface="Calibri" panose="020F0502020204030204" pitchFamily="34" charset="0"/>
              </a:rPr>
              <a:t>Davamani</a:t>
            </a:r>
            <a:r>
              <a:rPr lang="en-US" sz="1600" b="1" dirty="0">
                <a:solidFill>
                  <a:srgbClr val="4B206B"/>
                </a:solidFill>
                <a:latin typeface="Calibri" panose="020F0502020204030204" pitchFamily="34" charset="0"/>
                <a:ea typeface="IBM Plex Sans" pitchFamily="34" charset="-122"/>
                <a:cs typeface="Calibri" panose="020F0502020204030204" pitchFamily="34" charset="0"/>
              </a:rPr>
              <a:t> et al. (2025), Gupta and Mishra (2024)</a:t>
            </a:r>
          </a:p>
          <a:p>
            <a:pPr>
              <a:lnSpc>
                <a:spcPts val="1553"/>
              </a:lnSpc>
            </a:pPr>
            <a:r>
              <a:rPr lang="en-US" sz="1600" dirty="0">
                <a:latin typeface="Calibri" panose="020F0502020204030204" pitchFamily="34" charset="0"/>
                <a:ea typeface="IBM Plex Sans" pitchFamily="34" charset="-122"/>
                <a:cs typeface="Calibri" panose="020F0502020204030204" pitchFamily="34" charset="0"/>
              </a:rPr>
              <a:t>Transfer-learning CNNs on related white-cell images, reporting one overall accuracy that hides which classes are confused.</a:t>
            </a:r>
            <a:endParaRPr lang="en-US" sz="1600" dirty="0">
              <a:latin typeface="Calibri" panose="020F0502020204030204" pitchFamily="34" charset="0"/>
              <a:cs typeface="Calibri" panose="020F0502020204030204" pitchFamily="34" charset="0"/>
            </a:endParaRPr>
          </a:p>
        </p:txBody>
      </p:sp>
      <p:sp>
        <p:nvSpPr>
          <p:cNvPr id="15" name="Shape 13"/>
          <p:cNvSpPr/>
          <p:nvPr/>
        </p:nvSpPr>
        <p:spPr>
          <a:xfrm>
            <a:off x="6370845" y="4974928"/>
            <a:ext cx="4980914" cy="762110"/>
          </a:xfrm>
          <a:prstGeom prst="roundRect">
            <a:avLst>
              <a:gd name="adj" fmla="val 14384"/>
            </a:avLst>
          </a:prstGeom>
          <a:solidFill>
            <a:srgbClr val="4B206B"/>
          </a:solidFill>
          <a:ln/>
        </p:spPr>
        <p:txBody>
          <a:bodyPr anchor="ctr"/>
          <a:lstStyle/>
          <a:p>
            <a:pPr>
              <a:lnSpc>
                <a:spcPts val="1540"/>
              </a:lnSpc>
            </a:pPr>
            <a:r>
              <a:rPr lang="en-US" sz="1600" b="1" dirty="0">
                <a:solidFill>
                  <a:srgbClr val="F4F0FA"/>
                </a:solidFill>
                <a:latin typeface="Calibri" panose="020F0502020204030204" pitchFamily="34" charset="0"/>
                <a:ea typeface="IBM Plex Sans" pitchFamily="34" charset="-122"/>
                <a:cs typeface="Calibri" panose="020F0502020204030204" pitchFamily="34" charset="0"/>
              </a:rPr>
              <a:t>Our angle: </a:t>
            </a:r>
            <a:r>
              <a:rPr lang="en-US" sz="1600" dirty="0">
                <a:solidFill>
                  <a:srgbClr val="F4F0FA"/>
                </a:solidFill>
                <a:latin typeface="Calibri" panose="020F0502020204030204" pitchFamily="34" charset="0"/>
                <a:ea typeface="IBM Plex Sans" pitchFamily="34" charset="-122"/>
                <a:cs typeface="Calibri" panose="020F0502020204030204" pitchFamily="34" charset="0"/>
              </a:rPr>
              <a:t>fine-tune ResNet-50 and report per-class numbers and a confusion matrix, not a second headline.</a:t>
            </a:r>
            <a:endParaRPr lang="en-US" sz="1600" dirty="0">
              <a:latin typeface="Calibri" panose="020F0502020204030204" pitchFamily="34" charset="0"/>
              <a:cs typeface="Calibri" panose="020F0502020204030204" pitchFamily="34" charset="0"/>
            </a:endParaRPr>
          </a:p>
        </p:txBody>
      </p:sp>
      <p:sp>
        <p:nvSpPr>
          <p:cNvPr id="18" name="Text 16"/>
          <p:cNvSpPr/>
          <p:nvPr/>
        </p:nvSpPr>
        <p:spPr>
          <a:xfrm>
            <a:off x="10931309" y="6408137"/>
            <a:ext cx="597319" cy="220133"/>
          </a:xfrm>
          <a:prstGeom prst="rect">
            <a:avLst/>
          </a:prstGeom>
          <a:noFill/>
          <a:ln/>
        </p:spPr>
        <p:txBody>
          <a:bodyPr wrap="square" lIns="0" tIns="0" rIns="0" bIns="0" rtlCol="0" anchor="ctr">
            <a:normAutofit/>
          </a:bodyPr>
          <a:lstStyle/>
          <a:p>
            <a:pPr marL="0" indent="0" algn="ctr">
              <a:lnSpc>
                <a:spcPts val="1540"/>
              </a:lnSpc>
              <a:buNone/>
            </a:pPr>
            <a:r>
              <a:rPr lang="en-US" sz="1100" b="1" dirty="0">
                <a:latin typeface="Calibri" panose="020F0502020204030204" pitchFamily="34" charset="0"/>
                <a:cs typeface="Calibri" panose="020F0502020204030204" pitchFamily="34" charset="0"/>
              </a:rPr>
              <a:t>Slide 2</a:t>
            </a:r>
          </a:p>
        </p:txBody>
      </p:sp>
      <p:sp>
        <p:nvSpPr>
          <p:cNvPr id="5" name="Text 15">
            <a:extLst>
              <a:ext uri="{FF2B5EF4-FFF2-40B4-BE49-F238E27FC236}">
                <a16:creationId xmlns:a16="http://schemas.microsoft.com/office/drawing/2014/main" id="{1B1A8014-5D52-E111-D081-01C71121699B}"/>
              </a:ext>
            </a:extLst>
          </p:cNvPr>
          <p:cNvSpPr/>
          <p:nvPr/>
        </p:nvSpPr>
        <p:spPr>
          <a:xfrm>
            <a:off x="601785" y="6405034"/>
            <a:ext cx="3779297" cy="220133"/>
          </a:xfrm>
          <a:prstGeom prst="rect">
            <a:avLst/>
          </a:prstGeom>
          <a:noFill/>
          <a:ln/>
        </p:spPr>
        <p:txBody>
          <a:bodyPr wrap="square" lIns="0" tIns="0" rIns="0" bIns="0" rtlCol="0" anchor="t">
            <a:normAutofit/>
          </a:bodyPr>
          <a:lstStyle/>
          <a:p>
            <a:pPr marL="0" indent="0" algn="ctr">
              <a:lnSpc>
                <a:spcPts val="1540"/>
              </a:lnSpc>
              <a:buNone/>
            </a:pPr>
            <a:r>
              <a:rPr lang="en-US" sz="900" dirty="0">
                <a:ea typeface="IBM Plex Sans" pitchFamily="34" charset="-122"/>
                <a:cs typeface="IBM Plex Sans" pitchFamily="34" charset="-120"/>
              </a:rPr>
              <a:t>White blood cell classification – CSCI 7090 – Group 4</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CFCF6"/>
        </a:solidFill>
        <a:effectLst/>
      </p:bgPr>
    </p:bg>
    <p:spTree>
      <p:nvGrpSpPr>
        <p:cNvPr id="1" name=""/>
        <p:cNvGrpSpPr/>
        <p:nvPr/>
      </p:nvGrpSpPr>
      <p:grpSpPr>
        <a:xfrm>
          <a:off x="0" y="0"/>
          <a:ext cx="0" cy="0"/>
          <a:chOff x="0" y="0"/>
          <a:chExt cx="0" cy="0"/>
        </a:xfrm>
      </p:grpSpPr>
      <p:sp>
        <p:nvSpPr>
          <p:cNvPr id="2" name="Text 0"/>
          <p:cNvSpPr/>
          <p:nvPr/>
        </p:nvSpPr>
        <p:spPr>
          <a:xfrm>
            <a:off x="763671" y="493969"/>
            <a:ext cx="4854470" cy="1032399"/>
          </a:xfrm>
          <a:prstGeom prst="rect">
            <a:avLst/>
          </a:prstGeom>
          <a:noFill/>
          <a:ln/>
        </p:spPr>
        <p:txBody>
          <a:bodyPr wrap="square" lIns="0" tIns="0" rIns="0" bIns="0" rtlCol="0" anchor="ctr">
            <a:noAutofit/>
          </a:bodyPr>
          <a:lstStyle/>
          <a:p>
            <a:pPr marL="0" indent="0" algn="ctr">
              <a:lnSpc>
                <a:spcPts val="3300"/>
              </a:lnSpc>
              <a:buNone/>
            </a:pPr>
            <a:r>
              <a:rPr lang="en-US" sz="3600" b="1" dirty="0">
                <a:solidFill>
                  <a:srgbClr val="4B206B"/>
                </a:solidFill>
                <a:latin typeface="Calibri" panose="020F0502020204030204" pitchFamily="34" charset="0"/>
                <a:ea typeface="EB Garamond" pitchFamily="34" charset="-122"/>
                <a:cs typeface="Calibri" panose="020F0502020204030204" pitchFamily="34" charset="0"/>
              </a:rPr>
              <a:t>Dataset finalized, pipeline implemented</a:t>
            </a:r>
            <a:endParaRPr lang="en-US" sz="3600" b="1" dirty="0">
              <a:solidFill>
                <a:srgbClr val="4B206B"/>
              </a:solidFill>
              <a:latin typeface="Calibri" panose="020F0502020204030204" pitchFamily="34" charset="0"/>
              <a:cs typeface="Calibri" panose="020F0502020204030204" pitchFamily="34" charset="0"/>
            </a:endParaRPr>
          </a:p>
        </p:txBody>
      </p:sp>
      <p:graphicFrame>
        <p:nvGraphicFramePr>
          <p:cNvPr id="3" name="Table 0"/>
          <p:cNvGraphicFramePr>
            <a:graphicFrameLocks noGrp="1"/>
          </p:cNvGraphicFramePr>
          <p:nvPr>
            <p:extLst>
              <p:ext uri="{D42A27DB-BD31-4B8C-83A1-F6EECF244321}">
                <p14:modId xmlns:p14="http://schemas.microsoft.com/office/powerpoint/2010/main" val="42231390"/>
              </p:ext>
            </p:extLst>
          </p:nvPr>
        </p:nvGraphicFramePr>
        <p:xfrm>
          <a:off x="1174671" y="1775487"/>
          <a:ext cx="4032471" cy="1905000"/>
        </p:xfrm>
        <a:graphic>
          <a:graphicData uri="http://schemas.openxmlformats.org/drawingml/2006/table">
            <a:tbl>
              <a:tblPr/>
              <a:tblGrid>
                <a:gridCol w="1377741">
                  <a:extLst>
                    <a:ext uri="{9D8B030D-6E8A-4147-A177-3AD203B41FA5}">
                      <a16:colId xmlns:a16="http://schemas.microsoft.com/office/drawing/2014/main" val="20000"/>
                    </a:ext>
                  </a:extLst>
                </a:gridCol>
                <a:gridCol w="1336430">
                  <a:extLst>
                    <a:ext uri="{9D8B030D-6E8A-4147-A177-3AD203B41FA5}">
                      <a16:colId xmlns:a16="http://schemas.microsoft.com/office/drawing/2014/main" val="20001"/>
                    </a:ext>
                  </a:extLst>
                </a:gridCol>
                <a:gridCol w="1318300">
                  <a:extLst>
                    <a:ext uri="{9D8B030D-6E8A-4147-A177-3AD203B41FA5}">
                      <a16:colId xmlns:a16="http://schemas.microsoft.com/office/drawing/2014/main" val="20002"/>
                    </a:ext>
                  </a:extLst>
                </a:gridCol>
              </a:tblGrid>
              <a:tr h="317500">
                <a:tc>
                  <a:txBody>
                    <a:bodyPr/>
                    <a:lstStyle/>
                    <a:p>
                      <a:pPr marL="0" indent="0" algn="ctr">
                        <a:lnSpc>
                          <a:spcPts val="1820"/>
                        </a:lnSpc>
                        <a:buNone/>
                      </a:pPr>
                      <a:r>
                        <a:rPr lang="en-US" sz="1300" b="1" dirty="0">
                          <a:solidFill>
                            <a:srgbClr val="1F2A44"/>
                          </a:solidFill>
                          <a:latin typeface="Calibri" panose="020F0502020204030204" pitchFamily="34" charset="0"/>
                          <a:ea typeface="IBM Plex Sans" pitchFamily="34" charset="-122"/>
                          <a:cs typeface="Calibri" panose="020F0502020204030204" pitchFamily="34" charset="0"/>
                        </a:rPr>
                        <a:t>Class</a:t>
                      </a:r>
                      <a:endParaRPr lang="en-US" sz="1300" dirty="0">
                        <a:latin typeface="Calibri" panose="020F0502020204030204" pitchFamily="34" charset="0"/>
                        <a:ea typeface="IBM Plex Sans" charset="0"/>
                        <a:cs typeface="Calibri" panose="020F0502020204030204" pitchFamily="34" charset="0"/>
                      </a:endParaRPr>
                    </a:p>
                  </a:txBody>
                  <a:tcPr marL="63500" marR="63500" marT="38100" marB="38100" anchor="ctr">
                    <a:lnL w="12700" cap="flat" cmpd="sng" algn="ctr">
                      <a:solidFill>
                        <a:srgbClr val="C7C8CC"/>
                      </a:solidFill>
                      <a:prstDash val="solid"/>
                      <a:round/>
                      <a:headEnd type="none" w="med" len="med"/>
                      <a:tailEnd type="none" w="med" len="med"/>
                    </a:lnL>
                    <a:lnR w="12700" cap="flat" cmpd="sng" algn="ctr">
                      <a:solidFill>
                        <a:srgbClr val="C7C8CC"/>
                      </a:solidFill>
                      <a:prstDash val="solid"/>
                      <a:round/>
                      <a:headEnd type="none" w="med" len="med"/>
                      <a:tailEnd type="none" w="med" len="med"/>
                    </a:lnR>
                    <a:lnT w="12700" cap="flat" cmpd="sng" algn="ctr">
                      <a:solidFill>
                        <a:srgbClr val="C7C8CC"/>
                      </a:solidFill>
                      <a:prstDash val="solid"/>
                      <a:round/>
                      <a:headEnd type="none" w="med" len="med"/>
                      <a:tailEnd type="none" w="med" len="med"/>
                    </a:lnT>
                    <a:lnB w="12700" cap="flat" cmpd="sng" algn="ctr">
                      <a:solidFill>
                        <a:srgbClr val="C7C8CC"/>
                      </a:solidFill>
                      <a:prstDash val="solid"/>
                      <a:round/>
                      <a:headEnd type="none" w="med" len="med"/>
                      <a:tailEnd type="none" w="med" len="med"/>
                    </a:lnB>
                    <a:solidFill>
                      <a:srgbClr val="E9E2F3"/>
                    </a:solidFill>
                  </a:tcPr>
                </a:tc>
                <a:tc>
                  <a:txBody>
                    <a:bodyPr/>
                    <a:lstStyle/>
                    <a:p>
                      <a:pPr marL="0" indent="0" algn="ctr">
                        <a:lnSpc>
                          <a:spcPts val="1820"/>
                        </a:lnSpc>
                        <a:buNone/>
                      </a:pPr>
                      <a:r>
                        <a:rPr lang="en-US" sz="1300" b="1" dirty="0">
                          <a:solidFill>
                            <a:srgbClr val="1F2A44"/>
                          </a:solidFill>
                          <a:latin typeface="Calibri" panose="020F0502020204030204" pitchFamily="34" charset="0"/>
                          <a:ea typeface="IBM Plex Sans" pitchFamily="34" charset="-122"/>
                          <a:cs typeface="Calibri" panose="020F0502020204030204" pitchFamily="34" charset="0"/>
                        </a:rPr>
                        <a:t>Train</a:t>
                      </a:r>
                      <a:endParaRPr lang="en-US" sz="1300" dirty="0">
                        <a:latin typeface="Calibri" panose="020F0502020204030204" pitchFamily="34" charset="0"/>
                        <a:ea typeface="IBM Plex Sans" charset="0"/>
                        <a:cs typeface="Calibri" panose="020F0502020204030204" pitchFamily="34" charset="0"/>
                      </a:endParaRPr>
                    </a:p>
                  </a:txBody>
                  <a:tcPr marL="63500" marR="63500" marT="38100" marB="38100" anchor="ctr">
                    <a:lnL w="12700" cap="flat" cmpd="sng" algn="ctr">
                      <a:solidFill>
                        <a:srgbClr val="C7C8CC"/>
                      </a:solidFill>
                      <a:prstDash val="solid"/>
                      <a:round/>
                      <a:headEnd type="none" w="med" len="med"/>
                      <a:tailEnd type="none" w="med" len="med"/>
                    </a:lnL>
                    <a:lnR w="12700" cap="flat" cmpd="sng" algn="ctr">
                      <a:solidFill>
                        <a:srgbClr val="C7C8CC"/>
                      </a:solidFill>
                      <a:prstDash val="solid"/>
                      <a:round/>
                      <a:headEnd type="none" w="med" len="med"/>
                      <a:tailEnd type="none" w="med" len="med"/>
                    </a:lnR>
                    <a:lnT w="12700" cap="flat" cmpd="sng" algn="ctr">
                      <a:solidFill>
                        <a:srgbClr val="C7C8CC"/>
                      </a:solidFill>
                      <a:prstDash val="solid"/>
                      <a:round/>
                      <a:headEnd type="none" w="med" len="med"/>
                      <a:tailEnd type="none" w="med" len="med"/>
                    </a:lnT>
                    <a:lnB w="12700" cap="flat" cmpd="sng" algn="ctr">
                      <a:solidFill>
                        <a:srgbClr val="C7C8CC"/>
                      </a:solidFill>
                      <a:prstDash val="solid"/>
                      <a:round/>
                      <a:headEnd type="none" w="med" len="med"/>
                      <a:tailEnd type="none" w="med" len="med"/>
                    </a:lnB>
                    <a:solidFill>
                      <a:srgbClr val="E9E2F3"/>
                    </a:solidFill>
                  </a:tcPr>
                </a:tc>
                <a:tc>
                  <a:txBody>
                    <a:bodyPr/>
                    <a:lstStyle/>
                    <a:p>
                      <a:pPr marL="0" indent="0" algn="ctr">
                        <a:lnSpc>
                          <a:spcPts val="1820"/>
                        </a:lnSpc>
                        <a:buNone/>
                      </a:pPr>
                      <a:r>
                        <a:rPr lang="en-US" sz="1300" b="1" dirty="0">
                          <a:solidFill>
                            <a:srgbClr val="1F2A44"/>
                          </a:solidFill>
                          <a:latin typeface="Calibri" panose="020F0502020204030204" pitchFamily="34" charset="0"/>
                          <a:ea typeface="IBM Plex Sans" pitchFamily="34" charset="-122"/>
                          <a:cs typeface="Calibri" panose="020F0502020204030204" pitchFamily="34" charset="0"/>
                        </a:rPr>
                        <a:t>Test</a:t>
                      </a:r>
                      <a:endParaRPr lang="en-US" sz="1300" dirty="0">
                        <a:latin typeface="Calibri" panose="020F0502020204030204" pitchFamily="34" charset="0"/>
                        <a:ea typeface="IBM Plex Sans" charset="0"/>
                        <a:cs typeface="Calibri" panose="020F0502020204030204" pitchFamily="34" charset="0"/>
                      </a:endParaRPr>
                    </a:p>
                  </a:txBody>
                  <a:tcPr marL="63500" marR="63500" marT="38100" marB="38100" anchor="ctr">
                    <a:lnL w="12700" cap="flat" cmpd="sng" algn="ctr">
                      <a:solidFill>
                        <a:srgbClr val="C7C8CC"/>
                      </a:solidFill>
                      <a:prstDash val="solid"/>
                      <a:round/>
                      <a:headEnd type="none" w="med" len="med"/>
                      <a:tailEnd type="none" w="med" len="med"/>
                    </a:lnL>
                    <a:lnR w="12700" cap="flat" cmpd="sng" algn="ctr">
                      <a:solidFill>
                        <a:srgbClr val="C7C8CC"/>
                      </a:solidFill>
                      <a:prstDash val="solid"/>
                      <a:round/>
                      <a:headEnd type="none" w="med" len="med"/>
                      <a:tailEnd type="none" w="med" len="med"/>
                    </a:lnR>
                    <a:lnT w="12700" cap="flat" cmpd="sng" algn="ctr">
                      <a:solidFill>
                        <a:srgbClr val="C7C8CC"/>
                      </a:solidFill>
                      <a:prstDash val="solid"/>
                      <a:round/>
                      <a:headEnd type="none" w="med" len="med"/>
                      <a:tailEnd type="none" w="med" len="med"/>
                    </a:lnT>
                    <a:lnB w="12700" cap="flat" cmpd="sng" algn="ctr">
                      <a:solidFill>
                        <a:srgbClr val="C7C8CC"/>
                      </a:solidFill>
                      <a:prstDash val="solid"/>
                      <a:round/>
                      <a:headEnd type="none" w="med" len="med"/>
                      <a:tailEnd type="none" w="med" len="med"/>
                    </a:lnB>
                    <a:solidFill>
                      <a:srgbClr val="E9E2F3"/>
                    </a:solidFill>
                  </a:tcPr>
                </a:tc>
                <a:extLst>
                  <a:ext uri="{0D108BD9-81ED-4DB2-BD59-A6C34878D82A}">
                    <a16:rowId xmlns:a16="http://schemas.microsoft.com/office/drawing/2014/main" val="10000"/>
                  </a:ext>
                </a:extLst>
              </a:tr>
              <a:tr h="317500">
                <a:tc>
                  <a:txBody>
                    <a:bodyPr/>
                    <a:lstStyle/>
                    <a:p>
                      <a:pPr marL="0" indent="0">
                        <a:lnSpc>
                          <a:spcPts val="1820"/>
                        </a:lnSpc>
                        <a:buNone/>
                      </a:pPr>
                      <a:r>
                        <a:rPr lang="en-US" sz="1300" b="1" dirty="0">
                          <a:solidFill>
                            <a:srgbClr val="1F2A44"/>
                          </a:solidFill>
                          <a:latin typeface="Calibri" panose="020F0502020204030204" pitchFamily="34" charset="0"/>
                          <a:ea typeface="IBM Plex Sans" pitchFamily="34" charset="-122"/>
                          <a:cs typeface="Calibri" panose="020F0502020204030204" pitchFamily="34" charset="0"/>
                        </a:rPr>
                        <a:t>Eosinophil</a:t>
                      </a:r>
                      <a:endParaRPr lang="en-US" sz="1300" b="1" dirty="0">
                        <a:latin typeface="Calibri" panose="020F0502020204030204" pitchFamily="34" charset="0"/>
                        <a:ea typeface="IBM Plex Sans" charset="0"/>
                        <a:cs typeface="Calibri" panose="020F0502020204030204" pitchFamily="34" charset="0"/>
                      </a:endParaRPr>
                    </a:p>
                  </a:txBody>
                  <a:tcPr marL="63500" marR="63500" marT="38100" marB="38100" anchor="ctr">
                    <a:lnL w="12700" cap="flat" cmpd="sng" algn="ctr">
                      <a:solidFill>
                        <a:srgbClr val="C7C8CC"/>
                      </a:solidFill>
                      <a:prstDash val="solid"/>
                      <a:round/>
                      <a:headEnd type="none" w="med" len="med"/>
                      <a:tailEnd type="none" w="med" len="med"/>
                    </a:lnL>
                    <a:lnR w="12700" cap="flat" cmpd="sng" algn="ctr">
                      <a:solidFill>
                        <a:srgbClr val="C7C8CC"/>
                      </a:solidFill>
                      <a:prstDash val="solid"/>
                      <a:round/>
                      <a:headEnd type="none" w="med" len="med"/>
                      <a:tailEnd type="none" w="med" len="med"/>
                    </a:lnR>
                    <a:lnT w="12700" cap="flat" cmpd="sng" algn="ctr">
                      <a:solidFill>
                        <a:srgbClr val="C7C8CC"/>
                      </a:solidFill>
                      <a:prstDash val="solid"/>
                      <a:round/>
                      <a:headEnd type="none" w="med" len="med"/>
                      <a:tailEnd type="none" w="med" len="med"/>
                    </a:lnT>
                    <a:lnB w="12700" cap="flat" cmpd="sng" algn="ctr">
                      <a:solidFill>
                        <a:srgbClr val="C7C8CC"/>
                      </a:solidFill>
                      <a:prstDash val="solid"/>
                      <a:round/>
                      <a:headEnd type="none" w="med" len="med"/>
                      <a:tailEnd type="none" w="med" len="med"/>
                    </a:lnB>
                    <a:solidFill>
                      <a:schemeClr val="bg1"/>
                    </a:solidFill>
                  </a:tcPr>
                </a:tc>
                <a:tc>
                  <a:txBody>
                    <a:bodyPr/>
                    <a:lstStyle/>
                    <a:p>
                      <a:pPr marL="0" indent="0" algn="ctr">
                        <a:lnSpc>
                          <a:spcPts val="1820"/>
                        </a:lnSpc>
                        <a:buNone/>
                      </a:pPr>
                      <a:r>
                        <a:rPr lang="en-US" sz="1300" dirty="0">
                          <a:solidFill>
                            <a:srgbClr val="1F2A44"/>
                          </a:solidFill>
                          <a:latin typeface="Calibri" panose="020F0502020204030204" pitchFamily="34" charset="0"/>
                          <a:ea typeface="IBM Plex Sans" pitchFamily="34" charset="-122"/>
                          <a:cs typeface="Calibri" panose="020F0502020204030204" pitchFamily="34" charset="0"/>
                        </a:rPr>
                        <a:t>2,497</a:t>
                      </a:r>
                      <a:endParaRPr lang="en-US" sz="1300" dirty="0">
                        <a:latin typeface="Calibri" panose="020F0502020204030204" pitchFamily="34" charset="0"/>
                        <a:ea typeface="IBM Plex Sans" charset="0"/>
                        <a:cs typeface="Calibri" panose="020F0502020204030204" pitchFamily="34" charset="0"/>
                      </a:endParaRPr>
                    </a:p>
                  </a:txBody>
                  <a:tcPr marL="63500" marR="63500" marT="38100" marB="38100" anchor="ctr">
                    <a:lnL w="12700" cap="flat" cmpd="sng" algn="ctr">
                      <a:solidFill>
                        <a:srgbClr val="C7C8CC"/>
                      </a:solidFill>
                      <a:prstDash val="solid"/>
                      <a:round/>
                      <a:headEnd type="none" w="med" len="med"/>
                      <a:tailEnd type="none" w="med" len="med"/>
                    </a:lnL>
                    <a:lnR w="12700" cap="flat" cmpd="sng" algn="ctr">
                      <a:solidFill>
                        <a:srgbClr val="C7C8CC"/>
                      </a:solidFill>
                      <a:prstDash val="solid"/>
                      <a:round/>
                      <a:headEnd type="none" w="med" len="med"/>
                      <a:tailEnd type="none" w="med" len="med"/>
                    </a:lnR>
                    <a:lnT w="12700" cap="flat" cmpd="sng" algn="ctr">
                      <a:solidFill>
                        <a:srgbClr val="C7C8CC"/>
                      </a:solidFill>
                      <a:prstDash val="solid"/>
                      <a:round/>
                      <a:headEnd type="none" w="med" len="med"/>
                      <a:tailEnd type="none" w="med" len="med"/>
                    </a:lnT>
                    <a:lnB w="12700" cap="flat" cmpd="sng" algn="ctr">
                      <a:solidFill>
                        <a:srgbClr val="C7C8CC"/>
                      </a:solidFill>
                      <a:prstDash val="solid"/>
                      <a:round/>
                      <a:headEnd type="none" w="med" len="med"/>
                      <a:tailEnd type="none" w="med" len="med"/>
                    </a:lnB>
                    <a:solidFill>
                      <a:schemeClr val="bg1"/>
                    </a:solidFill>
                  </a:tcPr>
                </a:tc>
                <a:tc>
                  <a:txBody>
                    <a:bodyPr/>
                    <a:lstStyle/>
                    <a:p>
                      <a:pPr marL="0" indent="0" algn="ctr">
                        <a:lnSpc>
                          <a:spcPts val="1820"/>
                        </a:lnSpc>
                        <a:buNone/>
                      </a:pPr>
                      <a:r>
                        <a:rPr lang="en-US" sz="1300" dirty="0">
                          <a:solidFill>
                            <a:srgbClr val="1F2A44"/>
                          </a:solidFill>
                          <a:latin typeface="Calibri" panose="020F0502020204030204" pitchFamily="34" charset="0"/>
                          <a:ea typeface="IBM Plex Sans" pitchFamily="34" charset="-122"/>
                          <a:cs typeface="Calibri" panose="020F0502020204030204" pitchFamily="34" charset="0"/>
                        </a:rPr>
                        <a:t>623</a:t>
                      </a:r>
                      <a:endParaRPr lang="en-US" sz="1300" dirty="0">
                        <a:latin typeface="Calibri" panose="020F0502020204030204" pitchFamily="34" charset="0"/>
                        <a:ea typeface="IBM Plex Sans" charset="0"/>
                        <a:cs typeface="Calibri" panose="020F0502020204030204" pitchFamily="34" charset="0"/>
                      </a:endParaRPr>
                    </a:p>
                  </a:txBody>
                  <a:tcPr marL="63500" marR="63500" marT="38100" marB="38100" anchor="ctr">
                    <a:lnL w="12700" cap="flat" cmpd="sng" algn="ctr">
                      <a:solidFill>
                        <a:srgbClr val="C7C8CC"/>
                      </a:solidFill>
                      <a:prstDash val="solid"/>
                      <a:round/>
                      <a:headEnd type="none" w="med" len="med"/>
                      <a:tailEnd type="none" w="med" len="med"/>
                    </a:lnL>
                    <a:lnR w="12700" cap="flat" cmpd="sng" algn="ctr">
                      <a:solidFill>
                        <a:srgbClr val="C7C8CC"/>
                      </a:solidFill>
                      <a:prstDash val="solid"/>
                      <a:round/>
                      <a:headEnd type="none" w="med" len="med"/>
                      <a:tailEnd type="none" w="med" len="med"/>
                    </a:lnR>
                    <a:lnT w="12700" cap="flat" cmpd="sng" algn="ctr">
                      <a:solidFill>
                        <a:srgbClr val="C7C8CC"/>
                      </a:solidFill>
                      <a:prstDash val="solid"/>
                      <a:round/>
                      <a:headEnd type="none" w="med" len="med"/>
                      <a:tailEnd type="none" w="med" len="med"/>
                    </a:lnT>
                    <a:lnB w="12700" cap="flat" cmpd="sng" algn="ctr">
                      <a:solidFill>
                        <a:srgbClr val="C7C8CC"/>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17500">
                <a:tc>
                  <a:txBody>
                    <a:bodyPr/>
                    <a:lstStyle/>
                    <a:p>
                      <a:pPr marL="0" indent="0">
                        <a:lnSpc>
                          <a:spcPts val="1820"/>
                        </a:lnSpc>
                        <a:buNone/>
                      </a:pPr>
                      <a:r>
                        <a:rPr lang="en-US" sz="1300" b="1" dirty="0">
                          <a:solidFill>
                            <a:srgbClr val="1F2A44"/>
                          </a:solidFill>
                          <a:latin typeface="Calibri" panose="020F0502020204030204" pitchFamily="34" charset="0"/>
                          <a:ea typeface="IBM Plex Sans" pitchFamily="34" charset="-122"/>
                          <a:cs typeface="Calibri" panose="020F0502020204030204" pitchFamily="34" charset="0"/>
                        </a:rPr>
                        <a:t>Lymphocyte</a:t>
                      </a:r>
                      <a:endParaRPr lang="en-US" sz="1300" b="1" dirty="0">
                        <a:latin typeface="Calibri" panose="020F0502020204030204" pitchFamily="34" charset="0"/>
                        <a:ea typeface="IBM Plex Sans" charset="0"/>
                        <a:cs typeface="Calibri" panose="020F0502020204030204" pitchFamily="34" charset="0"/>
                      </a:endParaRPr>
                    </a:p>
                  </a:txBody>
                  <a:tcPr marL="63500" marR="63500" marT="38100" marB="38100" anchor="ctr">
                    <a:lnL w="12700" cap="flat" cmpd="sng" algn="ctr">
                      <a:solidFill>
                        <a:srgbClr val="C7C8CC"/>
                      </a:solidFill>
                      <a:prstDash val="solid"/>
                      <a:round/>
                      <a:headEnd type="none" w="med" len="med"/>
                      <a:tailEnd type="none" w="med" len="med"/>
                    </a:lnL>
                    <a:lnR w="12700" cap="flat" cmpd="sng" algn="ctr">
                      <a:solidFill>
                        <a:srgbClr val="C7C8CC"/>
                      </a:solidFill>
                      <a:prstDash val="solid"/>
                      <a:round/>
                      <a:headEnd type="none" w="med" len="med"/>
                      <a:tailEnd type="none" w="med" len="med"/>
                    </a:lnR>
                    <a:lnT w="12700" cap="flat" cmpd="sng" algn="ctr">
                      <a:solidFill>
                        <a:srgbClr val="C7C8CC"/>
                      </a:solidFill>
                      <a:prstDash val="solid"/>
                      <a:round/>
                      <a:headEnd type="none" w="med" len="med"/>
                      <a:tailEnd type="none" w="med" len="med"/>
                    </a:lnT>
                    <a:lnB w="12700" cap="flat" cmpd="sng" algn="ctr">
                      <a:solidFill>
                        <a:srgbClr val="C7C8CC"/>
                      </a:solidFill>
                      <a:prstDash val="solid"/>
                      <a:round/>
                      <a:headEnd type="none" w="med" len="med"/>
                      <a:tailEnd type="none" w="med" len="med"/>
                    </a:lnB>
                    <a:solidFill>
                      <a:schemeClr val="bg1"/>
                    </a:solidFill>
                  </a:tcPr>
                </a:tc>
                <a:tc>
                  <a:txBody>
                    <a:bodyPr/>
                    <a:lstStyle/>
                    <a:p>
                      <a:pPr marL="0" indent="0" algn="ctr">
                        <a:lnSpc>
                          <a:spcPts val="1820"/>
                        </a:lnSpc>
                        <a:buNone/>
                      </a:pPr>
                      <a:r>
                        <a:rPr lang="en-US" sz="1300" dirty="0">
                          <a:solidFill>
                            <a:srgbClr val="1F2A44"/>
                          </a:solidFill>
                          <a:latin typeface="Calibri" panose="020F0502020204030204" pitchFamily="34" charset="0"/>
                          <a:ea typeface="IBM Plex Sans" pitchFamily="34" charset="-122"/>
                          <a:cs typeface="Calibri" panose="020F0502020204030204" pitchFamily="34" charset="0"/>
                        </a:rPr>
                        <a:t>2,483</a:t>
                      </a:r>
                      <a:endParaRPr lang="en-US" sz="1300" dirty="0">
                        <a:latin typeface="Calibri" panose="020F0502020204030204" pitchFamily="34" charset="0"/>
                        <a:ea typeface="IBM Plex Sans" charset="0"/>
                        <a:cs typeface="Calibri" panose="020F0502020204030204" pitchFamily="34" charset="0"/>
                      </a:endParaRPr>
                    </a:p>
                  </a:txBody>
                  <a:tcPr marL="63500" marR="63500" marT="38100" marB="38100" anchor="ctr">
                    <a:lnL w="12700" cap="flat" cmpd="sng" algn="ctr">
                      <a:solidFill>
                        <a:srgbClr val="C7C8CC"/>
                      </a:solidFill>
                      <a:prstDash val="solid"/>
                      <a:round/>
                      <a:headEnd type="none" w="med" len="med"/>
                      <a:tailEnd type="none" w="med" len="med"/>
                    </a:lnL>
                    <a:lnR w="12700" cap="flat" cmpd="sng" algn="ctr">
                      <a:solidFill>
                        <a:srgbClr val="C7C8CC"/>
                      </a:solidFill>
                      <a:prstDash val="solid"/>
                      <a:round/>
                      <a:headEnd type="none" w="med" len="med"/>
                      <a:tailEnd type="none" w="med" len="med"/>
                    </a:lnR>
                    <a:lnT w="12700" cap="flat" cmpd="sng" algn="ctr">
                      <a:solidFill>
                        <a:srgbClr val="C7C8CC"/>
                      </a:solidFill>
                      <a:prstDash val="solid"/>
                      <a:round/>
                      <a:headEnd type="none" w="med" len="med"/>
                      <a:tailEnd type="none" w="med" len="med"/>
                    </a:lnT>
                    <a:lnB w="12700" cap="flat" cmpd="sng" algn="ctr">
                      <a:solidFill>
                        <a:srgbClr val="C7C8CC"/>
                      </a:solidFill>
                      <a:prstDash val="solid"/>
                      <a:round/>
                      <a:headEnd type="none" w="med" len="med"/>
                      <a:tailEnd type="none" w="med" len="med"/>
                    </a:lnB>
                    <a:solidFill>
                      <a:schemeClr val="bg1"/>
                    </a:solidFill>
                  </a:tcPr>
                </a:tc>
                <a:tc>
                  <a:txBody>
                    <a:bodyPr/>
                    <a:lstStyle/>
                    <a:p>
                      <a:pPr marL="0" indent="0" algn="ctr">
                        <a:lnSpc>
                          <a:spcPts val="1820"/>
                        </a:lnSpc>
                        <a:buNone/>
                      </a:pPr>
                      <a:r>
                        <a:rPr lang="en-US" sz="1300" dirty="0">
                          <a:solidFill>
                            <a:srgbClr val="1F2A44"/>
                          </a:solidFill>
                          <a:latin typeface="Calibri" panose="020F0502020204030204" pitchFamily="34" charset="0"/>
                          <a:ea typeface="IBM Plex Sans" pitchFamily="34" charset="-122"/>
                          <a:cs typeface="Calibri" panose="020F0502020204030204" pitchFamily="34" charset="0"/>
                        </a:rPr>
                        <a:t>620</a:t>
                      </a:r>
                      <a:endParaRPr lang="en-US" sz="1300" dirty="0">
                        <a:latin typeface="Calibri" panose="020F0502020204030204" pitchFamily="34" charset="0"/>
                        <a:ea typeface="IBM Plex Sans" charset="0"/>
                        <a:cs typeface="Calibri" panose="020F0502020204030204" pitchFamily="34" charset="0"/>
                      </a:endParaRPr>
                    </a:p>
                  </a:txBody>
                  <a:tcPr marL="63500" marR="63500" marT="38100" marB="38100" anchor="ctr">
                    <a:lnL w="12700" cap="flat" cmpd="sng" algn="ctr">
                      <a:solidFill>
                        <a:srgbClr val="C7C8CC"/>
                      </a:solidFill>
                      <a:prstDash val="solid"/>
                      <a:round/>
                      <a:headEnd type="none" w="med" len="med"/>
                      <a:tailEnd type="none" w="med" len="med"/>
                    </a:lnL>
                    <a:lnR w="12700" cap="flat" cmpd="sng" algn="ctr">
                      <a:solidFill>
                        <a:srgbClr val="C7C8CC"/>
                      </a:solidFill>
                      <a:prstDash val="solid"/>
                      <a:round/>
                      <a:headEnd type="none" w="med" len="med"/>
                      <a:tailEnd type="none" w="med" len="med"/>
                    </a:lnR>
                    <a:lnT w="12700" cap="flat" cmpd="sng" algn="ctr">
                      <a:solidFill>
                        <a:srgbClr val="C7C8CC"/>
                      </a:solidFill>
                      <a:prstDash val="solid"/>
                      <a:round/>
                      <a:headEnd type="none" w="med" len="med"/>
                      <a:tailEnd type="none" w="med" len="med"/>
                    </a:lnT>
                    <a:lnB w="12700" cap="flat" cmpd="sng" algn="ctr">
                      <a:solidFill>
                        <a:srgbClr val="C7C8CC"/>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317500">
                <a:tc>
                  <a:txBody>
                    <a:bodyPr/>
                    <a:lstStyle/>
                    <a:p>
                      <a:pPr marL="0" indent="0">
                        <a:lnSpc>
                          <a:spcPts val="1820"/>
                        </a:lnSpc>
                        <a:buNone/>
                      </a:pPr>
                      <a:r>
                        <a:rPr lang="en-US" sz="1300" b="1" dirty="0">
                          <a:solidFill>
                            <a:srgbClr val="1F2A44"/>
                          </a:solidFill>
                          <a:latin typeface="Calibri" panose="020F0502020204030204" pitchFamily="34" charset="0"/>
                          <a:ea typeface="IBM Plex Sans" pitchFamily="34" charset="-122"/>
                          <a:cs typeface="Calibri" panose="020F0502020204030204" pitchFamily="34" charset="0"/>
                        </a:rPr>
                        <a:t>Monocyte</a:t>
                      </a:r>
                      <a:endParaRPr lang="en-US" sz="1300" b="1" dirty="0">
                        <a:latin typeface="Calibri" panose="020F0502020204030204" pitchFamily="34" charset="0"/>
                        <a:ea typeface="IBM Plex Sans" charset="0"/>
                        <a:cs typeface="Calibri" panose="020F0502020204030204" pitchFamily="34" charset="0"/>
                      </a:endParaRPr>
                    </a:p>
                  </a:txBody>
                  <a:tcPr marL="63500" marR="63500" marT="38100" marB="38100" anchor="ctr">
                    <a:lnL w="12700" cap="flat" cmpd="sng" algn="ctr">
                      <a:solidFill>
                        <a:srgbClr val="C7C8CC"/>
                      </a:solidFill>
                      <a:prstDash val="solid"/>
                      <a:round/>
                      <a:headEnd type="none" w="med" len="med"/>
                      <a:tailEnd type="none" w="med" len="med"/>
                    </a:lnL>
                    <a:lnR w="12700" cap="flat" cmpd="sng" algn="ctr">
                      <a:solidFill>
                        <a:srgbClr val="C7C8CC"/>
                      </a:solidFill>
                      <a:prstDash val="solid"/>
                      <a:round/>
                      <a:headEnd type="none" w="med" len="med"/>
                      <a:tailEnd type="none" w="med" len="med"/>
                    </a:lnR>
                    <a:lnT w="12700" cap="flat" cmpd="sng" algn="ctr">
                      <a:solidFill>
                        <a:srgbClr val="C7C8CC"/>
                      </a:solidFill>
                      <a:prstDash val="solid"/>
                      <a:round/>
                      <a:headEnd type="none" w="med" len="med"/>
                      <a:tailEnd type="none" w="med" len="med"/>
                    </a:lnT>
                    <a:lnB w="12700" cap="flat" cmpd="sng" algn="ctr">
                      <a:solidFill>
                        <a:srgbClr val="C7C8CC"/>
                      </a:solidFill>
                      <a:prstDash val="solid"/>
                      <a:round/>
                      <a:headEnd type="none" w="med" len="med"/>
                      <a:tailEnd type="none" w="med" len="med"/>
                    </a:lnB>
                    <a:solidFill>
                      <a:schemeClr val="bg1"/>
                    </a:solidFill>
                  </a:tcPr>
                </a:tc>
                <a:tc>
                  <a:txBody>
                    <a:bodyPr/>
                    <a:lstStyle/>
                    <a:p>
                      <a:pPr marL="0" indent="0" algn="ctr">
                        <a:lnSpc>
                          <a:spcPts val="1820"/>
                        </a:lnSpc>
                        <a:buNone/>
                      </a:pPr>
                      <a:r>
                        <a:rPr lang="en-US" sz="1300" dirty="0">
                          <a:solidFill>
                            <a:srgbClr val="1F2A44"/>
                          </a:solidFill>
                          <a:latin typeface="Calibri" panose="020F0502020204030204" pitchFamily="34" charset="0"/>
                          <a:ea typeface="IBM Plex Sans" pitchFamily="34" charset="-122"/>
                          <a:cs typeface="Calibri" panose="020F0502020204030204" pitchFamily="34" charset="0"/>
                        </a:rPr>
                        <a:t>2,478</a:t>
                      </a:r>
                      <a:endParaRPr lang="en-US" sz="1300" dirty="0">
                        <a:latin typeface="Calibri" panose="020F0502020204030204" pitchFamily="34" charset="0"/>
                        <a:ea typeface="IBM Plex Sans" charset="0"/>
                        <a:cs typeface="Calibri" panose="020F0502020204030204" pitchFamily="34" charset="0"/>
                      </a:endParaRPr>
                    </a:p>
                  </a:txBody>
                  <a:tcPr marL="63500" marR="63500" marT="38100" marB="38100" anchor="ctr">
                    <a:lnL w="12700" cap="flat" cmpd="sng" algn="ctr">
                      <a:solidFill>
                        <a:srgbClr val="C7C8CC"/>
                      </a:solidFill>
                      <a:prstDash val="solid"/>
                      <a:round/>
                      <a:headEnd type="none" w="med" len="med"/>
                      <a:tailEnd type="none" w="med" len="med"/>
                    </a:lnL>
                    <a:lnR w="12700" cap="flat" cmpd="sng" algn="ctr">
                      <a:solidFill>
                        <a:srgbClr val="C7C8CC"/>
                      </a:solidFill>
                      <a:prstDash val="solid"/>
                      <a:round/>
                      <a:headEnd type="none" w="med" len="med"/>
                      <a:tailEnd type="none" w="med" len="med"/>
                    </a:lnR>
                    <a:lnT w="12700" cap="flat" cmpd="sng" algn="ctr">
                      <a:solidFill>
                        <a:srgbClr val="C7C8CC"/>
                      </a:solidFill>
                      <a:prstDash val="solid"/>
                      <a:round/>
                      <a:headEnd type="none" w="med" len="med"/>
                      <a:tailEnd type="none" w="med" len="med"/>
                    </a:lnT>
                    <a:lnB w="12700" cap="flat" cmpd="sng" algn="ctr">
                      <a:solidFill>
                        <a:srgbClr val="C7C8CC"/>
                      </a:solidFill>
                      <a:prstDash val="solid"/>
                      <a:round/>
                      <a:headEnd type="none" w="med" len="med"/>
                      <a:tailEnd type="none" w="med" len="med"/>
                    </a:lnB>
                    <a:solidFill>
                      <a:schemeClr val="bg1"/>
                    </a:solidFill>
                  </a:tcPr>
                </a:tc>
                <a:tc>
                  <a:txBody>
                    <a:bodyPr/>
                    <a:lstStyle/>
                    <a:p>
                      <a:pPr marL="0" indent="0" algn="ctr">
                        <a:lnSpc>
                          <a:spcPts val="1820"/>
                        </a:lnSpc>
                        <a:buNone/>
                      </a:pPr>
                      <a:r>
                        <a:rPr lang="en-US" sz="1300" dirty="0">
                          <a:solidFill>
                            <a:srgbClr val="1F2A44"/>
                          </a:solidFill>
                          <a:latin typeface="Calibri" panose="020F0502020204030204" pitchFamily="34" charset="0"/>
                          <a:ea typeface="IBM Plex Sans" pitchFamily="34" charset="-122"/>
                          <a:cs typeface="Calibri" panose="020F0502020204030204" pitchFamily="34" charset="0"/>
                        </a:rPr>
                        <a:t>620</a:t>
                      </a:r>
                      <a:endParaRPr lang="en-US" sz="1300" dirty="0">
                        <a:latin typeface="Calibri" panose="020F0502020204030204" pitchFamily="34" charset="0"/>
                        <a:ea typeface="IBM Plex Sans" charset="0"/>
                        <a:cs typeface="Calibri" panose="020F0502020204030204" pitchFamily="34" charset="0"/>
                      </a:endParaRPr>
                    </a:p>
                  </a:txBody>
                  <a:tcPr marL="63500" marR="63500" marT="38100" marB="38100" anchor="ctr">
                    <a:lnL w="12700" cap="flat" cmpd="sng" algn="ctr">
                      <a:solidFill>
                        <a:srgbClr val="C7C8CC"/>
                      </a:solidFill>
                      <a:prstDash val="solid"/>
                      <a:round/>
                      <a:headEnd type="none" w="med" len="med"/>
                      <a:tailEnd type="none" w="med" len="med"/>
                    </a:lnL>
                    <a:lnR w="12700" cap="flat" cmpd="sng" algn="ctr">
                      <a:solidFill>
                        <a:srgbClr val="C7C8CC"/>
                      </a:solidFill>
                      <a:prstDash val="solid"/>
                      <a:round/>
                      <a:headEnd type="none" w="med" len="med"/>
                      <a:tailEnd type="none" w="med" len="med"/>
                    </a:lnR>
                    <a:lnT w="12700" cap="flat" cmpd="sng" algn="ctr">
                      <a:solidFill>
                        <a:srgbClr val="C7C8CC"/>
                      </a:solidFill>
                      <a:prstDash val="solid"/>
                      <a:round/>
                      <a:headEnd type="none" w="med" len="med"/>
                      <a:tailEnd type="none" w="med" len="med"/>
                    </a:lnT>
                    <a:lnB w="12700" cap="flat" cmpd="sng" algn="ctr">
                      <a:solidFill>
                        <a:srgbClr val="C7C8CC"/>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17500">
                <a:tc>
                  <a:txBody>
                    <a:bodyPr/>
                    <a:lstStyle/>
                    <a:p>
                      <a:pPr marL="0" indent="0">
                        <a:lnSpc>
                          <a:spcPts val="1820"/>
                        </a:lnSpc>
                        <a:buNone/>
                      </a:pPr>
                      <a:r>
                        <a:rPr lang="en-US" sz="1300" b="1" dirty="0">
                          <a:solidFill>
                            <a:srgbClr val="1F2A44"/>
                          </a:solidFill>
                          <a:latin typeface="Calibri" panose="020F0502020204030204" pitchFamily="34" charset="0"/>
                          <a:ea typeface="IBM Plex Sans" pitchFamily="34" charset="-122"/>
                          <a:cs typeface="Calibri" panose="020F0502020204030204" pitchFamily="34" charset="0"/>
                        </a:rPr>
                        <a:t>Neutrophil</a:t>
                      </a:r>
                      <a:endParaRPr lang="en-US" sz="1300" b="1" dirty="0">
                        <a:latin typeface="Calibri" panose="020F0502020204030204" pitchFamily="34" charset="0"/>
                        <a:ea typeface="IBM Plex Sans" charset="0"/>
                        <a:cs typeface="Calibri" panose="020F0502020204030204" pitchFamily="34" charset="0"/>
                      </a:endParaRPr>
                    </a:p>
                  </a:txBody>
                  <a:tcPr marL="63500" marR="63500" marT="38100" marB="38100" anchor="ctr">
                    <a:lnL w="12700" cap="flat" cmpd="sng" algn="ctr">
                      <a:solidFill>
                        <a:srgbClr val="C7C8CC"/>
                      </a:solidFill>
                      <a:prstDash val="solid"/>
                      <a:round/>
                      <a:headEnd type="none" w="med" len="med"/>
                      <a:tailEnd type="none" w="med" len="med"/>
                    </a:lnL>
                    <a:lnR w="12700" cap="flat" cmpd="sng" algn="ctr">
                      <a:solidFill>
                        <a:srgbClr val="C7C8CC"/>
                      </a:solidFill>
                      <a:prstDash val="solid"/>
                      <a:round/>
                      <a:headEnd type="none" w="med" len="med"/>
                      <a:tailEnd type="none" w="med" len="med"/>
                    </a:lnR>
                    <a:lnT w="12700" cap="flat" cmpd="sng" algn="ctr">
                      <a:solidFill>
                        <a:srgbClr val="C7C8CC"/>
                      </a:solidFill>
                      <a:prstDash val="solid"/>
                      <a:round/>
                      <a:headEnd type="none" w="med" len="med"/>
                      <a:tailEnd type="none" w="med" len="med"/>
                    </a:lnT>
                    <a:lnB w="12700" cap="flat" cmpd="sng" algn="ctr">
                      <a:solidFill>
                        <a:srgbClr val="C7C8CC"/>
                      </a:solidFill>
                      <a:prstDash val="solid"/>
                      <a:round/>
                      <a:headEnd type="none" w="med" len="med"/>
                      <a:tailEnd type="none" w="med" len="med"/>
                    </a:lnB>
                    <a:solidFill>
                      <a:schemeClr val="bg1"/>
                    </a:solidFill>
                  </a:tcPr>
                </a:tc>
                <a:tc>
                  <a:txBody>
                    <a:bodyPr/>
                    <a:lstStyle/>
                    <a:p>
                      <a:pPr marL="0" indent="0" algn="ctr">
                        <a:lnSpc>
                          <a:spcPts val="1820"/>
                        </a:lnSpc>
                        <a:buNone/>
                      </a:pPr>
                      <a:r>
                        <a:rPr lang="en-US" sz="1300" dirty="0">
                          <a:solidFill>
                            <a:srgbClr val="1F2A44"/>
                          </a:solidFill>
                          <a:latin typeface="Calibri" panose="020F0502020204030204" pitchFamily="34" charset="0"/>
                          <a:ea typeface="IBM Plex Sans" pitchFamily="34" charset="-122"/>
                          <a:cs typeface="Calibri" panose="020F0502020204030204" pitchFamily="34" charset="0"/>
                        </a:rPr>
                        <a:t>2,499</a:t>
                      </a:r>
                      <a:endParaRPr lang="en-US" sz="1300" dirty="0">
                        <a:latin typeface="Calibri" panose="020F0502020204030204" pitchFamily="34" charset="0"/>
                        <a:ea typeface="IBM Plex Sans" charset="0"/>
                        <a:cs typeface="Calibri" panose="020F0502020204030204" pitchFamily="34" charset="0"/>
                      </a:endParaRPr>
                    </a:p>
                  </a:txBody>
                  <a:tcPr marL="63500" marR="63500" marT="38100" marB="38100" anchor="ctr">
                    <a:lnL w="12700" cap="flat" cmpd="sng" algn="ctr">
                      <a:solidFill>
                        <a:srgbClr val="C7C8CC"/>
                      </a:solidFill>
                      <a:prstDash val="solid"/>
                      <a:round/>
                      <a:headEnd type="none" w="med" len="med"/>
                      <a:tailEnd type="none" w="med" len="med"/>
                    </a:lnL>
                    <a:lnR w="12700" cap="flat" cmpd="sng" algn="ctr">
                      <a:solidFill>
                        <a:srgbClr val="C7C8CC"/>
                      </a:solidFill>
                      <a:prstDash val="solid"/>
                      <a:round/>
                      <a:headEnd type="none" w="med" len="med"/>
                      <a:tailEnd type="none" w="med" len="med"/>
                    </a:lnR>
                    <a:lnT w="12700" cap="flat" cmpd="sng" algn="ctr">
                      <a:solidFill>
                        <a:srgbClr val="C7C8CC"/>
                      </a:solidFill>
                      <a:prstDash val="solid"/>
                      <a:round/>
                      <a:headEnd type="none" w="med" len="med"/>
                      <a:tailEnd type="none" w="med" len="med"/>
                    </a:lnT>
                    <a:lnB w="12700" cap="flat" cmpd="sng" algn="ctr">
                      <a:solidFill>
                        <a:srgbClr val="C7C8CC"/>
                      </a:solidFill>
                      <a:prstDash val="solid"/>
                      <a:round/>
                      <a:headEnd type="none" w="med" len="med"/>
                      <a:tailEnd type="none" w="med" len="med"/>
                    </a:lnB>
                    <a:solidFill>
                      <a:schemeClr val="bg1"/>
                    </a:solidFill>
                  </a:tcPr>
                </a:tc>
                <a:tc>
                  <a:txBody>
                    <a:bodyPr/>
                    <a:lstStyle/>
                    <a:p>
                      <a:pPr marL="0" indent="0" algn="ctr">
                        <a:lnSpc>
                          <a:spcPts val="1820"/>
                        </a:lnSpc>
                        <a:buNone/>
                      </a:pPr>
                      <a:r>
                        <a:rPr lang="en-US" sz="1300" dirty="0">
                          <a:solidFill>
                            <a:srgbClr val="1F2A44"/>
                          </a:solidFill>
                          <a:latin typeface="Calibri" panose="020F0502020204030204" pitchFamily="34" charset="0"/>
                          <a:ea typeface="IBM Plex Sans" pitchFamily="34" charset="-122"/>
                          <a:cs typeface="Calibri" panose="020F0502020204030204" pitchFamily="34" charset="0"/>
                        </a:rPr>
                        <a:t>624</a:t>
                      </a:r>
                      <a:endParaRPr lang="en-US" sz="1300" dirty="0">
                        <a:latin typeface="Calibri" panose="020F0502020204030204" pitchFamily="34" charset="0"/>
                        <a:ea typeface="IBM Plex Sans" charset="0"/>
                        <a:cs typeface="Calibri" panose="020F0502020204030204" pitchFamily="34" charset="0"/>
                      </a:endParaRPr>
                    </a:p>
                  </a:txBody>
                  <a:tcPr marL="63500" marR="63500" marT="38100" marB="38100" anchor="ctr">
                    <a:lnL w="12700" cap="flat" cmpd="sng" algn="ctr">
                      <a:solidFill>
                        <a:srgbClr val="C7C8CC"/>
                      </a:solidFill>
                      <a:prstDash val="solid"/>
                      <a:round/>
                      <a:headEnd type="none" w="med" len="med"/>
                      <a:tailEnd type="none" w="med" len="med"/>
                    </a:lnL>
                    <a:lnR w="12700" cap="flat" cmpd="sng" algn="ctr">
                      <a:solidFill>
                        <a:srgbClr val="C7C8CC"/>
                      </a:solidFill>
                      <a:prstDash val="solid"/>
                      <a:round/>
                      <a:headEnd type="none" w="med" len="med"/>
                      <a:tailEnd type="none" w="med" len="med"/>
                    </a:lnR>
                    <a:lnT w="12700" cap="flat" cmpd="sng" algn="ctr">
                      <a:solidFill>
                        <a:srgbClr val="C7C8CC"/>
                      </a:solidFill>
                      <a:prstDash val="solid"/>
                      <a:round/>
                      <a:headEnd type="none" w="med" len="med"/>
                      <a:tailEnd type="none" w="med" len="med"/>
                    </a:lnT>
                    <a:lnB w="12700" cap="flat" cmpd="sng" algn="ctr">
                      <a:solidFill>
                        <a:srgbClr val="C7C8CC"/>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17500">
                <a:tc>
                  <a:txBody>
                    <a:bodyPr/>
                    <a:lstStyle/>
                    <a:p>
                      <a:pPr marL="0" indent="0">
                        <a:lnSpc>
                          <a:spcPts val="1820"/>
                        </a:lnSpc>
                        <a:buNone/>
                      </a:pPr>
                      <a:r>
                        <a:rPr lang="en-US" sz="1300" b="1" dirty="0">
                          <a:solidFill>
                            <a:srgbClr val="1F2A44"/>
                          </a:solidFill>
                          <a:latin typeface="Calibri" panose="020F0502020204030204" pitchFamily="34" charset="0"/>
                          <a:ea typeface="IBM Plex Sans" pitchFamily="34" charset="-122"/>
                          <a:cs typeface="Calibri" panose="020F0502020204030204" pitchFamily="34" charset="0"/>
                        </a:rPr>
                        <a:t>Total</a:t>
                      </a:r>
                      <a:endParaRPr lang="en-US" sz="1300" b="1" dirty="0">
                        <a:latin typeface="Calibri" panose="020F0502020204030204" pitchFamily="34" charset="0"/>
                        <a:ea typeface="IBM Plex Sans" charset="0"/>
                        <a:cs typeface="Calibri" panose="020F0502020204030204" pitchFamily="34" charset="0"/>
                      </a:endParaRPr>
                    </a:p>
                  </a:txBody>
                  <a:tcPr marL="63500" marR="63500" marT="38100" marB="38100" anchor="ctr">
                    <a:lnL w="12700" cap="flat" cmpd="sng" algn="ctr">
                      <a:solidFill>
                        <a:srgbClr val="C7C8CC"/>
                      </a:solidFill>
                      <a:prstDash val="solid"/>
                      <a:round/>
                      <a:headEnd type="none" w="med" len="med"/>
                      <a:tailEnd type="none" w="med" len="med"/>
                    </a:lnL>
                    <a:lnR w="12700" cap="flat" cmpd="sng" algn="ctr">
                      <a:solidFill>
                        <a:srgbClr val="C7C8CC"/>
                      </a:solidFill>
                      <a:prstDash val="solid"/>
                      <a:round/>
                      <a:headEnd type="none" w="med" len="med"/>
                      <a:tailEnd type="none" w="med" len="med"/>
                    </a:lnR>
                    <a:lnT w="12700" cap="flat" cmpd="sng" algn="ctr">
                      <a:solidFill>
                        <a:srgbClr val="C7C8CC"/>
                      </a:solidFill>
                      <a:prstDash val="solid"/>
                      <a:round/>
                      <a:headEnd type="none" w="med" len="med"/>
                      <a:tailEnd type="none" w="med" len="med"/>
                    </a:lnT>
                    <a:lnB w="12700" cap="flat" cmpd="sng" algn="ctr">
                      <a:solidFill>
                        <a:srgbClr val="C7C8CC"/>
                      </a:solidFill>
                      <a:prstDash val="solid"/>
                      <a:round/>
                      <a:headEnd type="none" w="med" len="med"/>
                      <a:tailEnd type="none" w="med" len="med"/>
                    </a:lnB>
                    <a:solidFill>
                      <a:schemeClr val="bg1"/>
                    </a:solidFill>
                  </a:tcPr>
                </a:tc>
                <a:tc>
                  <a:txBody>
                    <a:bodyPr/>
                    <a:lstStyle/>
                    <a:p>
                      <a:pPr marL="0" indent="0" algn="ctr">
                        <a:lnSpc>
                          <a:spcPts val="1820"/>
                        </a:lnSpc>
                        <a:buNone/>
                      </a:pPr>
                      <a:r>
                        <a:rPr lang="en-US" sz="1300" dirty="0">
                          <a:solidFill>
                            <a:srgbClr val="1F2A44"/>
                          </a:solidFill>
                          <a:latin typeface="Calibri" panose="020F0502020204030204" pitchFamily="34" charset="0"/>
                          <a:ea typeface="IBM Plex Sans" pitchFamily="34" charset="-122"/>
                          <a:cs typeface="Calibri" panose="020F0502020204030204" pitchFamily="34" charset="0"/>
                        </a:rPr>
                        <a:t>9,957</a:t>
                      </a:r>
                      <a:endParaRPr lang="en-US" sz="1300" dirty="0">
                        <a:latin typeface="Calibri" panose="020F0502020204030204" pitchFamily="34" charset="0"/>
                        <a:ea typeface="IBM Plex Sans" charset="0"/>
                        <a:cs typeface="Calibri" panose="020F0502020204030204" pitchFamily="34" charset="0"/>
                      </a:endParaRPr>
                    </a:p>
                  </a:txBody>
                  <a:tcPr marL="63500" marR="63500" marT="38100" marB="38100" anchor="ctr">
                    <a:lnL w="12700" cap="flat" cmpd="sng" algn="ctr">
                      <a:solidFill>
                        <a:srgbClr val="C7C8CC"/>
                      </a:solidFill>
                      <a:prstDash val="solid"/>
                      <a:round/>
                      <a:headEnd type="none" w="med" len="med"/>
                      <a:tailEnd type="none" w="med" len="med"/>
                    </a:lnL>
                    <a:lnR w="12700" cap="flat" cmpd="sng" algn="ctr">
                      <a:solidFill>
                        <a:srgbClr val="C7C8CC"/>
                      </a:solidFill>
                      <a:prstDash val="solid"/>
                      <a:round/>
                      <a:headEnd type="none" w="med" len="med"/>
                      <a:tailEnd type="none" w="med" len="med"/>
                    </a:lnR>
                    <a:lnT w="12700" cap="flat" cmpd="sng" algn="ctr">
                      <a:solidFill>
                        <a:srgbClr val="C7C8CC"/>
                      </a:solidFill>
                      <a:prstDash val="solid"/>
                      <a:round/>
                      <a:headEnd type="none" w="med" len="med"/>
                      <a:tailEnd type="none" w="med" len="med"/>
                    </a:lnT>
                    <a:lnB w="12700" cap="flat" cmpd="sng" algn="ctr">
                      <a:solidFill>
                        <a:srgbClr val="C7C8CC"/>
                      </a:solidFill>
                      <a:prstDash val="solid"/>
                      <a:round/>
                      <a:headEnd type="none" w="med" len="med"/>
                      <a:tailEnd type="none" w="med" len="med"/>
                    </a:lnB>
                    <a:solidFill>
                      <a:schemeClr val="bg1"/>
                    </a:solidFill>
                  </a:tcPr>
                </a:tc>
                <a:tc>
                  <a:txBody>
                    <a:bodyPr/>
                    <a:lstStyle/>
                    <a:p>
                      <a:pPr marL="0" indent="0" algn="ctr">
                        <a:lnSpc>
                          <a:spcPts val="1820"/>
                        </a:lnSpc>
                        <a:buNone/>
                      </a:pPr>
                      <a:r>
                        <a:rPr lang="en-US" sz="1300" dirty="0">
                          <a:solidFill>
                            <a:srgbClr val="1F2A44"/>
                          </a:solidFill>
                          <a:latin typeface="Calibri" panose="020F0502020204030204" pitchFamily="34" charset="0"/>
                          <a:ea typeface="IBM Plex Sans" pitchFamily="34" charset="-122"/>
                          <a:cs typeface="Calibri" panose="020F0502020204030204" pitchFamily="34" charset="0"/>
                        </a:rPr>
                        <a:t>2,487</a:t>
                      </a:r>
                      <a:endParaRPr lang="en-US" sz="1300" dirty="0">
                        <a:latin typeface="Calibri" panose="020F0502020204030204" pitchFamily="34" charset="0"/>
                        <a:ea typeface="IBM Plex Sans" charset="0"/>
                        <a:cs typeface="Calibri" panose="020F0502020204030204" pitchFamily="34" charset="0"/>
                      </a:endParaRPr>
                    </a:p>
                  </a:txBody>
                  <a:tcPr marL="63500" marR="63500" marT="38100" marB="38100" anchor="ctr">
                    <a:lnL w="12700" cap="flat" cmpd="sng" algn="ctr">
                      <a:solidFill>
                        <a:srgbClr val="C7C8CC"/>
                      </a:solidFill>
                      <a:prstDash val="solid"/>
                      <a:round/>
                      <a:headEnd type="none" w="med" len="med"/>
                      <a:tailEnd type="none" w="med" len="med"/>
                    </a:lnL>
                    <a:lnR w="12700" cap="flat" cmpd="sng" algn="ctr">
                      <a:solidFill>
                        <a:srgbClr val="C7C8CC"/>
                      </a:solidFill>
                      <a:prstDash val="solid"/>
                      <a:round/>
                      <a:headEnd type="none" w="med" len="med"/>
                      <a:tailEnd type="none" w="med" len="med"/>
                    </a:lnR>
                    <a:lnT w="12700" cap="flat" cmpd="sng" algn="ctr">
                      <a:solidFill>
                        <a:srgbClr val="C7C8CC"/>
                      </a:solidFill>
                      <a:prstDash val="solid"/>
                      <a:round/>
                      <a:headEnd type="none" w="med" len="med"/>
                      <a:tailEnd type="none" w="med" len="med"/>
                    </a:lnT>
                    <a:lnB w="12700" cap="flat" cmpd="sng" algn="ctr">
                      <a:solidFill>
                        <a:srgbClr val="C7C8CC"/>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p:sp>
        <p:nvSpPr>
          <p:cNvPr id="4" name="Text 1"/>
          <p:cNvSpPr/>
          <p:nvPr/>
        </p:nvSpPr>
        <p:spPr>
          <a:xfrm>
            <a:off x="621880" y="3928112"/>
            <a:ext cx="5138057" cy="414867"/>
          </a:xfrm>
          <a:prstGeom prst="rect">
            <a:avLst/>
          </a:prstGeom>
          <a:noFill/>
          <a:ln/>
        </p:spPr>
        <p:txBody>
          <a:bodyPr wrap="square" lIns="0" tIns="0" rIns="0" bIns="0" rtlCol="0" anchor="t">
            <a:normAutofit fontScale="85000" lnSpcReduction="10000"/>
          </a:bodyPr>
          <a:lstStyle/>
          <a:p>
            <a:pPr marL="0" indent="0" algn="l">
              <a:lnSpc>
                <a:spcPts val="1540"/>
              </a:lnSpc>
              <a:buNone/>
            </a:pPr>
            <a:r>
              <a:rPr lang="en-US" sz="1600" dirty="0">
                <a:latin typeface="Calibri" panose="020F0502020204030204" pitchFamily="34" charset="0"/>
                <a:ea typeface="IBM Plex Sans" pitchFamily="34" charset="-122"/>
                <a:cs typeface="Calibri" panose="020F0502020204030204" pitchFamily="34" charset="0"/>
              </a:rPr>
              <a:t>Kaggle, paultimothymooney/blood-cells, MIT license. Balanced classes (~25% each). 320×240 RGB JPEG throughout; 0 of 12,444 files corrupt.</a:t>
            </a:r>
            <a:endParaRPr lang="en-US" sz="1600" dirty="0">
              <a:latin typeface="Calibri" panose="020F0502020204030204" pitchFamily="34" charset="0"/>
              <a:cs typeface="Calibri" panose="020F0502020204030204" pitchFamily="34" charset="0"/>
            </a:endParaRPr>
          </a:p>
        </p:txBody>
      </p:sp>
      <p:sp>
        <p:nvSpPr>
          <p:cNvPr id="5" name="Shape 2"/>
          <p:cNvSpPr/>
          <p:nvPr/>
        </p:nvSpPr>
        <p:spPr>
          <a:xfrm>
            <a:off x="621880" y="4592098"/>
            <a:ext cx="5138057" cy="1196509"/>
          </a:xfrm>
          <a:prstGeom prst="roundRect">
            <a:avLst>
              <a:gd name="adj" fmla="val 8351"/>
            </a:avLst>
          </a:prstGeom>
          <a:solidFill>
            <a:schemeClr val="bg1"/>
          </a:solidFill>
          <a:ln w="6350">
            <a:solidFill>
              <a:srgbClr val="E3DEE9"/>
            </a:solidFill>
            <a:prstDash val="solid"/>
          </a:ln>
        </p:spPr>
        <p:txBody>
          <a:bodyPr anchor="ctr"/>
          <a:lstStyle/>
          <a:p>
            <a:pPr>
              <a:lnSpc>
                <a:spcPts val="1800"/>
              </a:lnSpc>
            </a:pPr>
            <a:r>
              <a:rPr lang="en-US" sz="1600" b="1" dirty="0">
                <a:solidFill>
                  <a:srgbClr val="4B206B"/>
                </a:solidFill>
                <a:latin typeface="Calibri" panose="020F0502020204030204" pitchFamily="34" charset="0"/>
                <a:ea typeface="EB Garamond" pitchFamily="34" charset="-122"/>
                <a:cs typeface="Calibri" panose="020F0502020204030204" pitchFamily="34" charset="0"/>
              </a:rPr>
              <a:t>Implemented pipeline</a:t>
            </a:r>
          </a:p>
          <a:p>
            <a:pPr>
              <a:lnSpc>
                <a:spcPts val="1800"/>
              </a:lnSpc>
            </a:pPr>
            <a:r>
              <a:rPr lang="en-US" sz="1600" dirty="0">
                <a:solidFill>
                  <a:srgbClr val="1F2A44"/>
                </a:solidFill>
                <a:latin typeface="Calibri" panose="020F0502020204030204" pitchFamily="34" charset="0"/>
                <a:ea typeface="IBM Plex Sans" pitchFamily="34" charset="-122"/>
                <a:cs typeface="Calibri" panose="020F0502020204030204" pitchFamily="34" charset="0"/>
              </a:rPr>
              <a:t>Load → verify (0 corrupt) → resize to 224×224 → normalize (ImageNet mean/std) → light augmentation on training images only (flip, ±10° rotation, mild color jitter).</a:t>
            </a:r>
            <a:endParaRPr lang="en-US" sz="1600" dirty="0">
              <a:latin typeface="Calibri" panose="020F0502020204030204" pitchFamily="34" charset="0"/>
              <a:cs typeface="Calibri" panose="020F0502020204030204" pitchFamily="34" charset="0"/>
            </a:endParaRPr>
          </a:p>
        </p:txBody>
      </p:sp>
      <p:pic>
        <p:nvPicPr>
          <p:cNvPr id="8" name="Image 0" descr="Four random training images for each of the four cell classes"/>
          <p:cNvPicPr>
            <a:picLocks noChangeAspect="1"/>
          </p:cNvPicPr>
          <p:nvPr/>
        </p:nvPicPr>
        <p:blipFill>
          <a:blip r:embed="rId3"/>
          <a:srcRect/>
          <a:stretch/>
        </p:blipFill>
        <p:spPr>
          <a:xfrm>
            <a:off x="6470960" y="558767"/>
            <a:ext cx="5057668" cy="5149626"/>
          </a:xfrm>
          <a:prstGeom prst="roundRect">
            <a:avLst>
              <a:gd name="adj" fmla="val 1818"/>
            </a:avLst>
          </a:prstGeom>
        </p:spPr>
      </p:pic>
      <p:sp>
        <p:nvSpPr>
          <p:cNvPr id="9" name="Text 5"/>
          <p:cNvSpPr/>
          <p:nvPr/>
        </p:nvSpPr>
        <p:spPr>
          <a:xfrm>
            <a:off x="6841429" y="5843155"/>
            <a:ext cx="4316730" cy="220133"/>
          </a:xfrm>
          <a:prstGeom prst="rect">
            <a:avLst/>
          </a:prstGeom>
          <a:noFill/>
          <a:ln/>
        </p:spPr>
        <p:txBody>
          <a:bodyPr wrap="square" lIns="0" tIns="0" rIns="0" bIns="0" rtlCol="0" anchor="t">
            <a:normAutofit/>
          </a:bodyPr>
          <a:lstStyle/>
          <a:p>
            <a:pPr marL="0" indent="0" algn="ctr">
              <a:lnSpc>
                <a:spcPts val="1540"/>
              </a:lnSpc>
              <a:buNone/>
            </a:pPr>
            <a:r>
              <a:rPr lang="en-US" sz="1100" b="1" i="1" dirty="0">
                <a:latin typeface="Calibri" panose="020F0502020204030204" pitchFamily="34" charset="0"/>
                <a:ea typeface="IBM Plex Sans" pitchFamily="34" charset="-122"/>
                <a:cs typeface="Calibri" panose="020F0502020204030204" pitchFamily="34" charset="0"/>
              </a:rPr>
              <a:t>Random training images, one row per class.</a:t>
            </a:r>
            <a:endParaRPr lang="en-US" sz="1100" b="1" i="1" dirty="0">
              <a:latin typeface="Calibri" panose="020F0502020204030204" pitchFamily="34" charset="0"/>
              <a:cs typeface="Calibri" panose="020F0502020204030204" pitchFamily="34" charset="0"/>
            </a:endParaRPr>
          </a:p>
        </p:txBody>
      </p:sp>
      <p:sp>
        <p:nvSpPr>
          <p:cNvPr id="12" name="Text 16">
            <a:extLst>
              <a:ext uri="{FF2B5EF4-FFF2-40B4-BE49-F238E27FC236}">
                <a16:creationId xmlns:a16="http://schemas.microsoft.com/office/drawing/2014/main" id="{E67DA7B2-455C-FD3F-47BB-439F842F3CC8}"/>
              </a:ext>
            </a:extLst>
          </p:cNvPr>
          <p:cNvSpPr/>
          <p:nvPr/>
        </p:nvSpPr>
        <p:spPr>
          <a:xfrm>
            <a:off x="10931309" y="6408137"/>
            <a:ext cx="597319" cy="220133"/>
          </a:xfrm>
          <a:prstGeom prst="rect">
            <a:avLst/>
          </a:prstGeom>
          <a:noFill/>
          <a:ln/>
        </p:spPr>
        <p:txBody>
          <a:bodyPr wrap="square" lIns="0" tIns="0" rIns="0" bIns="0" rtlCol="0" anchor="ctr">
            <a:normAutofit/>
          </a:bodyPr>
          <a:lstStyle/>
          <a:p>
            <a:pPr marL="0" indent="0" algn="ctr">
              <a:lnSpc>
                <a:spcPts val="1540"/>
              </a:lnSpc>
              <a:buNone/>
            </a:pPr>
            <a:r>
              <a:rPr lang="en-US" sz="1100" b="1" dirty="0">
                <a:latin typeface="Calibri" panose="020F0502020204030204" pitchFamily="34" charset="0"/>
                <a:cs typeface="Calibri" panose="020F0502020204030204" pitchFamily="34" charset="0"/>
              </a:rPr>
              <a:t>Slide 3</a:t>
            </a:r>
          </a:p>
        </p:txBody>
      </p:sp>
      <p:sp>
        <p:nvSpPr>
          <p:cNvPr id="7" name="Text 15">
            <a:extLst>
              <a:ext uri="{FF2B5EF4-FFF2-40B4-BE49-F238E27FC236}">
                <a16:creationId xmlns:a16="http://schemas.microsoft.com/office/drawing/2014/main" id="{271697CE-4456-FD4A-CCEF-F938DB6D7D8C}"/>
              </a:ext>
            </a:extLst>
          </p:cNvPr>
          <p:cNvSpPr/>
          <p:nvPr/>
        </p:nvSpPr>
        <p:spPr>
          <a:xfrm>
            <a:off x="601785" y="6405034"/>
            <a:ext cx="3779297" cy="220133"/>
          </a:xfrm>
          <a:prstGeom prst="rect">
            <a:avLst/>
          </a:prstGeom>
          <a:noFill/>
          <a:ln/>
        </p:spPr>
        <p:txBody>
          <a:bodyPr wrap="square" lIns="0" tIns="0" rIns="0" bIns="0" rtlCol="0" anchor="t">
            <a:normAutofit/>
          </a:bodyPr>
          <a:lstStyle/>
          <a:p>
            <a:pPr marL="0" indent="0" algn="ctr">
              <a:lnSpc>
                <a:spcPts val="1540"/>
              </a:lnSpc>
              <a:buNone/>
            </a:pPr>
            <a:r>
              <a:rPr lang="en-US" sz="900" dirty="0">
                <a:ea typeface="IBM Plex Sans" pitchFamily="34" charset="-122"/>
                <a:cs typeface="IBM Plex Sans" pitchFamily="34" charset="-120"/>
              </a:rPr>
              <a:t>White blood cell classification – CSCI 7090 – Group 4</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9">
    <p:bg>
      <p:bgPr>
        <a:solidFill>
          <a:srgbClr val="FCFCF6"/>
        </a:solidFill>
        <a:effectLst/>
      </p:bgPr>
    </p:bg>
    <p:spTree>
      <p:nvGrpSpPr>
        <p:cNvPr id="1" name=""/>
        <p:cNvGrpSpPr/>
        <p:nvPr/>
      </p:nvGrpSpPr>
      <p:grpSpPr>
        <a:xfrm>
          <a:off x="0" y="0"/>
          <a:ext cx="0" cy="0"/>
          <a:chOff x="0" y="0"/>
          <a:chExt cx="0" cy="0"/>
        </a:xfrm>
      </p:grpSpPr>
      <p:sp>
        <p:nvSpPr>
          <p:cNvPr id="2" name="Text 0"/>
          <p:cNvSpPr/>
          <p:nvPr/>
        </p:nvSpPr>
        <p:spPr>
          <a:xfrm>
            <a:off x="1029331" y="421938"/>
            <a:ext cx="10133338" cy="625323"/>
          </a:xfrm>
          <a:prstGeom prst="rect">
            <a:avLst/>
          </a:prstGeom>
          <a:noFill/>
          <a:ln/>
        </p:spPr>
        <p:txBody>
          <a:bodyPr wrap="square" lIns="0" tIns="0" rIns="0" bIns="0" rtlCol="0" anchor="ctr">
            <a:noAutofit/>
          </a:bodyPr>
          <a:lstStyle/>
          <a:p>
            <a:pPr marL="0" indent="0" algn="ctr">
              <a:lnSpc>
                <a:spcPts val="3300"/>
              </a:lnSpc>
              <a:buNone/>
            </a:pPr>
            <a:r>
              <a:rPr lang="en-US" sz="4000" b="1" dirty="0">
                <a:solidFill>
                  <a:srgbClr val="4B206B"/>
                </a:solidFill>
                <a:latin typeface="Calibri" panose="020F0502020204030204" pitchFamily="34" charset="0"/>
                <a:ea typeface="EB Garamond" pitchFamily="34" charset="-122"/>
                <a:cs typeface="Calibri" panose="020F0502020204030204" pitchFamily="34" charset="0"/>
              </a:rPr>
              <a:t>Every preprocessing choice, backed by evidence</a:t>
            </a:r>
            <a:endParaRPr lang="en-US" sz="4000" b="1" dirty="0">
              <a:solidFill>
                <a:srgbClr val="4B206B"/>
              </a:solidFill>
              <a:latin typeface="Calibri" panose="020F0502020204030204" pitchFamily="34" charset="0"/>
              <a:cs typeface="Calibri" panose="020F0502020204030204" pitchFamily="34" charset="0"/>
            </a:endParaRPr>
          </a:p>
        </p:txBody>
      </p:sp>
      <p:pic>
        <p:nvPicPr>
          <p:cNvPr id="3" name="Image 0" descr="Original 320 by 240 training image, cropped to a square for display"/>
          <p:cNvPicPr>
            <a:picLocks noChangeAspect="1"/>
          </p:cNvPicPr>
          <p:nvPr/>
        </p:nvPicPr>
        <p:blipFill>
          <a:blip r:embed="rId3"/>
          <a:srcRect/>
          <a:stretch/>
        </p:blipFill>
        <p:spPr>
          <a:xfrm>
            <a:off x="1993624" y="1313711"/>
            <a:ext cx="1907509" cy="1907509"/>
          </a:xfrm>
          <a:prstGeom prst="roundRect">
            <a:avLst>
              <a:gd name="adj" fmla="val 4348"/>
            </a:avLst>
          </a:prstGeom>
        </p:spPr>
      </p:pic>
      <p:sp>
        <p:nvSpPr>
          <p:cNvPr id="4" name="Text 1"/>
          <p:cNvSpPr/>
          <p:nvPr/>
        </p:nvSpPr>
        <p:spPr>
          <a:xfrm>
            <a:off x="2191728" y="3470644"/>
            <a:ext cx="1511300" cy="203200"/>
          </a:xfrm>
          <a:prstGeom prst="rect">
            <a:avLst/>
          </a:prstGeom>
          <a:noFill/>
          <a:ln/>
        </p:spPr>
        <p:txBody>
          <a:bodyPr wrap="square" lIns="0" tIns="0" rIns="0" bIns="0" rtlCol="0" anchor="ctr">
            <a:normAutofit/>
          </a:bodyPr>
          <a:lstStyle/>
          <a:p>
            <a:pPr marL="0" indent="0" algn="ctr">
              <a:lnSpc>
                <a:spcPts val="1400"/>
              </a:lnSpc>
              <a:buNone/>
            </a:pPr>
            <a:r>
              <a:rPr lang="en-US" sz="1100" b="1" dirty="0">
                <a:latin typeface="Calibri" panose="020F0502020204030204" pitchFamily="34" charset="0"/>
                <a:ea typeface="IBM Plex Sans" pitchFamily="34" charset="-122"/>
                <a:cs typeface="Calibri" panose="020F0502020204030204" pitchFamily="34" charset="0"/>
              </a:rPr>
              <a:t>1. Original (320x240)</a:t>
            </a:r>
            <a:endParaRPr lang="en-US" sz="1100" b="1" dirty="0">
              <a:latin typeface="Calibri" panose="020F0502020204030204" pitchFamily="34" charset="0"/>
              <a:cs typeface="Calibri" panose="020F0502020204030204" pitchFamily="34" charset="0"/>
            </a:endParaRPr>
          </a:p>
        </p:txBody>
      </p:sp>
      <p:pic>
        <p:nvPicPr>
          <p:cNvPr id="6" name="Image 1" descr="Resized to 224 by 224 pixels, bilinear interpolation"/>
          <p:cNvPicPr>
            <a:picLocks noChangeAspect="1"/>
          </p:cNvPicPr>
          <p:nvPr/>
        </p:nvPicPr>
        <p:blipFill>
          <a:blip r:embed="rId3"/>
          <a:srcRect/>
          <a:stretch/>
        </p:blipFill>
        <p:spPr>
          <a:xfrm>
            <a:off x="5142245" y="1313711"/>
            <a:ext cx="1907510" cy="1907510"/>
          </a:xfrm>
          <a:prstGeom prst="roundRect">
            <a:avLst>
              <a:gd name="adj" fmla="val 4348"/>
            </a:avLst>
          </a:prstGeom>
        </p:spPr>
      </p:pic>
      <p:sp>
        <p:nvSpPr>
          <p:cNvPr id="7" name="Text 3"/>
          <p:cNvSpPr/>
          <p:nvPr/>
        </p:nvSpPr>
        <p:spPr>
          <a:xfrm>
            <a:off x="5340350" y="3470644"/>
            <a:ext cx="1511300" cy="203200"/>
          </a:xfrm>
          <a:prstGeom prst="rect">
            <a:avLst/>
          </a:prstGeom>
          <a:noFill/>
          <a:ln/>
        </p:spPr>
        <p:txBody>
          <a:bodyPr wrap="square" lIns="0" tIns="0" rIns="0" bIns="0" rtlCol="0" anchor="ctr">
            <a:normAutofit/>
          </a:bodyPr>
          <a:lstStyle/>
          <a:p>
            <a:pPr marL="0" indent="0" algn="ctr">
              <a:lnSpc>
                <a:spcPts val="1400"/>
              </a:lnSpc>
              <a:buNone/>
            </a:pPr>
            <a:r>
              <a:rPr lang="en-US" sz="1100" b="1" dirty="0">
                <a:latin typeface="Calibri" panose="020F0502020204030204" pitchFamily="34" charset="0"/>
                <a:ea typeface="IBM Plex Sans" pitchFamily="34" charset="-122"/>
                <a:cs typeface="Calibri" panose="020F0502020204030204" pitchFamily="34" charset="0"/>
              </a:rPr>
              <a:t>2. Resized to 224x224</a:t>
            </a:r>
            <a:endParaRPr lang="en-US" sz="1100" b="1" dirty="0">
              <a:latin typeface="Calibri" panose="020F0502020204030204" pitchFamily="34" charset="0"/>
              <a:cs typeface="Calibri" panose="020F0502020204030204" pitchFamily="34" charset="0"/>
            </a:endParaRPr>
          </a:p>
        </p:txBody>
      </p:sp>
      <p:pic>
        <p:nvPicPr>
          <p:cNvPr id="9" name="Image 2" descr="Training time augmentation applied: flip, small rotation, mild color jitter"/>
          <p:cNvPicPr>
            <a:picLocks noChangeAspect="1"/>
          </p:cNvPicPr>
          <p:nvPr/>
        </p:nvPicPr>
        <p:blipFill>
          <a:blip r:embed="rId4"/>
          <a:srcRect/>
          <a:stretch/>
        </p:blipFill>
        <p:spPr>
          <a:xfrm>
            <a:off x="8290866" y="1313711"/>
            <a:ext cx="1907510" cy="1907510"/>
          </a:xfrm>
          <a:prstGeom prst="roundRect">
            <a:avLst>
              <a:gd name="adj" fmla="val 4348"/>
            </a:avLst>
          </a:prstGeom>
        </p:spPr>
      </p:pic>
      <p:sp>
        <p:nvSpPr>
          <p:cNvPr id="10" name="Text 5"/>
          <p:cNvSpPr/>
          <p:nvPr/>
        </p:nvSpPr>
        <p:spPr>
          <a:xfrm>
            <a:off x="8290866" y="3470644"/>
            <a:ext cx="1907510" cy="203200"/>
          </a:xfrm>
          <a:prstGeom prst="rect">
            <a:avLst/>
          </a:prstGeom>
          <a:noFill/>
          <a:ln/>
        </p:spPr>
        <p:txBody>
          <a:bodyPr wrap="square" lIns="0" tIns="0" rIns="0" bIns="0" rtlCol="0" anchor="ctr">
            <a:normAutofit fontScale="92500"/>
          </a:bodyPr>
          <a:lstStyle/>
          <a:p>
            <a:pPr marL="0" indent="0" algn="ctr">
              <a:lnSpc>
                <a:spcPts val="1400"/>
              </a:lnSpc>
              <a:buNone/>
            </a:pPr>
            <a:r>
              <a:rPr lang="en-US" sz="1100" b="1" dirty="0">
                <a:latin typeface="Calibri" panose="020F0502020204030204" pitchFamily="34" charset="0"/>
                <a:ea typeface="IBM Plex Sans" pitchFamily="34" charset="-122"/>
                <a:cs typeface="Calibri" panose="020F0502020204030204" pitchFamily="34" charset="0"/>
              </a:rPr>
              <a:t>3. plus augmentation (train only)</a:t>
            </a:r>
            <a:endParaRPr lang="en-US" sz="1100" b="1" dirty="0">
              <a:latin typeface="Calibri" panose="020F0502020204030204" pitchFamily="34" charset="0"/>
              <a:cs typeface="Calibri" panose="020F0502020204030204" pitchFamily="34" charset="0"/>
            </a:endParaRPr>
          </a:p>
        </p:txBody>
      </p:sp>
      <p:sp>
        <p:nvSpPr>
          <p:cNvPr id="11" name="Shape 6"/>
          <p:cNvSpPr/>
          <p:nvPr/>
        </p:nvSpPr>
        <p:spPr>
          <a:xfrm>
            <a:off x="1597647" y="3893911"/>
            <a:ext cx="4390099" cy="1214325"/>
          </a:xfrm>
          <a:prstGeom prst="roundRect">
            <a:avLst>
              <a:gd name="adj" fmla="val 8195"/>
            </a:avLst>
          </a:prstGeom>
          <a:solidFill>
            <a:schemeClr val="bg1"/>
          </a:solidFill>
          <a:ln w="6350">
            <a:solidFill>
              <a:srgbClr val="E3DEE9"/>
            </a:solidFill>
            <a:prstDash val="solid"/>
          </a:ln>
        </p:spPr>
        <p:txBody>
          <a:bodyPr anchor="ctr"/>
          <a:lstStyle/>
          <a:p>
            <a:r>
              <a:rPr lang="en-US" sz="1200" b="1" dirty="0">
                <a:solidFill>
                  <a:srgbClr val="1F2A44"/>
                </a:solidFill>
                <a:latin typeface="Calibri" panose="020F0502020204030204" pitchFamily="34" charset="0"/>
                <a:ea typeface="IBM Plex Sans" pitchFamily="34" charset="-122"/>
                <a:cs typeface="Calibri" panose="020F0502020204030204" pitchFamily="34" charset="0"/>
              </a:rPr>
              <a:t>Why 224x224:</a:t>
            </a:r>
            <a:r>
              <a:rPr lang="en-US" sz="1200" dirty="0">
                <a:solidFill>
                  <a:srgbClr val="1F2A44"/>
                </a:solidFill>
                <a:latin typeface="Calibri" panose="020F0502020204030204" pitchFamily="34" charset="0"/>
                <a:ea typeface="IBM Plex Sans" pitchFamily="34" charset="-122"/>
                <a:cs typeface="Calibri" panose="020F0502020204030204" pitchFamily="34" charset="0"/>
              </a:rPr>
              <a:t> every one of the 12,444 images is the same 320x240; resizing to 224 exactly matches the size ResNet-50s ImageNet weights were trained on (He et al., 2016), avoiding a distribution shift between pretraining and fine-tuning.</a:t>
            </a:r>
            <a:endParaRPr lang="en-US" sz="1200" dirty="0">
              <a:latin typeface="Calibri" panose="020F0502020204030204" pitchFamily="34" charset="0"/>
              <a:cs typeface="Calibri" panose="020F0502020204030204" pitchFamily="34" charset="0"/>
            </a:endParaRPr>
          </a:p>
        </p:txBody>
      </p:sp>
      <p:sp>
        <p:nvSpPr>
          <p:cNvPr id="13" name="Shape 8"/>
          <p:cNvSpPr/>
          <p:nvPr/>
        </p:nvSpPr>
        <p:spPr>
          <a:xfrm>
            <a:off x="6204254" y="3893912"/>
            <a:ext cx="4390099" cy="1214325"/>
          </a:xfrm>
          <a:prstGeom prst="roundRect">
            <a:avLst>
              <a:gd name="adj" fmla="val 6886"/>
            </a:avLst>
          </a:prstGeom>
          <a:solidFill>
            <a:schemeClr val="bg1"/>
          </a:solidFill>
          <a:ln w="6350">
            <a:solidFill>
              <a:srgbClr val="E3DEE9"/>
            </a:solidFill>
            <a:prstDash val="solid"/>
          </a:ln>
        </p:spPr>
        <p:txBody>
          <a:bodyPr anchor="ctr"/>
          <a:lstStyle/>
          <a:p>
            <a:pPr>
              <a:lnSpc>
                <a:spcPts val="1350"/>
              </a:lnSpc>
            </a:pPr>
            <a:r>
              <a:rPr lang="en-US" sz="1200" b="1" dirty="0">
                <a:solidFill>
                  <a:srgbClr val="1F2A44"/>
                </a:solidFill>
                <a:ea typeface="IBM Plex Sans" pitchFamily="34" charset="-122"/>
                <a:cs typeface="IBM Plex Sans" pitchFamily="34" charset="-120"/>
              </a:rPr>
              <a:t>Why light, not heavy, augmentation:</a:t>
            </a:r>
            <a:r>
              <a:rPr lang="en-US" sz="1200" dirty="0">
                <a:solidFill>
                  <a:srgbClr val="1F2A44"/>
                </a:solidFill>
                <a:ea typeface="IBM Plex Sans" pitchFamily="34" charset="-122"/>
                <a:cs typeface="IBM Plex Sans" pitchFamily="34" charset="-120"/>
              </a:rPr>
              <a:t> </a:t>
            </a:r>
            <a:r>
              <a:rPr lang="en-US" sz="1200" dirty="0" err="1">
                <a:solidFill>
                  <a:srgbClr val="1F2A44"/>
                </a:solidFill>
                <a:ea typeface="IBM Plex Sans" pitchFamily="34" charset="-122"/>
                <a:cs typeface="IBM Plex Sans" pitchFamily="34" charset="-120"/>
              </a:rPr>
              <a:t>Kaggles</a:t>
            </a:r>
            <a:r>
              <a:rPr lang="en-US" sz="1200" dirty="0">
                <a:solidFill>
                  <a:srgbClr val="1F2A44"/>
                </a:solidFill>
                <a:ea typeface="IBM Plex Sans" pitchFamily="34" charset="-122"/>
                <a:cs typeface="IBM Plex Sans" pitchFamily="34" charset="-120"/>
              </a:rPr>
              <a:t> 12,444 images are already augmented from a smaller raw set. Stacking heavy transforms on top of existing augmentation is a documented way to leak near-duplicate images across splits (Shorten &amp; </a:t>
            </a:r>
            <a:r>
              <a:rPr lang="en-US" sz="1200" dirty="0" err="1">
                <a:solidFill>
                  <a:srgbClr val="1F2A44"/>
                </a:solidFill>
                <a:ea typeface="IBM Plex Sans" pitchFamily="34" charset="-122"/>
                <a:cs typeface="IBM Plex Sans" pitchFamily="34" charset="-120"/>
              </a:rPr>
              <a:t>Khoshgoftaar</a:t>
            </a:r>
            <a:r>
              <a:rPr lang="en-US" sz="1200" dirty="0">
                <a:solidFill>
                  <a:srgbClr val="1F2A44"/>
                </a:solidFill>
                <a:ea typeface="IBM Plex Sans" pitchFamily="34" charset="-122"/>
                <a:cs typeface="IBM Plex Sans" pitchFamily="34" charset="-120"/>
              </a:rPr>
              <a:t>, 2019) – confirmed by our own overlap check, next slide.</a:t>
            </a:r>
            <a:endParaRPr lang="en-US" sz="1200" dirty="0"/>
          </a:p>
        </p:txBody>
      </p:sp>
      <p:sp>
        <p:nvSpPr>
          <p:cNvPr id="15" name="Shape 10"/>
          <p:cNvSpPr/>
          <p:nvPr/>
        </p:nvSpPr>
        <p:spPr>
          <a:xfrm>
            <a:off x="1327499" y="5374686"/>
            <a:ext cx="9537002" cy="630885"/>
          </a:xfrm>
          <a:prstGeom prst="roundRect">
            <a:avLst>
              <a:gd name="adj" fmla="val 19444"/>
            </a:avLst>
          </a:prstGeom>
          <a:solidFill>
            <a:srgbClr val="4B206B"/>
          </a:solidFill>
          <a:ln/>
        </p:spPr>
        <p:txBody>
          <a:bodyPr/>
          <a:lstStyle/>
          <a:p>
            <a:r>
              <a:rPr lang="en-US" sz="1600" dirty="0">
                <a:solidFill>
                  <a:srgbClr val="F4F0FA"/>
                </a:solidFill>
                <a:latin typeface="Calibri" panose="020F0502020204030204" pitchFamily="34" charset="0"/>
                <a:ea typeface="IBM Plex Sans" pitchFamily="34" charset="-122"/>
                <a:cs typeface="Calibri" panose="020F0502020204030204" pitchFamily="34" charset="0"/>
              </a:rPr>
              <a:t>Ablat</a:t>
            </a:r>
            <a:r>
              <a:rPr lang="en-US" sz="1600" b="1" dirty="0">
                <a:solidFill>
                  <a:srgbClr val="F4F0FA"/>
                </a:solidFill>
                <a:latin typeface="Calibri" panose="020F0502020204030204" pitchFamily="34" charset="0"/>
                <a:ea typeface="IBM Plex Sans" pitchFamily="34" charset="-122"/>
                <a:cs typeface="Calibri" panose="020F0502020204030204" pitchFamily="34" charset="0"/>
              </a:rPr>
              <a:t>ion in progress: </a:t>
            </a:r>
            <a:r>
              <a:rPr lang="en-US" sz="1600" dirty="0">
                <a:solidFill>
                  <a:srgbClr val="F4F0FA"/>
                </a:solidFill>
                <a:latin typeface="Calibri" panose="020F0502020204030204" pitchFamily="34" charset="0"/>
                <a:ea typeface="IBM Plex Sans" pitchFamily="34" charset="-122"/>
                <a:cs typeface="Calibri" panose="020F0502020204030204" pitchFamily="34" charset="0"/>
              </a:rPr>
              <a:t>small-CNN runs with augmentation on vs. off, to quantify the effect directly on this dataset before the final presentation.</a:t>
            </a:r>
            <a:endParaRPr lang="en-US" sz="1600" dirty="0">
              <a:latin typeface="Calibri" panose="020F0502020204030204" pitchFamily="34" charset="0"/>
              <a:cs typeface="Calibri" panose="020F0502020204030204" pitchFamily="34" charset="0"/>
            </a:endParaRPr>
          </a:p>
          <a:p>
            <a:endParaRPr lang="en-US" sz="1600" dirty="0">
              <a:latin typeface="Calibri" panose="020F0502020204030204" pitchFamily="34" charset="0"/>
              <a:cs typeface="Calibri" panose="020F0502020204030204" pitchFamily="34" charset="0"/>
            </a:endParaRPr>
          </a:p>
        </p:txBody>
      </p:sp>
      <p:cxnSp>
        <p:nvCxnSpPr>
          <p:cNvPr id="20" name="Straight Arrow Connector 19">
            <a:extLst>
              <a:ext uri="{FF2B5EF4-FFF2-40B4-BE49-F238E27FC236}">
                <a16:creationId xmlns:a16="http://schemas.microsoft.com/office/drawing/2014/main" id="{90F980EB-1C8D-98EA-D127-4A5ED9E200A2}"/>
              </a:ext>
            </a:extLst>
          </p:cNvPr>
          <p:cNvCxnSpPr/>
          <p:nvPr/>
        </p:nvCxnSpPr>
        <p:spPr>
          <a:xfrm>
            <a:off x="4139920" y="2265677"/>
            <a:ext cx="773724" cy="0"/>
          </a:xfrm>
          <a:prstGeom prst="straightConnector1">
            <a:avLst/>
          </a:prstGeom>
          <a:ln w="44450">
            <a:solidFill>
              <a:srgbClr val="4B206B"/>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F1E2BE0B-1AB1-7C11-1182-9C70E38AE56D}"/>
              </a:ext>
            </a:extLst>
          </p:cNvPr>
          <p:cNvCxnSpPr/>
          <p:nvPr/>
        </p:nvCxnSpPr>
        <p:spPr>
          <a:xfrm>
            <a:off x="7296777" y="2265677"/>
            <a:ext cx="773724" cy="0"/>
          </a:xfrm>
          <a:prstGeom prst="straightConnector1">
            <a:avLst/>
          </a:prstGeom>
          <a:ln w="44450">
            <a:solidFill>
              <a:srgbClr val="4B206B"/>
            </a:solidFill>
            <a:tailEnd type="triangle"/>
          </a:ln>
        </p:spPr>
        <p:style>
          <a:lnRef idx="1">
            <a:schemeClr val="accent1"/>
          </a:lnRef>
          <a:fillRef idx="0">
            <a:schemeClr val="accent1"/>
          </a:fillRef>
          <a:effectRef idx="0">
            <a:schemeClr val="accent1"/>
          </a:effectRef>
          <a:fontRef idx="minor">
            <a:schemeClr val="tx1"/>
          </a:fontRef>
        </p:style>
      </p:cxnSp>
      <p:sp>
        <p:nvSpPr>
          <p:cNvPr id="23" name="Text 16">
            <a:extLst>
              <a:ext uri="{FF2B5EF4-FFF2-40B4-BE49-F238E27FC236}">
                <a16:creationId xmlns:a16="http://schemas.microsoft.com/office/drawing/2014/main" id="{0B938959-D681-2E5D-210B-7BB65F322D4B}"/>
              </a:ext>
            </a:extLst>
          </p:cNvPr>
          <p:cNvSpPr/>
          <p:nvPr/>
        </p:nvSpPr>
        <p:spPr>
          <a:xfrm>
            <a:off x="10931309" y="6408137"/>
            <a:ext cx="597319" cy="220133"/>
          </a:xfrm>
          <a:prstGeom prst="rect">
            <a:avLst/>
          </a:prstGeom>
          <a:noFill/>
          <a:ln/>
        </p:spPr>
        <p:txBody>
          <a:bodyPr wrap="square" lIns="0" tIns="0" rIns="0" bIns="0" rtlCol="0" anchor="ctr">
            <a:normAutofit/>
          </a:bodyPr>
          <a:lstStyle/>
          <a:p>
            <a:pPr marL="0" indent="0" algn="ctr">
              <a:lnSpc>
                <a:spcPts val="1540"/>
              </a:lnSpc>
              <a:buNone/>
            </a:pPr>
            <a:r>
              <a:rPr lang="en-US" sz="1100" b="1" dirty="0">
                <a:latin typeface="Calibri" panose="020F0502020204030204" pitchFamily="34" charset="0"/>
                <a:cs typeface="Calibri" panose="020F0502020204030204" pitchFamily="34" charset="0"/>
              </a:rPr>
              <a:t>Slide 4</a:t>
            </a:r>
          </a:p>
        </p:txBody>
      </p:sp>
      <p:sp>
        <p:nvSpPr>
          <p:cNvPr id="8" name="Text 15">
            <a:extLst>
              <a:ext uri="{FF2B5EF4-FFF2-40B4-BE49-F238E27FC236}">
                <a16:creationId xmlns:a16="http://schemas.microsoft.com/office/drawing/2014/main" id="{D72888A7-D1EC-35C4-0BE3-25A74D267B9A}"/>
              </a:ext>
            </a:extLst>
          </p:cNvPr>
          <p:cNvSpPr/>
          <p:nvPr/>
        </p:nvSpPr>
        <p:spPr>
          <a:xfrm>
            <a:off x="601785" y="6405034"/>
            <a:ext cx="3779297" cy="220133"/>
          </a:xfrm>
          <a:prstGeom prst="rect">
            <a:avLst/>
          </a:prstGeom>
          <a:noFill/>
          <a:ln/>
        </p:spPr>
        <p:txBody>
          <a:bodyPr wrap="square" lIns="0" tIns="0" rIns="0" bIns="0" rtlCol="0" anchor="t">
            <a:normAutofit/>
          </a:bodyPr>
          <a:lstStyle/>
          <a:p>
            <a:pPr marL="0" indent="0" algn="ctr">
              <a:lnSpc>
                <a:spcPts val="1540"/>
              </a:lnSpc>
              <a:buNone/>
            </a:pPr>
            <a:r>
              <a:rPr lang="en-US" sz="900" dirty="0">
                <a:ea typeface="IBM Plex Sans" pitchFamily="34" charset="-122"/>
                <a:cs typeface="IBM Plex Sans" pitchFamily="34" charset="-120"/>
              </a:rPr>
              <a:t>White blood cell classification – CSCI 7090 – Group 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8">
    <p:bg>
      <p:bgPr>
        <a:solidFill>
          <a:srgbClr val="FCFCF6"/>
        </a:solidFill>
        <a:effectLst/>
      </p:bgPr>
    </p:bg>
    <p:spTree>
      <p:nvGrpSpPr>
        <p:cNvPr id="1" name=""/>
        <p:cNvGrpSpPr/>
        <p:nvPr/>
      </p:nvGrpSpPr>
      <p:grpSpPr>
        <a:xfrm>
          <a:off x="0" y="0"/>
          <a:ext cx="0" cy="0"/>
          <a:chOff x="0" y="0"/>
          <a:chExt cx="0" cy="0"/>
        </a:xfrm>
      </p:grpSpPr>
      <p:sp>
        <p:nvSpPr>
          <p:cNvPr id="2" name="Text 0"/>
          <p:cNvSpPr/>
          <p:nvPr/>
        </p:nvSpPr>
        <p:spPr>
          <a:xfrm>
            <a:off x="654304" y="471595"/>
            <a:ext cx="10883392" cy="508000"/>
          </a:xfrm>
          <a:prstGeom prst="rect">
            <a:avLst/>
          </a:prstGeom>
          <a:noFill/>
          <a:ln/>
        </p:spPr>
        <p:txBody>
          <a:bodyPr wrap="square" lIns="0" tIns="0" rIns="0" bIns="0" rtlCol="0" anchor="ctr">
            <a:normAutofit/>
          </a:bodyPr>
          <a:lstStyle/>
          <a:p>
            <a:pPr marL="0" indent="0" algn="ctr">
              <a:lnSpc>
                <a:spcPts val="2970"/>
              </a:lnSpc>
              <a:buNone/>
            </a:pPr>
            <a:r>
              <a:rPr lang="en-US" sz="3600" b="1" dirty="0">
                <a:solidFill>
                  <a:srgbClr val="4B206B"/>
                </a:solidFill>
                <a:latin typeface="Calibri" panose="020F0502020204030204" pitchFamily="34" charset="0"/>
                <a:cs typeface="Calibri" panose="020F0502020204030204" pitchFamily="34" charset="0"/>
              </a:rPr>
              <a:t>Data splitting: Order matters, and we checked for leaks</a:t>
            </a:r>
          </a:p>
        </p:txBody>
      </p:sp>
      <p:sp>
        <p:nvSpPr>
          <p:cNvPr id="7" name="Shape 5"/>
          <p:cNvSpPr/>
          <p:nvPr/>
        </p:nvSpPr>
        <p:spPr>
          <a:xfrm>
            <a:off x="755904" y="3961236"/>
            <a:ext cx="5073015" cy="747183"/>
          </a:xfrm>
          <a:prstGeom prst="roundRect">
            <a:avLst>
              <a:gd name="adj" fmla="val 12825"/>
            </a:avLst>
          </a:prstGeom>
          <a:solidFill>
            <a:schemeClr val="bg1"/>
          </a:solidFill>
          <a:ln w="6350">
            <a:solidFill>
              <a:srgbClr val="E3DEE9"/>
            </a:solidFill>
            <a:prstDash val="solid"/>
          </a:ln>
        </p:spPr>
        <p:txBody>
          <a:bodyPr anchor="ctr"/>
          <a:lstStyle/>
          <a:p>
            <a:pPr>
              <a:lnSpc>
                <a:spcPts val="1418"/>
              </a:lnSpc>
            </a:pPr>
            <a:r>
              <a:rPr lang="en-US" sz="1400" b="1" dirty="0">
                <a:solidFill>
                  <a:srgbClr val="1F2A44"/>
                </a:solidFill>
                <a:latin typeface="Calibri" panose="020F0502020204030204" pitchFamily="34" charset="0"/>
                <a:ea typeface="IBM Plex Sans" pitchFamily="34" charset="-122"/>
                <a:cs typeface="Calibri" panose="020F0502020204030204" pitchFamily="34" charset="0"/>
              </a:rPr>
              <a:t>Transform order:</a:t>
            </a:r>
            <a:r>
              <a:rPr lang="en-US" sz="1400" dirty="0">
                <a:solidFill>
                  <a:srgbClr val="1F2A44"/>
                </a:solidFill>
                <a:latin typeface="Calibri" panose="020F0502020204030204" pitchFamily="34" charset="0"/>
                <a:ea typeface="IBM Plex Sans" pitchFamily="34" charset="-122"/>
                <a:cs typeface="Calibri" panose="020F0502020204030204" pitchFamily="34" charset="0"/>
              </a:rPr>
              <a:t> indices are split first, on raw file paths only; augmentation is then attached per-index, so it is applied after splitting, never before it, and only to the training indices.</a:t>
            </a:r>
            <a:endParaRPr lang="en-US" sz="1400" dirty="0">
              <a:latin typeface="Calibri" panose="020F0502020204030204" pitchFamily="34" charset="0"/>
              <a:cs typeface="Calibri" panose="020F0502020204030204" pitchFamily="34" charset="0"/>
            </a:endParaRPr>
          </a:p>
        </p:txBody>
      </p:sp>
      <p:sp>
        <p:nvSpPr>
          <p:cNvPr id="9" name="Shape 7"/>
          <p:cNvSpPr/>
          <p:nvPr/>
        </p:nvSpPr>
        <p:spPr>
          <a:xfrm>
            <a:off x="788668" y="5019885"/>
            <a:ext cx="5073015" cy="883709"/>
          </a:xfrm>
          <a:prstGeom prst="roundRect">
            <a:avLst>
              <a:gd name="adj" fmla="val 10345"/>
            </a:avLst>
          </a:prstGeom>
          <a:solidFill>
            <a:srgbClr val="EFEAF6"/>
          </a:solidFill>
          <a:ln/>
        </p:spPr>
        <p:txBody>
          <a:bodyPr anchor="ctr"/>
          <a:lstStyle/>
          <a:p>
            <a:pPr>
              <a:lnSpc>
                <a:spcPts val="1418"/>
              </a:lnSpc>
            </a:pPr>
            <a:r>
              <a:rPr lang="en-US" sz="1400" b="1" dirty="0">
                <a:solidFill>
                  <a:srgbClr val="1F2A44"/>
                </a:solidFill>
                <a:latin typeface="Calibri" panose="020F0502020204030204" pitchFamily="34" charset="0"/>
                <a:ea typeface="IBM Plex Sans" pitchFamily="34" charset="-122"/>
                <a:cs typeface="Calibri" panose="020F0502020204030204" pitchFamily="34" charset="0"/>
              </a:rPr>
              <a:t>Leakage defense:</a:t>
            </a:r>
            <a:r>
              <a:rPr lang="en-US" sz="1400" dirty="0">
                <a:solidFill>
                  <a:srgbClr val="1F2A44"/>
                </a:solidFill>
                <a:latin typeface="Calibri" panose="020F0502020204030204" pitchFamily="34" charset="0"/>
                <a:ea typeface="IBM Plex Sans" pitchFamily="34" charset="-122"/>
                <a:cs typeface="Calibri" panose="020F0502020204030204" pitchFamily="34" charset="0"/>
              </a:rPr>
              <a:t> the official test folder is opened exactly once, only by </a:t>
            </a:r>
            <a:r>
              <a:rPr lang="en-US" sz="1400" dirty="0" err="1">
                <a:solidFill>
                  <a:srgbClr val="1F2A44"/>
                </a:solidFill>
                <a:latin typeface="Calibri" panose="020F0502020204030204" pitchFamily="34" charset="0"/>
                <a:ea typeface="IBM Plex Sans" pitchFamily="34" charset="-122"/>
                <a:cs typeface="Calibri" panose="020F0502020204030204" pitchFamily="34" charset="0"/>
              </a:rPr>
              <a:t>evaluate.py</a:t>
            </a:r>
            <a:r>
              <a:rPr lang="en-US" sz="1400" dirty="0">
                <a:solidFill>
                  <a:srgbClr val="1F2A44"/>
                </a:solidFill>
                <a:latin typeface="Calibri" panose="020F0502020204030204" pitchFamily="34" charset="0"/>
                <a:ea typeface="IBM Plex Sans" pitchFamily="34" charset="-122"/>
                <a:cs typeface="Calibri" panose="020F0502020204030204" pitchFamily="34" charset="0"/>
              </a:rPr>
              <a:t>, after the model is chosen. We additionally embedded every image with an ImageNet ResNet-50 and searched for near-duplicate </a:t>
            </a:r>
            <a:r>
              <a:rPr lang="en-US" sz="1400" dirty="0" err="1">
                <a:solidFill>
                  <a:srgbClr val="1F2A44"/>
                </a:solidFill>
                <a:latin typeface="Calibri" panose="020F0502020204030204" pitchFamily="34" charset="0"/>
                <a:ea typeface="IBM Plex Sans" pitchFamily="34" charset="-122"/>
                <a:cs typeface="Calibri" panose="020F0502020204030204" pitchFamily="34" charset="0"/>
              </a:rPr>
              <a:t>neighbours</a:t>
            </a:r>
            <a:r>
              <a:rPr lang="en-US" sz="1400" dirty="0">
                <a:solidFill>
                  <a:srgbClr val="1F2A44"/>
                </a:solidFill>
                <a:latin typeface="Calibri" panose="020F0502020204030204" pitchFamily="34" charset="0"/>
                <a:ea typeface="IBM Plex Sans" pitchFamily="34" charset="-122"/>
                <a:cs typeface="Calibri" panose="020F0502020204030204" pitchFamily="34" charset="0"/>
              </a:rPr>
              <a:t> across splits.</a:t>
            </a:r>
            <a:endParaRPr lang="en-US" sz="1400" dirty="0">
              <a:latin typeface="Calibri" panose="020F0502020204030204" pitchFamily="34" charset="0"/>
              <a:cs typeface="Calibri" panose="020F0502020204030204" pitchFamily="34" charset="0"/>
            </a:endParaRPr>
          </a:p>
        </p:txBody>
      </p:sp>
      <p:pic>
        <p:nvPicPr>
          <p:cNvPr id="15" name="Image 0" descr="Three test images beside the most similar training image, similarity 0.954 to 0.956, no near identical pairs found"/>
          <p:cNvPicPr>
            <a:picLocks noChangeAspect="1"/>
          </p:cNvPicPr>
          <p:nvPr/>
        </p:nvPicPr>
        <p:blipFill>
          <a:blip r:embed="rId3"/>
          <a:srcRect t="28223" b="28223"/>
          <a:stretch/>
        </p:blipFill>
        <p:spPr>
          <a:xfrm>
            <a:off x="6441021" y="2591121"/>
            <a:ext cx="5060734" cy="2530367"/>
          </a:xfrm>
          <a:prstGeom prst="roundRect">
            <a:avLst>
              <a:gd name="adj" fmla="val 3636"/>
            </a:avLst>
          </a:prstGeom>
        </p:spPr>
      </p:pic>
      <p:sp>
        <p:nvSpPr>
          <p:cNvPr id="16" name="Text 13"/>
          <p:cNvSpPr/>
          <p:nvPr/>
        </p:nvSpPr>
        <p:spPr>
          <a:xfrm>
            <a:off x="6642843" y="5300143"/>
            <a:ext cx="4657090" cy="736600"/>
          </a:xfrm>
          <a:prstGeom prst="rect">
            <a:avLst/>
          </a:prstGeom>
          <a:noFill/>
          <a:ln/>
        </p:spPr>
        <p:txBody>
          <a:bodyPr wrap="square" lIns="0" tIns="0" rIns="0" bIns="0" rtlCol="0" anchor="ctr">
            <a:normAutofit/>
          </a:bodyPr>
          <a:lstStyle/>
          <a:p>
            <a:pPr marL="0" indent="0" algn="l">
              <a:lnSpc>
                <a:spcPts val="1400"/>
              </a:lnSpc>
              <a:buNone/>
            </a:pPr>
            <a:r>
              <a:rPr lang="en-US" sz="1100" dirty="0">
                <a:latin typeface="Calibri" panose="020F0502020204030204" pitchFamily="34" charset="0"/>
                <a:ea typeface="IBM Plex Sans" pitchFamily="34" charset="-122"/>
                <a:cs typeface="Calibri" panose="020F0502020204030204" pitchFamily="34" charset="0"/>
              </a:rPr>
              <a:t>Most similar test versus train pairs found by the search. No near-identical pair (max 0.956); the risk is pre-existing in Kaggles augmented set, not introduced by our split, and it affects validation more than the sealed test set.</a:t>
            </a:r>
            <a:endParaRPr lang="en-US" sz="1100" dirty="0">
              <a:latin typeface="Calibri" panose="020F0502020204030204" pitchFamily="34" charset="0"/>
              <a:cs typeface="Calibri" panose="020F0502020204030204" pitchFamily="34" charset="0"/>
            </a:endParaRPr>
          </a:p>
        </p:txBody>
      </p:sp>
      <p:sp>
        <p:nvSpPr>
          <p:cNvPr id="19" name="Shape 5">
            <a:extLst>
              <a:ext uri="{FF2B5EF4-FFF2-40B4-BE49-F238E27FC236}">
                <a16:creationId xmlns:a16="http://schemas.microsoft.com/office/drawing/2014/main" id="{B7BB4C5E-64C7-1B6D-E870-9614CCF51CF2}"/>
              </a:ext>
            </a:extLst>
          </p:cNvPr>
          <p:cNvSpPr/>
          <p:nvPr/>
        </p:nvSpPr>
        <p:spPr>
          <a:xfrm>
            <a:off x="6475203" y="1248726"/>
            <a:ext cx="2496185" cy="960540"/>
          </a:xfrm>
          <a:prstGeom prst="roundRect">
            <a:avLst>
              <a:gd name="adj" fmla="val 12825"/>
            </a:avLst>
          </a:prstGeom>
          <a:solidFill>
            <a:schemeClr val="bg1"/>
          </a:solidFill>
          <a:ln w="6350">
            <a:solidFill>
              <a:srgbClr val="E3DEE9"/>
            </a:solidFill>
            <a:prstDash val="solid"/>
          </a:ln>
        </p:spPr>
        <p:txBody>
          <a:bodyPr/>
          <a:lstStyle/>
          <a:p>
            <a:pPr algn="ctr"/>
            <a:r>
              <a:rPr lang="en-US" sz="1400" b="1" dirty="0">
                <a:solidFill>
                  <a:srgbClr val="B0405C"/>
                </a:solidFill>
                <a:latin typeface="Calibri" panose="020F0502020204030204" pitchFamily="34" charset="0"/>
                <a:ea typeface="EB Garamond" pitchFamily="34" charset="-122"/>
                <a:cs typeface="Calibri" panose="020F0502020204030204" pitchFamily="34" charset="0"/>
              </a:rPr>
              <a:t>25.4%</a:t>
            </a:r>
          </a:p>
          <a:p>
            <a:r>
              <a:rPr lang="en-US" sz="1400" dirty="0">
                <a:solidFill>
                  <a:srgbClr val="4A5268"/>
                </a:solidFill>
                <a:latin typeface="Calibri" panose="020F0502020204030204" pitchFamily="34" charset="0"/>
                <a:ea typeface="IBM Plex Sans" pitchFamily="34" charset="-122"/>
                <a:cs typeface="Calibri" panose="020F0502020204030204" pitchFamily="34" charset="0"/>
              </a:rPr>
              <a:t>of validation images have a training neighbor at similarity greater than or equal to 0.95</a:t>
            </a:r>
            <a:endParaRPr lang="en-US" sz="1400" dirty="0">
              <a:latin typeface="Calibri" panose="020F0502020204030204" pitchFamily="34" charset="0"/>
              <a:cs typeface="Calibri" panose="020F0502020204030204" pitchFamily="34" charset="0"/>
            </a:endParaRPr>
          </a:p>
          <a:p>
            <a:endParaRPr lang="en-US" sz="1400" dirty="0">
              <a:latin typeface="Calibri" panose="020F0502020204030204" pitchFamily="34" charset="0"/>
              <a:cs typeface="Calibri" panose="020F0502020204030204" pitchFamily="34" charset="0"/>
            </a:endParaRPr>
          </a:p>
        </p:txBody>
      </p:sp>
      <p:sp>
        <p:nvSpPr>
          <p:cNvPr id="20" name="Shape 5">
            <a:extLst>
              <a:ext uri="{FF2B5EF4-FFF2-40B4-BE49-F238E27FC236}">
                <a16:creationId xmlns:a16="http://schemas.microsoft.com/office/drawing/2014/main" id="{983F578F-24F8-F3EC-964B-255101DA90E8}"/>
              </a:ext>
            </a:extLst>
          </p:cNvPr>
          <p:cNvSpPr/>
          <p:nvPr/>
        </p:nvSpPr>
        <p:spPr>
          <a:xfrm>
            <a:off x="9266556" y="1248726"/>
            <a:ext cx="2136775" cy="960540"/>
          </a:xfrm>
          <a:prstGeom prst="roundRect">
            <a:avLst>
              <a:gd name="adj" fmla="val 12825"/>
            </a:avLst>
          </a:prstGeom>
          <a:solidFill>
            <a:schemeClr val="bg1"/>
          </a:solidFill>
          <a:ln w="6350">
            <a:solidFill>
              <a:srgbClr val="E3DEE9"/>
            </a:solidFill>
            <a:prstDash val="solid"/>
          </a:ln>
        </p:spPr>
        <p:txBody>
          <a:bodyPr anchor="ctr"/>
          <a:lstStyle/>
          <a:p>
            <a:pPr algn="ctr"/>
            <a:r>
              <a:rPr lang="en-US" sz="1400" b="1" dirty="0">
                <a:solidFill>
                  <a:srgbClr val="5B3F8C"/>
                </a:solidFill>
                <a:latin typeface="Calibri" panose="020F0502020204030204" pitchFamily="34" charset="0"/>
                <a:ea typeface="EB Garamond" pitchFamily="34" charset="-122"/>
                <a:cs typeface="Calibri" panose="020F0502020204030204" pitchFamily="34" charset="0"/>
              </a:rPr>
              <a:t>0.5%</a:t>
            </a:r>
          </a:p>
          <a:p>
            <a:r>
              <a:rPr lang="en-US" sz="1400" dirty="0">
                <a:solidFill>
                  <a:srgbClr val="4A5268"/>
                </a:solidFill>
                <a:latin typeface="Calibri" panose="020F0502020204030204" pitchFamily="34" charset="0"/>
                <a:ea typeface="IBM Plex Sans" pitchFamily="34" charset="-122"/>
                <a:cs typeface="Calibri" panose="020F0502020204030204" pitchFamily="34" charset="0"/>
              </a:rPr>
              <a:t>of test images do (highest 0.956, none reaches 0.98)</a:t>
            </a:r>
            <a:endParaRPr lang="en-US" sz="1400" dirty="0">
              <a:latin typeface="Calibri" panose="020F0502020204030204" pitchFamily="34" charset="0"/>
              <a:cs typeface="Calibri" panose="020F0502020204030204" pitchFamily="34" charset="0"/>
            </a:endParaRPr>
          </a:p>
        </p:txBody>
      </p:sp>
      <p:sp>
        <p:nvSpPr>
          <p:cNvPr id="21" name="Shape 5">
            <a:extLst>
              <a:ext uri="{FF2B5EF4-FFF2-40B4-BE49-F238E27FC236}">
                <a16:creationId xmlns:a16="http://schemas.microsoft.com/office/drawing/2014/main" id="{B967B5E6-A844-4699-F70A-94F22356C1FB}"/>
              </a:ext>
            </a:extLst>
          </p:cNvPr>
          <p:cNvSpPr/>
          <p:nvPr/>
        </p:nvSpPr>
        <p:spPr>
          <a:xfrm>
            <a:off x="788669" y="2902587"/>
            <a:ext cx="5073015" cy="747183"/>
          </a:xfrm>
          <a:prstGeom prst="roundRect">
            <a:avLst>
              <a:gd name="adj" fmla="val 12825"/>
            </a:avLst>
          </a:prstGeom>
          <a:solidFill>
            <a:schemeClr val="bg1"/>
          </a:solidFill>
          <a:ln w="6350">
            <a:solidFill>
              <a:srgbClr val="E3DEE9"/>
            </a:solidFill>
            <a:prstDash val="solid"/>
          </a:ln>
        </p:spPr>
        <p:txBody>
          <a:bodyPr anchor="ctr"/>
          <a:lstStyle/>
          <a:p>
            <a:pPr>
              <a:lnSpc>
                <a:spcPts val="1418"/>
              </a:lnSpc>
            </a:pPr>
            <a:r>
              <a:rPr lang="en-US" sz="1400" b="1" dirty="0">
                <a:solidFill>
                  <a:srgbClr val="1F2A44"/>
                </a:solidFill>
                <a:latin typeface="IBM Plex Sans" pitchFamily="34" charset="0"/>
                <a:ea typeface="IBM Plex Sans" pitchFamily="34" charset="-122"/>
                <a:cs typeface="IBM Plex Sans" pitchFamily="34" charset="-120"/>
              </a:rPr>
              <a:t>Stratified:</a:t>
            </a:r>
            <a:r>
              <a:rPr lang="en-US" sz="1400" dirty="0">
                <a:solidFill>
                  <a:srgbClr val="1F2A44"/>
                </a:solidFill>
                <a:latin typeface="IBM Plex Sans" pitchFamily="34" charset="0"/>
                <a:ea typeface="IBM Plex Sans" pitchFamily="34" charset="-122"/>
                <a:cs typeface="IBM Plex Sans" pitchFamily="34" charset="-120"/>
              </a:rPr>
              <a:t> </a:t>
            </a:r>
            <a:r>
              <a:rPr lang="en-US" sz="1400" dirty="0" err="1">
                <a:solidFill>
                  <a:srgbClr val="1F2A44"/>
                </a:solidFill>
                <a:latin typeface="IBM Plex Sans" pitchFamily="34" charset="0"/>
                <a:ea typeface="IBM Plex Sans" pitchFamily="34" charset="-122"/>
                <a:cs typeface="IBM Plex Sans" pitchFamily="34" charset="-120"/>
              </a:rPr>
              <a:t>sklearn</a:t>
            </a:r>
            <a:r>
              <a:rPr lang="en-US" sz="1400" dirty="0">
                <a:solidFill>
                  <a:srgbClr val="1F2A44"/>
                </a:solidFill>
                <a:latin typeface="IBM Plex Sans" pitchFamily="34" charset="0"/>
                <a:ea typeface="IBM Plex Sans" pitchFamily="34" charset="-122"/>
                <a:cs typeface="IBM Plex Sans" pitchFamily="34" charset="-120"/>
              </a:rPr>
              <a:t> </a:t>
            </a:r>
            <a:r>
              <a:rPr lang="en-US" sz="1400" dirty="0" err="1">
                <a:solidFill>
                  <a:srgbClr val="1F2A44"/>
                </a:solidFill>
                <a:latin typeface="IBM Plex Sans" pitchFamily="34" charset="0"/>
                <a:ea typeface="IBM Plex Sans" pitchFamily="34" charset="-122"/>
                <a:cs typeface="IBM Plex Sans" pitchFamily="34" charset="-120"/>
              </a:rPr>
              <a:t>train_test_split</a:t>
            </a:r>
            <a:r>
              <a:rPr lang="en-US" sz="1400" dirty="0">
                <a:solidFill>
                  <a:srgbClr val="1F2A44"/>
                </a:solidFill>
                <a:latin typeface="IBM Plex Sans" pitchFamily="34" charset="0"/>
                <a:ea typeface="IBM Plex Sans" pitchFamily="34" charset="-122"/>
                <a:cs typeface="IBM Plex Sans" pitchFamily="34" charset="-120"/>
              </a:rPr>
              <a:t>(stratify=targets) keeps each class near 25% in both train and validation, matching the original class balance.</a:t>
            </a:r>
            <a:endParaRPr lang="en-US" sz="1400" dirty="0"/>
          </a:p>
        </p:txBody>
      </p:sp>
      <p:sp>
        <p:nvSpPr>
          <p:cNvPr id="24" name="Shape 5">
            <a:extLst>
              <a:ext uri="{FF2B5EF4-FFF2-40B4-BE49-F238E27FC236}">
                <a16:creationId xmlns:a16="http://schemas.microsoft.com/office/drawing/2014/main" id="{C99C5209-6A82-91A5-9399-4BADD54D01E6}"/>
              </a:ext>
            </a:extLst>
          </p:cNvPr>
          <p:cNvSpPr/>
          <p:nvPr/>
        </p:nvSpPr>
        <p:spPr>
          <a:xfrm>
            <a:off x="788669" y="1265560"/>
            <a:ext cx="5073015" cy="1325561"/>
          </a:xfrm>
          <a:prstGeom prst="roundRect">
            <a:avLst>
              <a:gd name="adj" fmla="val 12825"/>
            </a:avLst>
          </a:prstGeom>
          <a:solidFill>
            <a:schemeClr val="bg1"/>
          </a:solidFill>
          <a:ln w="6350">
            <a:solidFill>
              <a:srgbClr val="E3DEE9"/>
            </a:solidFill>
            <a:prstDash val="solid"/>
          </a:ln>
        </p:spPr>
        <p:txBody>
          <a:bodyPr anchor="ctr"/>
          <a:lstStyle/>
          <a:p>
            <a:pPr>
              <a:lnSpc>
                <a:spcPts val="1418"/>
              </a:lnSpc>
            </a:pPr>
            <a:r>
              <a:rPr lang="en-US" sz="1400" b="1" dirty="0">
                <a:solidFill>
                  <a:srgbClr val="1F2A44"/>
                </a:solidFill>
                <a:latin typeface="IBM Plex Sans" pitchFamily="34" charset="0"/>
                <a:ea typeface="IBM Plex Sans" pitchFamily="34" charset="-122"/>
                <a:cs typeface="IBM Plex Sans" pitchFamily="34" charset="-120"/>
              </a:rPr>
              <a:t>Ratios:</a:t>
            </a:r>
            <a:r>
              <a:rPr lang="en-US" sz="1400" dirty="0">
                <a:solidFill>
                  <a:srgbClr val="1F2A44"/>
                </a:solidFill>
                <a:latin typeface="IBM Plex Sans" pitchFamily="34" charset="0"/>
                <a:ea typeface="IBM Plex Sans" pitchFamily="34" charset="-122"/>
                <a:cs typeface="IBM Plex Sans" pitchFamily="34" charset="-120"/>
              </a:rPr>
              <a:t> train folder split 90/10 (stratified) into 8,961 train and 996 validation; 2,487 test images stay sealed. Overall 72% / 8% / 20%, chosen because the pool is large and balanced enough that 10% validation (996 images) already gives a stable estimate.</a:t>
            </a:r>
            <a:endParaRPr lang="en-US" sz="1400" dirty="0"/>
          </a:p>
        </p:txBody>
      </p:sp>
      <p:sp>
        <p:nvSpPr>
          <p:cNvPr id="26" name="Text 16">
            <a:extLst>
              <a:ext uri="{FF2B5EF4-FFF2-40B4-BE49-F238E27FC236}">
                <a16:creationId xmlns:a16="http://schemas.microsoft.com/office/drawing/2014/main" id="{0678C61F-E4B2-9E17-B127-AB6E949DEC63}"/>
              </a:ext>
            </a:extLst>
          </p:cNvPr>
          <p:cNvSpPr/>
          <p:nvPr/>
        </p:nvSpPr>
        <p:spPr>
          <a:xfrm>
            <a:off x="10931309" y="6408137"/>
            <a:ext cx="597319" cy="220133"/>
          </a:xfrm>
          <a:prstGeom prst="rect">
            <a:avLst/>
          </a:prstGeom>
          <a:noFill/>
          <a:ln/>
        </p:spPr>
        <p:txBody>
          <a:bodyPr wrap="square" lIns="0" tIns="0" rIns="0" bIns="0" rtlCol="0" anchor="ctr">
            <a:normAutofit/>
          </a:bodyPr>
          <a:lstStyle/>
          <a:p>
            <a:pPr marL="0" indent="0" algn="ctr">
              <a:lnSpc>
                <a:spcPts val="1540"/>
              </a:lnSpc>
              <a:buNone/>
            </a:pPr>
            <a:r>
              <a:rPr lang="en-US" sz="1100" b="1" dirty="0">
                <a:latin typeface="Calibri" panose="020F0502020204030204" pitchFamily="34" charset="0"/>
                <a:cs typeface="Calibri" panose="020F0502020204030204" pitchFamily="34" charset="0"/>
              </a:rPr>
              <a:t>Slide 5</a:t>
            </a:r>
          </a:p>
        </p:txBody>
      </p:sp>
      <p:sp>
        <p:nvSpPr>
          <p:cNvPr id="3" name="Text 15">
            <a:extLst>
              <a:ext uri="{FF2B5EF4-FFF2-40B4-BE49-F238E27FC236}">
                <a16:creationId xmlns:a16="http://schemas.microsoft.com/office/drawing/2014/main" id="{930B1430-0A8A-5EE2-D87C-16774B64A3A5}"/>
              </a:ext>
            </a:extLst>
          </p:cNvPr>
          <p:cNvSpPr/>
          <p:nvPr/>
        </p:nvSpPr>
        <p:spPr>
          <a:xfrm>
            <a:off x="601785" y="6405034"/>
            <a:ext cx="3779297" cy="220133"/>
          </a:xfrm>
          <a:prstGeom prst="rect">
            <a:avLst/>
          </a:prstGeom>
          <a:noFill/>
          <a:ln/>
        </p:spPr>
        <p:txBody>
          <a:bodyPr wrap="square" lIns="0" tIns="0" rIns="0" bIns="0" rtlCol="0" anchor="t">
            <a:normAutofit/>
          </a:bodyPr>
          <a:lstStyle/>
          <a:p>
            <a:pPr marL="0" indent="0" algn="ctr">
              <a:lnSpc>
                <a:spcPts val="1540"/>
              </a:lnSpc>
              <a:buNone/>
            </a:pPr>
            <a:r>
              <a:rPr lang="en-US" sz="900" dirty="0">
                <a:ea typeface="IBM Plex Sans" pitchFamily="34" charset="-122"/>
                <a:cs typeface="IBM Plex Sans" pitchFamily="34" charset="-120"/>
              </a:rPr>
              <a:t>White blood cell classification – CSCI 7090 – Group 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CFCF6"/>
        </a:solidFill>
        <a:effectLst/>
      </p:bgPr>
    </p:bg>
    <p:spTree>
      <p:nvGrpSpPr>
        <p:cNvPr id="1" name=""/>
        <p:cNvGrpSpPr/>
        <p:nvPr/>
      </p:nvGrpSpPr>
      <p:grpSpPr>
        <a:xfrm>
          <a:off x="0" y="0"/>
          <a:ext cx="0" cy="0"/>
          <a:chOff x="0" y="0"/>
          <a:chExt cx="0" cy="0"/>
        </a:xfrm>
      </p:grpSpPr>
      <p:sp>
        <p:nvSpPr>
          <p:cNvPr id="2" name="Text 0"/>
          <p:cNvSpPr/>
          <p:nvPr/>
        </p:nvSpPr>
        <p:spPr>
          <a:xfrm>
            <a:off x="654304" y="552449"/>
            <a:ext cx="10883392" cy="618067"/>
          </a:xfrm>
          <a:prstGeom prst="rect">
            <a:avLst/>
          </a:prstGeom>
          <a:noFill/>
          <a:ln/>
        </p:spPr>
        <p:txBody>
          <a:bodyPr wrap="square" lIns="0" tIns="0" rIns="0" bIns="0" rtlCol="0" anchor="ctr">
            <a:normAutofit/>
          </a:bodyPr>
          <a:lstStyle/>
          <a:p>
            <a:pPr marL="0" indent="0" algn="ctr">
              <a:lnSpc>
                <a:spcPts val="3080"/>
              </a:lnSpc>
              <a:buNone/>
            </a:pPr>
            <a:r>
              <a:rPr lang="en-US" sz="3600" b="1" dirty="0">
                <a:solidFill>
                  <a:srgbClr val="4B206B"/>
                </a:solidFill>
                <a:latin typeface="Calibri" panose="020F0502020204030204" pitchFamily="34" charset="0"/>
                <a:ea typeface="EB Garamond" pitchFamily="34" charset="-122"/>
                <a:cs typeface="Calibri" panose="020F0502020204030204" pitchFamily="34" charset="0"/>
              </a:rPr>
              <a:t>Why ResNet-50, for this dataset and this budget</a:t>
            </a:r>
            <a:endParaRPr lang="en-US" sz="3600" b="1" dirty="0">
              <a:solidFill>
                <a:srgbClr val="4B206B"/>
              </a:solidFill>
              <a:latin typeface="Calibri" panose="020F0502020204030204" pitchFamily="34" charset="0"/>
              <a:cs typeface="Calibri" panose="020F0502020204030204" pitchFamily="34" charset="0"/>
            </a:endParaRPr>
          </a:p>
        </p:txBody>
      </p:sp>
      <p:graphicFrame>
        <p:nvGraphicFramePr>
          <p:cNvPr id="3" name="Table 0"/>
          <p:cNvGraphicFramePr>
            <a:graphicFrameLocks noGrp="1"/>
          </p:cNvGraphicFramePr>
          <p:nvPr>
            <p:extLst>
              <p:ext uri="{D42A27DB-BD31-4B8C-83A1-F6EECF244321}">
                <p14:modId xmlns:p14="http://schemas.microsoft.com/office/powerpoint/2010/main" val="1216558285"/>
              </p:ext>
            </p:extLst>
          </p:nvPr>
        </p:nvGraphicFramePr>
        <p:xfrm>
          <a:off x="812800" y="1441450"/>
          <a:ext cx="10566400" cy="3619500"/>
        </p:xfrm>
        <a:graphic>
          <a:graphicData uri="http://schemas.openxmlformats.org/drawingml/2006/table">
            <a:tbl>
              <a:tblPr/>
              <a:tblGrid>
                <a:gridCol w="1930400">
                  <a:extLst>
                    <a:ext uri="{9D8B030D-6E8A-4147-A177-3AD203B41FA5}">
                      <a16:colId xmlns:a16="http://schemas.microsoft.com/office/drawing/2014/main" val="20000"/>
                    </a:ext>
                  </a:extLst>
                </a:gridCol>
                <a:gridCol w="1300480">
                  <a:extLst>
                    <a:ext uri="{9D8B030D-6E8A-4147-A177-3AD203B41FA5}">
                      <a16:colId xmlns:a16="http://schemas.microsoft.com/office/drawing/2014/main" val="20001"/>
                    </a:ext>
                  </a:extLst>
                </a:gridCol>
                <a:gridCol w="1300480">
                  <a:extLst>
                    <a:ext uri="{9D8B030D-6E8A-4147-A177-3AD203B41FA5}">
                      <a16:colId xmlns:a16="http://schemas.microsoft.com/office/drawing/2014/main" val="20002"/>
                    </a:ext>
                  </a:extLst>
                </a:gridCol>
                <a:gridCol w="6035040">
                  <a:extLst>
                    <a:ext uri="{9D8B030D-6E8A-4147-A177-3AD203B41FA5}">
                      <a16:colId xmlns:a16="http://schemas.microsoft.com/office/drawing/2014/main" val="20003"/>
                    </a:ext>
                  </a:extLst>
                </a:gridCol>
              </a:tblGrid>
              <a:tr h="334433">
                <a:tc>
                  <a:txBody>
                    <a:bodyPr/>
                    <a:lstStyle/>
                    <a:p>
                      <a:pPr marL="0" indent="0" algn="ctr">
                        <a:lnSpc>
                          <a:spcPts val="1540"/>
                        </a:lnSpc>
                        <a:buNone/>
                      </a:pPr>
                      <a:r>
                        <a:rPr lang="en-US" sz="1400" b="1" dirty="0">
                          <a:solidFill>
                            <a:srgbClr val="1F2A44"/>
                          </a:solidFill>
                          <a:latin typeface="Calibri" panose="020F0502020204030204" pitchFamily="34" charset="0"/>
                          <a:ea typeface="IBM Plex Sans" pitchFamily="34" charset="-122"/>
                          <a:cs typeface="Calibri" panose="020F0502020204030204" pitchFamily="34" charset="0"/>
                        </a:rPr>
                        <a:t>Candidate</a:t>
                      </a:r>
                      <a:endParaRPr lang="en-US" sz="1400" dirty="0">
                        <a:latin typeface="Calibri" panose="020F0502020204030204" pitchFamily="34" charset="0"/>
                        <a:ea typeface="IBM Plex Sans" charset="0"/>
                        <a:cs typeface="Calibri" panose="020F0502020204030204" pitchFamily="34" charset="0"/>
                      </a:endParaRPr>
                    </a:p>
                  </a:txBody>
                  <a:tcPr marL="88900" marR="88900" marT="63500" marB="63500" anchor="ctr">
                    <a:lnL w="12700" cap="flat" cmpd="sng" algn="ctr">
                      <a:solidFill>
                        <a:srgbClr val="C7C8CC"/>
                      </a:solidFill>
                      <a:prstDash val="solid"/>
                      <a:round/>
                      <a:headEnd type="none" w="med" len="med"/>
                      <a:tailEnd type="none" w="med" len="med"/>
                    </a:lnL>
                    <a:lnR w="12700" cap="flat" cmpd="sng" algn="ctr">
                      <a:solidFill>
                        <a:srgbClr val="C7C8CC"/>
                      </a:solidFill>
                      <a:prstDash val="solid"/>
                      <a:round/>
                      <a:headEnd type="none" w="med" len="med"/>
                      <a:tailEnd type="none" w="med" len="med"/>
                    </a:lnR>
                    <a:lnT w="12700" cap="flat" cmpd="sng" algn="ctr">
                      <a:solidFill>
                        <a:srgbClr val="C7C8CC"/>
                      </a:solidFill>
                      <a:prstDash val="solid"/>
                      <a:round/>
                      <a:headEnd type="none" w="med" len="med"/>
                      <a:tailEnd type="none" w="med" len="med"/>
                    </a:lnT>
                    <a:lnB w="12700" cap="flat" cmpd="sng" algn="ctr">
                      <a:solidFill>
                        <a:srgbClr val="C7C8CC"/>
                      </a:solidFill>
                      <a:prstDash val="solid"/>
                      <a:round/>
                      <a:headEnd type="none" w="med" len="med"/>
                      <a:tailEnd type="none" w="med" len="med"/>
                    </a:lnB>
                    <a:solidFill>
                      <a:srgbClr val="E9E2F3"/>
                    </a:solidFill>
                  </a:tcPr>
                </a:tc>
                <a:tc>
                  <a:txBody>
                    <a:bodyPr/>
                    <a:lstStyle/>
                    <a:p>
                      <a:pPr marL="0" indent="0" algn="ctr">
                        <a:lnSpc>
                          <a:spcPts val="1540"/>
                        </a:lnSpc>
                        <a:buNone/>
                      </a:pPr>
                      <a:r>
                        <a:rPr lang="en-US" sz="1400" b="1" dirty="0">
                          <a:solidFill>
                            <a:srgbClr val="1F2A44"/>
                          </a:solidFill>
                          <a:latin typeface="Calibri" panose="020F0502020204030204" pitchFamily="34" charset="0"/>
                          <a:ea typeface="IBM Plex Sans" pitchFamily="34" charset="-122"/>
                          <a:cs typeface="Calibri" panose="020F0502020204030204" pitchFamily="34" charset="0"/>
                        </a:rPr>
                        <a:t>Params</a:t>
                      </a:r>
                      <a:endParaRPr lang="en-US" sz="1400" dirty="0">
                        <a:latin typeface="Calibri" panose="020F0502020204030204" pitchFamily="34" charset="0"/>
                        <a:ea typeface="IBM Plex Sans" charset="0"/>
                        <a:cs typeface="Calibri" panose="020F0502020204030204" pitchFamily="34" charset="0"/>
                      </a:endParaRPr>
                    </a:p>
                  </a:txBody>
                  <a:tcPr marL="88900" marR="88900" marT="63500" marB="63500" anchor="ctr">
                    <a:lnL w="12700" cap="flat" cmpd="sng" algn="ctr">
                      <a:solidFill>
                        <a:srgbClr val="C7C8CC"/>
                      </a:solidFill>
                      <a:prstDash val="solid"/>
                      <a:round/>
                      <a:headEnd type="none" w="med" len="med"/>
                      <a:tailEnd type="none" w="med" len="med"/>
                    </a:lnL>
                    <a:lnR w="12700" cap="flat" cmpd="sng" algn="ctr">
                      <a:solidFill>
                        <a:srgbClr val="C7C8CC"/>
                      </a:solidFill>
                      <a:prstDash val="solid"/>
                      <a:round/>
                      <a:headEnd type="none" w="med" len="med"/>
                      <a:tailEnd type="none" w="med" len="med"/>
                    </a:lnR>
                    <a:lnT w="12700" cap="flat" cmpd="sng" algn="ctr">
                      <a:solidFill>
                        <a:srgbClr val="C7C8CC"/>
                      </a:solidFill>
                      <a:prstDash val="solid"/>
                      <a:round/>
                      <a:headEnd type="none" w="med" len="med"/>
                      <a:tailEnd type="none" w="med" len="med"/>
                    </a:lnT>
                    <a:lnB w="12700" cap="flat" cmpd="sng" algn="ctr">
                      <a:solidFill>
                        <a:srgbClr val="C7C8CC"/>
                      </a:solidFill>
                      <a:prstDash val="solid"/>
                      <a:round/>
                      <a:headEnd type="none" w="med" len="med"/>
                      <a:tailEnd type="none" w="med" len="med"/>
                    </a:lnB>
                    <a:solidFill>
                      <a:srgbClr val="E9E2F3"/>
                    </a:solidFill>
                  </a:tcPr>
                </a:tc>
                <a:tc>
                  <a:txBody>
                    <a:bodyPr/>
                    <a:lstStyle/>
                    <a:p>
                      <a:pPr marL="0" indent="0" algn="ctr">
                        <a:lnSpc>
                          <a:spcPts val="1540"/>
                        </a:lnSpc>
                        <a:buNone/>
                      </a:pPr>
                      <a:r>
                        <a:rPr lang="en-US" sz="1400" b="1" dirty="0">
                          <a:solidFill>
                            <a:srgbClr val="1F2A44"/>
                          </a:solidFill>
                          <a:latin typeface="Calibri" panose="020F0502020204030204" pitchFamily="34" charset="0"/>
                          <a:ea typeface="IBM Plex Sans" pitchFamily="34" charset="-122"/>
                          <a:cs typeface="Calibri" panose="020F0502020204030204" pitchFamily="34" charset="0"/>
                        </a:rPr>
                        <a:t>Status</a:t>
                      </a:r>
                      <a:endParaRPr lang="en-US" sz="1400" dirty="0">
                        <a:latin typeface="Calibri" panose="020F0502020204030204" pitchFamily="34" charset="0"/>
                        <a:ea typeface="IBM Plex Sans" charset="0"/>
                        <a:cs typeface="Calibri" panose="020F0502020204030204" pitchFamily="34" charset="0"/>
                      </a:endParaRPr>
                    </a:p>
                  </a:txBody>
                  <a:tcPr marL="88900" marR="88900" marT="63500" marB="63500" anchor="ctr">
                    <a:lnL w="12700" cap="flat" cmpd="sng" algn="ctr">
                      <a:solidFill>
                        <a:srgbClr val="C7C8CC"/>
                      </a:solidFill>
                      <a:prstDash val="solid"/>
                      <a:round/>
                      <a:headEnd type="none" w="med" len="med"/>
                      <a:tailEnd type="none" w="med" len="med"/>
                    </a:lnL>
                    <a:lnR w="12700" cap="flat" cmpd="sng" algn="ctr">
                      <a:solidFill>
                        <a:srgbClr val="C7C8CC"/>
                      </a:solidFill>
                      <a:prstDash val="solid"/>
                      <a:round/>
                      <a:headEnd type="none" w="med" len="med"/>
                      <a:tailEnd type="none" w="med" len="med"/>
                    </a:lnR>
                    <a:lnT w="12700" cap="flat" cmpd="sng" algn="ctr">
                      <a:solidFill>
                        <a:srgbClr val="C7C8CC"/>
                      </a:solidFill>
                      <a:prstDash val="solid"/>
                      <a:round/>
                      <a:headEnd type="none" w="med" len="med"/>
                      <a:tailEnd type="none" w="med" len="med"/>
                    </a:lnT>
                    <a:lnB w="12700" cap="flat" cmpd="sng" algn="ctr">
                      <a:solidFill>
                        <a:srgbClr val="C7C8CC"/>
                      </a:solidFill>
                      <a:prstDash val="solid"/>
                      <a:round/>
                      <a:headEnd type="none" w="med" len="med"/>
                      <a:tailEnd type="none" w="med" len="med"/>
                    </a:lnB>
                    <a:solidFill>
                      <a:srgbClr val="E9E2F3"/>
                    </a:solidFill>
                  </a:tcPr>
                </a:tc>
                <a:tc>
                  <a:txBody>
                    <a:bodyPr/>
                    <a:lstStyle/>
                    <a:p>
                      <a:pPr marL="0" indent="0" algn="ctr">
                        <a:lnSpc>
                          <a:spcPts val="1540"/>
                        </a:lnSpc>
                        <a:buNone/>
                      </a:pPr>
                      <a:r>
                        <a:rPr lang="en-US" sz="1400" b="1" dirty="0">
                          <a:solidFill>
                            <a:srgbClr val="1F2A44"/>
                          </a:solidFill>
                          <a:latin typeface="Calibri" panose="020F0502020204030204" pitchFamily="34" charset="0"/>
                          <a:ea typeface="IBM Plex Sans" pitchFamily="34" charset="-122"/>
                          <a:cs typeface="Calibri" panose="020F0502020204030204" pitchFamily="34" charset="0"/>
                        </a:rPr>
                        <a:t>Why chosen / not chosen, for our data and hardware</a:t>
                      </a:r>
                      <a:endParaRPr lang="en-US" sz="1400" dirty="0">
                        <a:latin typeface="Calibri" panose="020F0502020204030204" pitchFamily="34" charset="0"/>
                        <a:ea typeface="IBM Plex Sans" charset="0"/>
                        <a:cs typeface="Calibri" panose="020F0502020204030204" pitchFamily="34" charset="0"/>
                      </a:endParaRPr>
                    </a:p>
                  </a:txBody>
                  <a:tcPr marL="88900" marR="88900" marT="63500" marB="63500" anchor="ctr">
                    <a:lnL w="12700" cap="flat" cmpd="sng" algn="ctr">
                      <a:solidFill>
                        <a:srgbClr val="C7C8CC"/>
                      </a:solidFill>
                      <a:prstDash val="solid"/>
                      <a:round/>
                      <a:headEnd type="none" w="med" len="med"/>
                      <a:tailEnd type="none" w="med" len="med"/>
                    </a:lnL>
                    <a:lnR w="12700" cap="flat" cmpd="sng" algn="ctr">
                      <a:solidFill>
                        <a:srgbClr val="C7C8CC"/>
                      </a:solidFill>
                      <a:prstDash val="solid"/>
                      <a:round/>
                      <a:headEnd type="none" w="med" len="med"/>
                      <a:tailEnd type="none" w="med" len="med"/>
                    </a:lnR>
                    <a:lnT w="12700" cap="flat" cmpd="sng" algn="ctr">
                      <a:solidFill>
                        <a:srgbClr val="C7C8CC"/>
                      </a:solidFill>
                      <a:prstDash val="solid"/>
                      <a:round/>
                      <a:headEnd type="none" w="med" len="med"/>
                      <a:tailEnd type="none" w="med" len="med"/>
                    </a:lnT>
                    <a:lnB w="12700" cap="flat" cmpd="sng" algn="ctr">
                      <a:solidFill>
                        <a:srgbClr val="C7C8CC"/>
                      </a:solidFill>
                      <a:prstDash val="solid"/>
                      <a:round/>
                      <a:headEnd type="none" w="med" len="med"/>
                      <a:tailEnd type="none" w="med" len="med"/>
                    </a:lnB>
                    <a:solidFill>
                      <a:srgbClr val="E9E2F3"/>
                    </a:solidFill>
                  </a:tcPr>
                </a:tc>
                <a:extLst>
                  <a:ext uri="{0D108BD9-81ED-4DB2-BD59-A6C34878D82A}">
                    <a16:rowId xmlns:a16="http://schemas.microsoft.com/office/drawing/2014/main" val="10000"/>
                  </a:ext>
                </a:extLst>
              </a:tr>
              <a:tr h="723900">
                <a:tc>
                  <a:txBody>
                    <a:bodyPr/>
                    <a:lstStyle/>
                    <a:p>
                      <a:pPr marL="0" indent="0">
                        <a:lnSpc>
                          <a:spcPts val="1540"/>
                        </a:lnSpc>
                        <a:buNone/>
                      </a:pPr>
                      <a:r>
                        <a:rPr lang="en-US" sz="1400" b="1" dirty="0">
                          <a:solidFill>
                            <a:srgbClr val="1F2A44"/>
                          </a:solidFill>
                          <a:latin typeface="Calibri" panose="020F0502020204030204" pitchFamily="34" charset="0"/>
                          <a:ea typeface="IBM Plex Sans" pitchFamily="34" charset="-122"/>
                          <a:cs typeface="Calibri" panose="020F0502020204030204" pitchFamily="34" charset="0"/>
                        </a:rPr>
                        <a:t>Small CNN (scratch)</a:t>
                      </a:r>
                      <a:endParaRPr lang="en-US" sz="1400" b="1" dirty="0">
                        <a:latin typeface="Calibri" panose="020F0502020204030204" pitchFamily="34" charset="0"/>
                        <a:ea typeface="IBM Plex Sans" charset="0"/>
                        <a:cs typeface="Calibri" panose="020F0502020204030204" pitchFamily="34" charset="0"/>
                      </a:endParaRPr>
                    </a:p>
                  </a:txBody>
                  <a:tcPr marL="88900" marR="88900" marT="63500" marB="63500" anchor="ctr">
                    <a:lnL w="12700" cap="flat" cmpd="sng" algn="ctr">
                      <a:solidFill>
                        <a:srgbClr val="C7C8CC"/>
                      </a:solidFill>
                      <a:prstDash val="solid"/>
                      <a:round/>
                      <a:headEnd type="none" w="med" len="med"/>
                      <a:tailEnd type="none" w="med" len="med"/>
                    </a:lnL>
                    <a:lnR w="12700" cap="flat" cmpd="sng" algn="ctr">
                      <a:solidFill>
                        <a:srgbClr val="C7C8CC"/>
                      </a:solidFill>
                      <a:prstDash val="solid"/>
                      <a:round/>
                      <a:headEnd type="none" w="med" len="med"/>
                      <a:tailEnd type="none" w="med" len="med"/>
                    </a:lnR>
                    <a:lnT w="12700" cap="flat" cmpd="sng" algn="ctr">
                      <a:solidFill>
                        <a:srgbClr val="C7C8CC"/>
                      </a:solidFill>
                      <a:prstDash val="solid"/>
                      <a:round/>
                      <a:headEnd type="none" w="med" len="med"/>
                      <a:tailEnd type="none" w="med" len="med"/>
                    </a:lnT>
                    <a:lnB w="12700" cap="flat" cmpd="sng" algn="ctr">
                      <a:solidFill>
                        <a:srgbClr val="C7C8CC"/>
                      </a:solidFill>
                      <a:prstDash val="solid"/>
                      <a:round/>
                      <a:headEnd type="none" w="med" len="med"/>
                      <a:tailEnd type="none" w="med" len="med"/>
                    </a:lnB>
                    <a:solidFill>
                      <a:schemeClr val="bg1"/>
                    </a:solidFill>
                  </a:tcPr>
                </a:tc>
                <a:tc>
                  <a:txBody>
                    <a:bodyPr/>
                    <a:lstStyle/>
                    <a:p>
                      <a:pPr marL="0" indent="0" algn="ctr">
                        <a:lnSpc>
                          <a:spcPts val="1540"/>
                        </a:lnSpc>
                        <a:buNone/>
                      </a:pPr>
                      <a:r>
                        <a:rPr lang="en-US" sz="1400" dirty="0">
                          <a:solidFill>
                            <a:srgbClr val="1F2A44"/>
                          </a:solidFill>
                          <a:latin typeface="Calibri" panose="020F0502020204030204" pitchFamily="34" charset="0"/>
                          <a:ea typeface="IBM Plex Sans" pitchFamily="34" charset="-122"/>
                          <a:cs typeface="Calibri" panose="020F0502020204030204" pitchFamily="34" charset="0"/>
                        </a:rPr>
                        <a:t>0.39M</a:t>
                      </a:r>
                      <a:endParaRPr lang="en-US" sz="1400" dirty="0">
                        <a:latin typeface="Calibri" panose="020F0502020204030204" pitchFamily="34" charset="0"/>
                        <a:ea typeface="IBM Plex Sans" charset="0"/>
                        <a:cs typeface="Calibri" panose="020F0502020204030204" pitchFamily="34" charset="0"/>
                      </a:endParaRPr>
                    </a:p>
                  </a:txBody>
                  <a:tcPr marL="88900" marR="88900" marT="63500" marB="63500" anchor="ctr">
                    <a:lnL w="12700" cap="flat" cmpd="sng" algn="ctr">
                      <a:solidFill>
                        <a:srgbClr val="C7C8CC"/>
                      </a:solidFill>
                      <a:prstDash val="solid"/>
                      <a:round/>
                      <a:headEnd type="none" w="med" len="med"/>
                      <a:tailEnd type="none" w="med" len="med"/>
                    </a:lnL>
                    <a:lnR w="12700" cap="flat" cmpd="sng" algn="ctr">
                      <a:solidFill>
                        <a:srgbClr val="C7C8CC"/>
                      </a:solidFill>
                      <a:prstDash val="solid"/>
                      <a:round/>
                      <a:headEnd type="none" w="med" len="med"/>
                      <a:tailEnd type="none" w="med" len="med"/>
                    </a:lnR>
                    <a:lnT w="12700" cap="flat" cmpd="sng" algn="ctr">
                      <a:solidFill>
                        <a:srgbClr val="C7C8CC"/>
                      </a:solidFill>
                      <a:prstDash val="solid"/>
                      <a:round/>
                      <a:headEnd type="none" w="med" len="med"/>
                      <a:tailEnd type="none" w="med" len="med"/>
                    </a:lnT>
                    <a:lnB w="12700" cap="flat" cmpd="sng" algn="ctr">
                      <a:solidFill>
                        <a:srgbClr val="C7C8CC"/>
                      </a:solidFill>
                      <a:prstDash val="solid"/>
                      <a:round/>
                      <a:headEnd type="none" w="med" len="med"/>
                      <a:tailEnd type="none" w="med" len="med"/>
                    </a:lnB>
                    <a:solidFill>
                      <a:schemeClr val="bg1"/>
                    </a:solidFill>
                  </a:tcPr>
                </a:tc>
                <a:tc>
                  <a:txBody>
                    <a:bodyPr/>
                    <a:lstStyle/>
                    <a:p>
                      <a:pPr marL="0" indent="0" algn="ctr">
                        <a:lnSpc>
                          <a:spcPts val="1540"/>
                        </a:lnSpc>
                        <a:buNone/>
                      </a:pPr>
                      <a:r>
                        <a:rPr lang="en-US" sz="1400" b="1" dirty="0">
                          <a:solidFill>
                            <a:srgbClr val="B0405C"/>
                          </a:solidFill>
                          <a:latin typeface="Calibri" panose="020F0502020204030204" pitchFamily="34" charset="0"/>
                          <a:ea typeface="IBM Plex Sans" pitchFamily="34" charset="-122"/>
                          <a:cs typeface="Calibri" panose="020F0502020204030204" pitchFamily="34" charset="0"/>
                        </a:rPr>
                        <a:t>trained</a:t>
                      </a:r>
                      <a:endParaRPr lang="en-US" sz="1400" b="1" dirty="0">
                        <a:latin typeface="Calibri" panose="020F0502020204030204" pitchFamily="34" charset="0"/>
                        <a:ea typeface="IBM Plex Sans" charset="0"/>
                        <a:cs typeface="Calibri" panose="020F0502020204030204" pitchFamily="34" charset="0"/>
                      </a:endParaRPr>
                    </a:p>
                  </a:txBody>
                  <a:tcPr marL="88900" marR="88900" marT="63500" marB="63500" anchor="ctr">
                    <a:lnL w="12700" cap="flat" cmpd="sng" algn="ctr">
                      <a:solidFill>
                        <a:srgbClr val="C7C8CC"/>
                      </a:solidFill>
                      <a:prstDash val="solid"/>
                      <a:round/>
                      <a:headEnd type="none" w="med" len="med"/>
                      <a:tailEnd type="none" w="med" len="med"/>
                    </a:lnL>
                    <a:lnR w="12700" cap="flat" cmpd="sng" algn="ctr">
                      <a:solidFill>
                        <a:srgbClr val="C7C8CC"/>
                      </a:solidFill>
                      <a:prstDash val="solid"/>
                      <a:round/>
                      <a:headEnd type="none" w="med" len="med"/>
                      <a:tailEnd type="none" w="med" len="med"/>
                    </a:lnR>
                    <a:lnT w="12700" cap="flat" cmpd="sng" algn="ctr">
                      <a:solidFill>
                        <a:srgbClr val="C7C8CC"/>
                      </a:solidFill>
                      <a:prstDash val="solid"/>
                      <a:round/>
                      <a:headEnd type="none" w="med" len="med"/>
                      <a:tailEnd type="none" w="med" len="med"/>
                    </a:lnT>
                    <a:lnB w="12700" cap="flat" cmpd="sng" algn="ctr">
                      <a:solidFill>
                        <a:srgbClr val="C7C8CC"/>
                      </a:solidFill>
                      <a:prstDash val="solid"/>
                      <a:round/>
                      <a:headEnd type="none" w="med" len="med"/>
                      <a:tailEnd type="none" w="med" len="med"/>
                    </a:lnB>
                    <a:solidFill>
                      <a:schemeClr val="bg1"/>
                    </a:solidFill>
                  </a:tcPr>
                </a:tc>
                <a:tc>
                  <a:txBody>
                    <a:bodyPr/>
                    <a:lstStyle/>
                    <a:p>
                      <a:pPr marL="0" indent="0">
                        <a:lnSpc>
                          <a:spcPts val="1540"/>
                        </a:lnSpc>
                        <a:buNone/>
                      </a:pPr>
                      <a:r>
                        <a:rPr lang="en-US" sz="1400" dirty="0">
                          <a:solidFill>
                            <a:srgbClr val="1F2A44"/>
                          </a:solidFill>
                          <a:latin typeface="Calibri" panose="020F0502020204030204" pitchFamily="34" charset="0"/>
                          <a:ea typeface="IBM Plex Sans" pitchFamily="34" charset="-122"/>
                          <a:cs typeface="Calibri" panose="020F0502020204030204" pitchFamily="34" charset="0"/>
                        </a:rPr>
                        <a:t>Weak baseline, not a candidate for deployment. Establishes what transfer learning is worth on this exact dataset: 0.950 best val accuracy, noisy, 11 of 14 epochs to converge.</a:t>
                      </a:r>
                      <a:endParaRPr lang="en-US" sz="1400" dirty="0">
                        <a:latin typeface="Calibri" panose="020F0502020204030204" pitchFamily="34" charset="0"/>
                        <a:ea typeface="IBM Plex Sans" charset="0"/>
                        <a:cs typeface="Calibri" panose="020F0502020204030204" pitchFamily="34" charset="0"/>
                      </a:endParaRPr>
                    </a:p>
                  </a:txBody>
                  <a:tcPr marL="88900" marR="88900" marT="63500" marB="63500" anchor="ctr">
                    <a:lnL w="12700" cap="flat" cmpd="sng" algn="ctr">
                      <a:solidFill>
                        <a:srgbClr val="C7C8CC"/>
                      </a:solidFill>
                      <a:prstDash val="solid"/>
                      <a:round/>
                      <a:headEnd type="none" w="med" len="med"/>
                      <a:tailEnd type="none" w="med" len="med"/>
                    </a:lnL>
                    <a:lnR w="12700" cap="flat" cmpd="sng" algn="ctr">
                      <a:solidFill>
                        <a:srgbClr val="C7C8CC"/>
                      </a:solidFill>
                      <a:prstDash val="solid"/>
                      <a:round/>
                      <a:headEnd type="none" w="med" len="med"/>
                      <a:tailEnd type="none" w="med" len="med"/>
                    </a:lnR>
                    <a:lnT w="12700" cap="flat" cmpd="sng" algn="ctr">
                      <a:solidFill>
                        <a:srgbClr val="C7C8CC"/>
                      </a:solidFill>
                      <a:prstDash val="solid"/>
                      <a:round/>
                      <a:headEnd type="none" w="med" len="med"/>
                      <a:tailEnd type="none" w="med" len="med"/>
                    </a:lnT>
                    <a:lnB w="12700" cap="flat" cmpd="sng" algn="ctr">
                      <a:solidFill>
                        <a:srgbClr val="C7C8CC"/>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1113367">
                <a:tc>
                  <a:txBody>
                    <a:bodyPr/>
                    <a:lstStyle/>
                    <a:p>
                      <a:pPr marL="0" indent="0">
                        <a:lnSpc>
                          <a:spcPts val="1540"/>
                        </a:lnSpc>
                        <a:buNone/>
                      </a:pPr>
                      <a:r>
                        <a:rPr lang="en-US" sz="1400" b="1" dirty="0">
                          <a:solidFill>
                            <a:srgbClr val="1F2A44"/>
                          </a:solidFill>
                          <a:latin typeface="Calibri" panose="020F0502020204030204" pitchFamily="34" charset="0"/>
                          <a:ea typeface="IBM Plex Sans" pitchFamily="34" charset="-122"/>
                          <a:cs typeface="Calibri" panose="020F0502020204030204" pitchFamily="34" charset="0"/>
                        </a:rPr>
                        <a:t>ResNet-50 (ImageNet)</a:t>
                      </a:r>
                      <a:endParaRPr lang="en-US" sz="1400" b="1" dirty="0">
                        <a:latin typeface="Calibri" panose="020F0502020204030204" pitchFamily="34" charset="0"/>
                        <a:ea typeface="IBM Plex Sans" charset="0"/>
                        <a:cs typeface="Calibri" panose="020F0502020204030204" pitchFamily="34" charset="0"/>
                      </a:endParaRPr>
                    </a:p>
                  </a:txBody>
                  <a:tcPr marL="88900" marR="88900" marT="63500" marB="63500" anchor="ctr">
                    <a:lnL w="12700" cap="flat" cmpd="sng" algn="ctr">
                      <a:solidFill>
                        <a:srgbClr val="C7C8CC"/>
                      </a:solidFill>
                      <a:prstDash val="solid"/>
                      <a:round/>
                      <a:headEnd type="none" w="med" len="med"/>
                      <a:tailEnd type="none" w="med" len="med"/>
                    </a:lnL>
                    <a:lnR w="12700" cap="flat" cmpd="sng" algn="ctr">
                      <a:solidFill>
                        <a:srgbClr val="C7C8CC"/>
                      </a:solidFill>
                      <a:prstDash val="solid"/>
                      <a:round/>
                      <a:headEnd type="none" w="med" len="med"/>
                      <a:tailEnd type="none" w="med" len="med"/>
                    </a:lnR>
                    <a:lnT w="12700" cap="flat" cmpd="sng" algn="ctr">
                      <a:solidFill>
                        <a:srgbClr val="C7C8CC"/>
                      </a:solidFill>
                      <a:prstDash val="solid"/>
                      <a:round/>
                      <a:headEnd type="none" w="med" len="med"/>
                      <a:tailEnd type="none" w="med" len="med"/>
                    </a:lnT>
                    <a:lnB w="12700" cap="flat" cmpd="sng" algn="ctr">
                      <a:solidFill>
                        <a:srgbClr val="C7C8CC"/>
                      </a:solidFill>
                      <a:prstDash val="solid"/>
                      <a:round/>
                      <a:headEnd type="none" w="med" len="med"/>
                      <a:tailEnd type="none" w="med" len="med"/>
                    </a:lnB>
                    <a:solidFill>
                      <a:schemeClr val="bg1"/>
                    </a:solidFill>
                  </a:tcPr>
                </a:tc>
                <a:tc>
                  <a:txBody>
                    <a:bodyPr/>
                    <a:lstStyle/>
                    <a:p>
                      <a:pPr marL="0" indent="0" algn="ctr">
                        <a:lnSpc>
                          <a:spcPts val="1540"/>
                        </a:lnSpc>
                        <a:buNone/>
                      </a:pPr>
                      <a:r>
                        <a:rPr lang="en-US" sz="1400" dirty="0">
                          <a:solidFill>
                            <a:srgbClr val="1F2A44"/>
                          </a:solidFill>
                          <a:latin typeface="Calibri" panose="020F0502020204030204" pitchFamily="34" charset="0"/>
                          <a:ea typeface="IBM Plex Sans" pitchFamily="34" charset="-122"/>
                          <a:cs typeface="Calibri" panose="020F0502020204030204" pitchFamily="34" charset="0"/>
                        </a:rPr>
                        <a:t>23.5M</a:t>
                      </a:r>
                      <a:endParaRPr lang="en-US" sz="1400" dirty="0">
                        <a:latin typeface="Calibri" panose="020F0502020204030204" pitchFamily="34" charset="0"/>
                        <a:ea typeface="IBM Plex Sans" charset="0"/>
                        <a:cs typeface="Calibri" panose="020F0502020204030204" pitchFamily="34" charset="0"/>
                      </a:endParaRPr>
                    </a:p>
                  </a:txBody>
                  <a:tcPr marL="88900" marR="88900" marT="63500" marB="63500" anchor="ctr">
                    <a:lnL w="12700" cap="flat" cmpd="sng" algn="ctr">
                      <a:solidFill>
                        <a:srgbClr val="C7C8CC"/>
                      </a:solidFill>
                      <a:prstDash val="solid"/>
                      <a:round/>
                      <a:headEnd type="none" w="med" len="med"/>
                      <a:tailEnd type="none" w="med" len="med"/>
                    </a:lnL>
                    <a:lnR w="12700" cap="flat" cmpd="sng" algn="ctr">
                      <a:solidFill>
                        <a:srgbClr val="C7C8CC"/>
                      </a:solidFill>
                      <a:prstDash val="solid"/>
                      <a:round/>
                      <a:headEnd type="none" w="med" len="med"/>
                      <a:tailEnd type="none" w="med" len="med"/>
                    </a:lnR>
                    <a:lnT w="12700" cap="flat" cmpd="sng" algn="ctr">
                      <a:solidFill>
                        <a:srgbClr val="C7C8CC"/>
                      </a:solidFill>
                      <a:prstDash val="solid"/>
                      <a:round/>
                      <a:headEnd type="none" w="med" len="med"/>
                      <a:tailEnd type="none" w="med" len="med"/>
                    </a:lnT>
                    <a:lnB w="12700" cap="flat" cmpd="sng" algn="ctr">
                      <a:solidFill>
                        <a:srgbClr val="C7C8CC"/>
                      </a:solidFill>
                      <a:prstDash val="solid"/>
                      <a:round/>
                      <a:headEnd type="none" w="med" len="med"/>
                      <a:tailEnd type="none" w="med" len="med"/>
                    </a:lnB>
                    <a:solidFill>
                      <a:schemeClr val="bg1"/>
                    </a:solidFill>
                  </a:tcPr>
                </a:tc>
                <a:tc>
                  <a:txBody>
                    <a:bodyPr/>
                    <a:lstStyle/>
                    <a:p>
                      <a:pPr marL="0" indent="0" algn="ctr">
                        <a:lnSpc>
                          <a:spcPts val="1540"/>
                        </a:lnSpc>
                        <a:buNone/>
                      </a:pPr>
                      <a:r>
                        <a:rPr lang="en-US" sz="1400" b="1" dirty="0">
                          <a:solidFill>
                            <a:srgbClr val="1A7F37"/>
                          </a:solidFill>
                          <a:latin typeface="Calibri" panose="020F0502020204030204" pitchFamily="34" charset="0"/>
                          <a:ea typeface="IBM Plex Sans" pitchFamily="34" charset="-122"/>
                          <a:cs typeface="Calibri" panose="020F0502020204030204" pitchFamily="34" charset="0"/>
                        </a:rPr>
                        <a:t>chosen</a:t>
                      </a:r>
                      <a:endParaRPr lang="en-US" sz="1400" b="1" dirty="0">
                        <a:latin typeface="Calibri" panose="020F0502020204030204" pitchFamily="34" charset="0"/>
                        <a:ea typeface="IBM Plex Sans" charset="0"/>
                        <a:cs typeface="Calibri" panose="020F0502020204030204" pitchFamily="34" charset="0"/>
                      </a:endParaRPr>
                    </a:p>
                  </a:txBody>
                  <a:tcPr marL="88900" marR="88900" marT="63500" marB="63500" anchor="ctr">
                    <a:lnL w="12700" cap="flat" cmpd="sng" algn="ctr">
                      <a:solidFill>
                        <a:srgbClr val="C7C8CC"/>
                      </a:solidFill>
                      <a:prstDash val="solid"/>
                      <a:round/>
                      <a:headEnd type="none" w="med" len="med"/>
                      <a:tailEnd type="none" w="med" len="med"/>
                    </a:lnL>
                    <a:lnR w="12700" cap="flat" cmpd="sng" algn="ctr">
                      <a:solidFill>
                        <a:srgbClr val="C7C8CC"/>
                      </a:solidFill>
                      <a:prstDash val="solid"/>
                      <a:round/>
                      <a:headEnd type="none" w="med" len="med"/>
                      <a:tailEnd type="none" w="med" len="med"/>
                    </a:lnR>
                    <a:lnT w="12700" cap="flat" cmpd="sng" algn="ctr">
                      <a:solidFill>
                        <a:srgbClr val="C7C8CC"/>
                      </a:solidFill>
                      <a:prstDash val="solid"/>
                      <a:round/>
                      <a:headEnd type="none" w="med" len="med"/>
                      <a:tailEnd type="none" w="med" len="med"/>
                    </a:lnT>
                    <a:lnB w="12700" cap="flat" cmpd="sng" algn="ctr">
                      <a:solidFill>
                        <a:srgbClr val="C7C8CC"/>
                      </a:solidFill>
                      <a:prstDash val="solid"/>
                      <a:round/>
                      <a:headEnd type="none" w="med" len="med"/>
                      <a:tailEnd type="none" w="med" len="med"/>
                    </a:lnB>
                    <a:solidFill>
                      <a:schemeClr val="bg1"/>
                    </a:solidFill>
                  </a:tcPr>
                </a:tc>
                <a:tc>
                  <a:txBody>
                    <a:bodyPr/>
                    <a:lstStyle/>
                    <a:p>
                      <a:pPr marL="0" indent="0">
                        <a:lnSpc>
                          <a:spcPts val="1540"/>
                        </a:lnSpc>
                        <a:buNone/>
                      </a:pPr>
                      <a:r>
                        <a:rPr lang="en-US" sz="1400" dirty="0">
                          <a:solidFill>
                            <a:srgbClr val="1F2A44"/>
                          </a:solidFill>
                          <a:latin typeface="Calibri" panose="020F0502020204030204" pitchFamily="34" charset="0"/>
                          <a:ea typeface="IBM Plex Sans" pitchFamily="34" charset="-122"/>
                          <a:cs typeface="Calibri" panose="020F0502020204030204" pitchFamily="34" charset="0"/>
                        </a:rPr>
                        <a:t>Fits our ~10K-image training set without the overfitting risk of a deeper net; residual connections (He et al., 2016) are proven for exactly this kind of transfer-learning task on white-cell images (Davamani, 2025; Gupta and Mishra, 2024). Trains to convergence in 8.4 minutes on one Colab T4. Best val accuracy 0.996-1.000 by epoch 4.</a:t>
                      </a:r>
                      <a:endParaRPr lang="en-US" sz="1400" dirty="0">
                        <a:latin typeface="Calibri" panose="020F0502020204030204" pitchFamily="34" charset="0"/>
                        <a:ea typeface="IBM Plex Sans" charset="0"/>
                        <a:cs typeface="Calibri" panose="020F0502020204030204" pitchFamily="34" charset="0"/>
                      </a:endParaRPr>
                    </a:p>
                  </a:txBody>
                  <a:tcPr marL="88900" marR="88900" marT="63500" marB="63500" anchor="ctr">
                    <a:lnL w="12700" cap="flat" cmpd="sng" algn="ctr">
                      <a:solidFill>
                        <a:srgbClr val="C7C8CC"/>
                      </a:solidFill>
                      <a:prstDash val="solid"/>
                      <a:round/>
                      <a:headEnd type="none" w="med" len="med"/>
                      <a:tailEnd type="none" w="med" len="med"/>
                    </a:lnL>
                    <a:lnR w="12700" cap="flat" cmpd="sng" algn="ctr">
                      <a:solidFill>
                        <a:srgbClr val="C7C8CC"/>
                      </a:solidFill>
                      <a:prstDash val="solid"/>
                      <a:round/>
                      <a:headEnd type="none" w="med" len="med"/>
                      <a:tailEnd type="none" w="med" len="med"/>
                    </a:lnR>
                    <a:lnT w="12700" cap="flat" cmpd="sng" algn="ctr">
                      <a:solidFill>
                        <a:srgbClr val="C7C8CC"/>
                      </a:solidFill>
                      <a:prstDash val="solid"/>
                      <a:round/>
                      <a:headEnd type="none" w="med" len="med"/>
                      <a:tailEnd type="none" w="med" len="med"/>
                    </a:lnT>
                    <a:lnB w="12700" cap="flat" cmpd="sng" algn="ctr">
                      <a:solidFill>
                        <a:srgbClr val="C7C8CC"/>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723900">
                <a:tc>
                  <a:txBody>
                    <a:bodyPr/>
                    <a:lstStyle/>
                    <a:p>
                      <a:pPr marL="0" indent="0">
                        <a:lnSpc>
                          <a:spcPts val="1540"/>
                        </a:lnSpc>
                        <a:buNone/>
                      </a:pPr>
                      <a:r>
                        <a:rPr lang="en-US" sz="1400" b="1" dirty="0">
                          <a:solidFill>
                            <a:srgbClr val="1F2A44"/>
                          </a:solidFill>
                          <a:latin typeface="Calibri" panose="020F0502020204030204" pitchFamily="34" charset="0"/>
                          <a:ea typeface="IBM Plex Sans" pitchFamily="34" charset="-122"/>
                          <a:cs typeface="Calibri" panose="020F0502020204030204" pitchFamily="34" charset="0"/>
                        </a:rPr>
                        <a:t>EfficientNet-B0</a:t>
                      </a:r>
                      <a:endParaRPr lang="en-US" sz="1400" b="1" dirty="0">
                        <a:latin typeface="Calibri" panose="020F0502020204030204" pitchFamily="34" charset="0"/>
                        <a:ea typeface="IBM Plex Sans" charset="0"/>
                        <a:cs typeface="Calibri" panose="020F0502020204030204" pitchFamily="34" charset="0"/>
                      </a:endParaRPr>
                    </a:p>
                  </a:txBody>
                  <a:tcPr marL="88900" marR="88900" marT="63500" marB="63500" anchor="ctr">
                    <a:lnL w="12700" cap="flat" cmpd="sng" algn="ctr">
                      <a:solidFill>
                        <a:srgbClr val="C7C8CC"/>
                      </a:solidFill>
                      <a:prstDash val="solid"/>
                      <a:round/>
                      <a:headEnd type="none" w="med" len="med"/>
                      <a:tailEnd type="none" w="med" len="med"/>
                    </a:lnL>
                    <a:lnR w="12700" cap="flat" cmpd="sng" algn="ctr">
                      <a:solidFill>
                        <a:srgbClr val="C7C8CC"/>
                      </a:solidFill>
                      <a:prstDash val="solid"/>
                      <a:round/>
                      <a:headEnd type="none" w="med" len="med"/>
                      <a:tailEnd type="none" w="med" len="med"/>
                    </a:lnR>
                    <a:lnT w="12700" cap="flat" cmpd="sng" algn="ctr">
                      <a:solidFill>
                        <a:srgbClr val="C7C8CC"/>
                      </a:solidFill>
                      <a:prstDash val="solid"/>
                      <a:round/>
                      <a:headEnd type="none" w="med" len="med"/>
                      <a:tailEnd type="none" w="med" len="med"/>
                    </a:lnT>
                    <a:lnB w="12700" cap="flat" cmpd="sng" algn="ctr">
                      <a:solidFill>
                        <a:srgbClr val="C7C8CC"/>
                      </a:solidFill>
                      <a:prstDash val="solid"/>
                      <a:round/>
                      <a:headEnd type="none" w="med" len="med"/>
                      <a:tailEnd type="none" w="med" len="med"/>
                    </a:lnB>
                    <a:solidFill>
                      <a:schemeClr val="bg1"/>
                    </a:solidFill>
                  </a:tcPr>
                </a:tc>
                <a:tc>
                  <a:txBody>
                    <a:bodyPr/>
                    <a:lstStyle/>
                    <a:p>
                      <a:pPr marL="0" indent="0" algn="ctr">
                        <a:lnSpc>
                          <a:spcPts val="1540"/>
                        </a:lnSpc>
                        <a:buNone/>
                      </a:pPr>
                      <a:r>
                        <a:rPr lang="en-US" sz="1400" dirty="0">
                          <a:solidFill>
                            <a:srgbClr val="1F2A44"/>
                          </a:solidFill>
                          <a:latin typeface="Calibri" panose="020F0502020204030204" pitchFamily="34" charset="0"/>
                          <a:ea typeface="IBM Plex Sans" pitchFamily="34" charset="-122"/>
                          <a:cs typeface="Calibri" panose="020F0502020204030204" pitchFamily="34" charset="0"/>
                        </a:rPr>
                        <a:t>~5.3M</a:t>
                      </a:r>
                      <a:endParaRPr lang="en-US" sz="1400" dirty="0">
                        <a:latin typeface="Calibri" panose="020F0502020204030204" pitchFamily="34" charset="0"/>
                        <a:ea typeface="IBM Plex Sans" charset="0"/>
                        <a:cs typeface="Calibri" panose="020F0502020204030204" pitchFamily="34" charset="0"/>
                      </a:endParaRPr>
                    </a:p>
                  </a:txBody>
                  <a:tcPr marL="88900" marR="88900" marT="63500" marB="63500" anchor="ctr">
                    <a:lnL w="12700" cap="flat" cmpd="sng" algn="ctr">
                      <a:solidFill>
                        <a:srgbClr val="C7C8CC"/>
                      </a:solidFill>
                      <a:prstDash val="solid"/>
                      <a:round/>
                      <a:headEnd type="none" w="med" len="med"/>
                      <a:tailEnd type="none" w="med" len="med"/>
                    </a:lnL>
                    <a:lnR w="12700" cap="flat" cmpd="sng" algn="ctr">
                      <a:solidFill>
                        <a:srgbClr val="C7C8CC"/>
                      </a:solidFill>
                      <a:prstDash val="solid"/>
                      <a:round/>
                      <a:headEnd type="none" w="med" len="med"/>
                      <a:tailEnd type="none" w="med" len="med"/>
                    </a:lnR>
                    <a:lnT w="12700" cap="flat" cmpd="sng" algn="ctr">
                      <a:solidFill>
                        <a:srgbClr val="C7C8CC"/>
                      </a:solidFill>
                      <a:prstDash val="solid"/>
                      <a:round/>
                      <a:headEnd type="none" w="med" len="med"/>
                      <a:tailEnd type="none" w="med" len="med"/>
                    </a:lnT>
                    <a:lnB w="12700" cap="flat" cmpd="sng" algn="ctr">
                      <a:solidFill>
                        <a:srgbClr val="C7C8CC"/>
                      </a:solidFill>
                      <a:prstDash val="solid"/>
                      <a:round/>
                      <a:headEnd type="none" w="med" len="med"/>
                      <a:tailEnd type="none" w="med" len="med"/>
                    </a:lnB>
                    <a:solidFill>
                      <a:schemeClr val="bg1"/>
                    </a:solidFill>
                  </a:tcPr>
                </a:tc>
                <a:tc>
                  <a:txBody>
                    <a:bodyPr/>
                    <a:lstStyle/>
                    <a:p>
                      <a:pPr marL="0" indent="0" algn="ctr">
                        <a:lnSpc>
                          <a:spcPts val="1540"/>
                        </a:lnSpc>
                        <a:buNone/>
                      </a:pPr>
                      <a:r>
                        <a:rPr lang="en-US" sz="1400" b="1" dirty="0">
                          <a:solidFill>
                            <a:schemeClr val="accent2"/>
                          </a:solidFill>
                          <a:latin typeface="Calibri" panose="020F0502020204030204" pitchFamily="34" charset="0"/>
                          <a:ea typeface="IBM Plex Sans" pitchFamily="34" charset="-122"/>
                          <a:cs typeface="Calibri" panose="020F0502020204030204" pitchFamily="34" charset="0"/>
                        </a:rPr>
                        <a:t>considered</a:t>
                      </a:r>
                      <a:endParaRPr lang="en-US" sz="1400" b="1" dirty="0">
                        <a:solidFill>
                          <a:schemeClr val="accent2"/>
                        </a:solidFill>
                        <a:latin typeface="Calibri" panose="020F0502020204030204" pitchFamily="34" charset="0"/>
                        <a:ea typeface="IBM Plex Sans" charset="0"/>
                        <a:cs typeface="Calibri" panose="020F0502020204030204" pitchFamily="34" charset="0"/>
                      </a:endParaRPr>
                    </a:p>
                  </a:txBody>
                  <a:tcPr marL="88900" marR="88900" marT="63500" marB="63500" anchor="ctr">
                    <a:lnL w="12700" cap="flat" cmpd="sng" algn="ctr">
                      <a:solidFill>
                        <a:srgbClr val="C7C8CC"/>
                      </a:solidFill>
                      <a:prstDash val="solid"/>
                      <a:round/>
                      <a:headEnd type="none" w="med" len="med"/>
                      <a:tailEnd type="none" w="med" len="med"/>
                    </a:lnL>
                    <a:lnR w="12700" cap="flat" cmpd="sng" algn="ctr">
                      <a:solidFill>
                        <a:srgbClr val="C7C8CC"/>
                      </a:solidFill>
                      <a:prstDash val="solid"/>
                      <a:round/>
                      <a:headEnd type="none" w="med" len="med"/>
                      <a:tailEnd type="none" w="med" len="med"/>
                    </a:lnR>
                    <a:lnT w="12700" cap="flat" cmpd="sng" algn="ctr">
                      <a:solidFill>
                        <a:srgbClr val="C7C8CC"/>
                      </a:solidFill>
                      <a:prstDash val="solid"/>
                      <a:round/>
                      <a:headEnd type="none" w="med" len="med"/>
                      <a:tailEnd type="none" w="med" len="med"/>
                    </a:lnT>
                    <a:lnB w="12700" cap="flat" cmpd="sng" algn="ctr">
                      <a:solidFill>
                        <a:srgbClr val="C7C8CC"/>
                      </a:solidFill>
                      <a:prstDash val="solid"/>
                      <a:round/>
                      <a:headEnd type="none" w="med" len="med"/>
                      <a:tailEnd type="none" w="med" len="med"/>
                    </a:lnB>
                    <a:solidFill>
                      <a:schemeClr val="bg1"/>
                    </a:solidFill>
                  </a:tcPr>
                </a:tc>
                <a:tc>
                  <a:txBody>
                    <a:bodyPr/>
                    <a:lstStyle/>
                    <a:p>
                      <a:pPr marL="0" indent="0">
                        <a:lnSpc>
                          <a:spcPts val="1540"/>
                        </a:lnSpc>
                        <a:buNone/>
                      </a:pPr>
                      <a:r>
                        <a:rPr lang="en-US" sz="1400" dirty="0">
                          <a:solidFill>
                            <a:srgbClr val="1F2A44"/>
                          </a:solidFill>
                          <a:latin typeface="Calibri" panose="020F0502020204030204" pitchFamily="34" charset="0"/>
                          <a:ea typeface="IBM Plex Sans" pitchFamily="34" charset="-122"/>
                          <a:cs typeface="Calibri" panose="020F0502020204030204" pitchFamily="34" charset="0"/>
                        </a:rPr>
                        <a:t>Lighter, mobile-oriented (Tan &amp; Le, 2019). Deprioritized: ResNet-50 already exceeds our 90% target with room to spare, so the extra tuning effort is not yet justified for this course project.</a:t>
                      </a:r>
                      <a:endParaRPr lang="en-US" sz="1400" dirty="0">
                        <a:latin typeface="Calibri" panose="020F0502020204030204" pitchFamily="34" charset="0"/>
                        <a:ea typeface="IBM Plex Sans" charset="0"/>
                        <a:cs typeface="Calibri" panose="020F0502020204030204" pitchFamily="34" charset="0"/>
                      </a:endParaRPr>
                    </a:p>
                  </a:txBody>
                  <a:tcPr marL="88900" marR="88900" marT="63500" marB="63500" anchor="ctr">
                    <a:lnL w="12700" cap="flat" cmpd="sng" algn="ctr">
                      <a:solidFill>
                        <a:srgbClr val="C7C8CC"/>
                      </a:solidFill>
                      <a:prstDash val="solid"/>
                      <a:round/>
                      <a:headEnd type="none" w="med" len="med"/>
                      <a:tailEnd type="none" w="med" len="med"/>
                    </a:lnL>
                    <a:lnR w="12700" cap="flat" cmpd="sng" algn="ctr">
                      <a:solidFill>
                        <a:srgbClr val="C7C8CC"/>
                      </a:solidFill>
                      <a:prstDash val="solid"/>
                      <a:round/>
                      <a:headEnd type="none" w="med" len="med"/>
                      <a:tailEnd type="none" w="med" len="med"/>
                    </a:lnR>
                    <a:lnT w="12700" cap="flat" cmpd="sng" algn="ctr">
                      <a:solidFill>
                        <a:srgbClr val="C7C8CC"/>
                      </a:solidFill>
                      <a:prstDash val="solid"/>
                      <a:round/>
                      <a:headEnd type="none" w="med" len="med"/>
                      <a:tailEnd type="none" w="med" len="med"/>
                    </a:lnT>
                    <a:lnB w="12700" cap="flat" cmpd="sng" algn="ctr">
                      <a:solidFill>
                        <a:srgbClr val="C7C8CC"/>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723900">
                <a:tc>
                  <a:txBody>
                    <a:bodyPr/>
                    <a:lstStyle/>
                    <a:p>
                      <a:pPr marL="0" indent="0">
                        <a:lnSpc>
                          <a:spcPts val="1540"/>
                        </a:lnSpc>
                        <a:buNone/>
                      </a:pPr>
                      <a:r>
                        <a:rPr lang="en-US" sz="1400" b="1" dirty="0">
                          <a:solidFill>
                            <a:srgbClr val="1F2A44"/>
                          </a:solidFill>
                          <a:latin typeface="Calibri" panose="020F0502020204030204" pitchFamily="34" charset="0"/>
                          <a:ea typeface="IBM Plex Sans" pitchFamily="34" charset="-122"/>
                          <a:cs typeface="Calibri" panose="020F0502020204030204" pitchFamily="34" charset="0"/>
                        </a:rPr>
                        <a:t>DenseNet-169</a:t>
                      </a:r>
                      <a:endParaRPr lang="en-US" sz="1400" b="1" dirty="0">
                        <a:latin typeface="Calibri" panose="020F0502020204030204" pitchFamily="34" charset="0"/>
                        <a:ea typeface="IBM Plex Sans" charset="0"/>
                        <a:cs typeface="Calibri" panose="020F0502020204030204" pitchFamily="34" charset="0"/>
                      </a:endParaRPr>
                    </a:p>
                  </a:txBody>
                  <a:tcPr marL="88900" marR="88900" marT="63500" marB="63500" anchor="ctr">
                    <a:lnL w="12700" cap="flat" cmpd="sng" algn="ctr">
                      <a:solidFill>
                        <a:srgbClr val="C7C8CC"/>
                      </a:solidFill>
                      <a:prstDash val="solid"/>
                      <a:round/>
                      <a:headEnd type="none" w="med" len="med"/>
                      <a:tailEnd type="none" w="med" len="med"/>
                    </a:lnL>
                    <a:lnR w="12700" cap="flat" cmpd="sng" algn="ctr">
                      <a:solidFill>
                        <a:srgbClr val="C7C8CC"/>
                      </a:solidFill>
                      <a:prstDash val="solid"/>
                      <a:round/>
                      <a:headEnd type="none" w="med" len="med"/>
                      <a:tailEnd type="none" w="med" len="med"/>
                    </a:lnR>
                    <a:lnT w="12700" cap="flat" cmpd="sng" algn="ctr">
                      <a:solidFill>
                        <a:srgbClr val="C7C8CC"/>
                      </a:solidFill>
                      <a:prstDash val="solid"/>
                      <a:round/>
                      <a:headEnd type="none" w="med" len="med"/>
                      <a:tailEnd type="none" w="med" len="med"/>
                    </a:lnT>
                    <a:lnB w="12700" cap="flat" cmpd="sng" algn="ctr">
                      <a:solidFill>
                        <a:srgbClr val="C7C8CC"/>
                      </a:solidFill>
                      <a:prstDash val="solid"/>
                      <a:round/>
                      <a:headEnd type="none" w="med" len="med"/>
                      <a:tailEnd type="none" w="med" len="med"/>
                    </a:lnB>
                    <a:solidFill>
                      <a:schemeClr val="bg1"/>
                    </a:solidFill>
                  </a:tcPr>
                </a:tc>
                <a:tc>
                  <a:txBody>
                    <a:bodyPr/>
                    <a:lstStyle/>
                    <a:p>
                      <a:pPr marL="0" indent="0" algn="ctr">
                        <a:lnSpc>
                          <a:spcPts val="1540"/>
                        </a:lnSpc>
                        <a:buNone/>
                      </a:pPr>
                      <a:r>
                        <a:rPr lang="en-US" sz="1400" dirty="0">
                          <a:solidFill>
                            <a:srgbClr val="1F2A44"/>
                          </a:solidFill>
                          <a:latin typeface="Calibri" panose="020F0502020204030204" pitchFamily="34" charset="0"/>
                          <a:ea typeface="IBM Plex Sans" pitchFamily="34" charset="-122"/>
                          <a:cs typeface="Calibri" panose="020F0502020204030204" pitchFamily="34" charset="0"/>
                        </a:rPr>
                        <a:t>~14.1M</a:t>
                      </a:r>
                      <a:endParaRPr lang="en-US" sz="1400" dirty="0">
                        <a:latin typeface="Calibri" panose="020F0502020204030204" pitchFamily="34" charset="0"/>
                        <a:ea typeface="IBM Plex Sans" charset="0"/>
                        <a:cs typeface="Calibri" panose="020F0502020204030204" pitchFamily="34" charset="0"/>
                      </a:endParaRPr>
                    </a:p>
                  </a:txBody>
                  <a:tcPr marL="88900" marR="88900" marT="63500" marB="63500" anchor="ctr">
                    <a:lnL w="12700" cap="flat" cmpd="sng" algn="ctr">
                      <a:solidFill>
                        <a:srgbClr val="C7C8CC"/>
                      </a:solidFill>
                      <a:prstDash val="solid"/>
                      <a:round/>
                      <a:headEnd type="none" w="med" len="med"/>
                      <a:tailEnd type="none" w="med" len="med"/>
                    </a:lnL>
                    <a:lnR w="12700" cap="flat" cmpd="sng" algn="ctr">
                      <a:solidFill>
                        <a:srgbClr val="C7C8CC"/>
                      </a:solidFill>
                      <a:prstDash val="solid"/>
                      <a:round/>
                      <a:headEnd type="none" w="med" len="med"/>
                      <a:tailEnd type="none" w="med" len="med"/>
                    </a:lnR>
                    <a:lnT w="12700" cap="flat" cmpd="sng" algn="ctr">
                      <a:solidFill>
                        <a:srgbClr val="C7C8CC"/>
                      </a:solidFill>
                      <a:prstDash val="solid"/>
                      <a:round/>
                      <a:headEnd type="none" w="med" len="med"/>
                      <a:tailEnd type="none" w="med" len="med"/>
                    </a:lnT>
                    <a:lnB w="12700" cap="flat" cmpd="sng" algn="ctr">
                      <a:solidFill>
                        <a:srgbClr val="C7C8CC"/>
                      </a:solidFill>
                      <a:prstDash val="solid"/>
                      <a:round/>
                      <a:headEnd type="none" w="med" len="med"/>
                      <a:tailEnd type="none" w="med" len="med"/>
                    </a:lnB>
                    <a:solidFill>
                      <a:schemeClr val="bg1"/>
                    </a:solidFill>
                  </a:tcPr>
                </a:tc>
                <a:tc>
                  <a:txBody>
                    <a:bodyPr/>
                    <a:lstStyle/>
                    <a:p>
                      <a:pPr marL="0" indent="0" algn="ctr">
                        <a:lnSpc>
                          <a:spcPts val="1540"/>
                        </a:lnSpc>
                        <a:buNone/>
                      </a:pPr>
                      <a:r>
                        <a:rPr lang="en-US" sz="1400" b="1" dirty="0">
                          <a:solidFill>
                            <a:schemeClr val="accent2"/>
                          </a:solidFill>
                          <a:latin typeface="Calibri" panose="020F0502020204030204" pitchFamily="34" charset="0"/>
                          <a:ea typeface="IBM Plex Sans" pitchFamily="34" charset="-122"/>
                          <a:cs typeface="Calibri" panose="020F0502020204030204" pitchFamily="34" charset="0"/>
                        </a:rPr>
                        <a:t>considered</a:t>
                      </a:r>
                      <a:endParaRPr lang="en-US" sz="1400" b="1" dirty="0">
                        <a:solidFill>
                          <a:schemeClr val="accent2"/>
                        </a:solidFill>
                        <a:latin typeface="Calibri" panose="020F0502020204030204" pitchFamily="34" charset="0"/>
                        <a:ea typeface="IBM Plex Sans" charset="0"/>
                        <a:cs typeface="Calibri" panose="020F0502020204030204" pitchFamily="34" charset="0"/>
                      </a:endParaRPr>
                    </a:p>
                  </a:txBody>
                  <a:tcPr marL="88900" marR="88900" marT="63500" marB="63500" anchor="ctr">
                    <a:lnL w="12700" cap="flat" cmpd="sng" algn="ctr">
                      <a:solidFill>
                        <a:srgbClr val="C7C8CC"/>
                      </a:solidFill>
                      <a:prstDash val="solid"/>
                      <a:round/>
                      <a:headEnd type="none" w="med" len="med"/>
                      <a:tailEnd type="none" w="med" len="med"/>
                    </a:lnL>
                    <a:lnR w="12700" cap="flat" cmpd="sng" algn="ctr">
                      <a:solidFill>
                        <a:srgbClr val="C7C8CC"/>
                      </a:solidFill>
                      <a:prstDash val="solid"/>
                      <a:round/>
                      <a:headEnd type="none" w="med" len="med"/>
                      <a:tailEnd type="none" w="med" len="med"/>
                    </a:lnR>
                    <a:lnT w="12700" cap="flat" cmpd="sng" algn="ctr">
                      <a:solidFill>
                        <a:srgbClr val="C7C8CC"/>
                      </a:solidFill>
                      <a:prstDash val="solid"/>
                      <a:round/>
                      <a:headEnd type="none" w="med" len="med"/>
                      <a:tailEnd type="none" w="med" len="med"/>
                    </a:lnT>
                    <a:lnB w="12700" cap="flat" cmpd="sng" algn="ctr">
                      <a:solidFill>
                        <a:srgbClr val="C7C8CC"/>
                      </a:solidFill>
                      <a:prstDash val="solid"/>
                      <a:round/>
                      <a:headEnd type="none" w="med" len="med"/>
                      <a:tailEnd type="none" w="med" len="med"/>
                    </a:lnB>
                    <a:solidFill>
                      <a:schemeClr val="bg1"/>
                    </a:solidFill>
                  </a:tcPr>
                </a:tc>
                <a:tc>
                  <a:txBody>
                    <a:bodyPr/>
                    <a:lstStyle/>
                    <a:p>
                      <a:pPr marL="0" indent="0">
                        <a:lnSpc>
                          <a:spcPts val="1540"/>
                        </a:lnSpc>
                        <a:buNone/>
                      </a:pPr>
                      <a:r>
                        <a:rPr lang="en-US" sz="1400" dirty="0">
                          <a:solidFill>
                            <a:srgbClr val="1F2A44"/>
                          </a:solidFill>
                          <a:latin typeface="Calibri" panose="020F0502020204030204" pitchFamily="34" charset="0"/>
                          <a:ea typeface="IBM Plex Sans" pitchFamily="34" charset="-122"/>
                          <a:cs typeface="Calibri" panose="020F0502020204030204" pitchFamily="34" charset="0"/>
                        </a:rPr>
                        <a:t>Dense connections aid feature reuse (Huang et al., 2017). Deprioritized: similar accuracy expected to ResNet-50 on this task, at a smaller but still nontrivial GPU-time cost, without a clear benefit for a 4-class, single-cell problem.</a:t>
                      </a:r>
                      <a:endParaRPr lang="en-US" sz="1400" dirty="0">
                        <a:latin typeface="Calibri" panose="020F0502020204030204" pitchFamily="34" charset="0"/>
                        <a:ea typeface="IBM Plex Sans" charset="0"/>
                        <a:cs typeface="Calibri" panose="020F0502020204030204" pitchFamily="34" charset="0"/>
                      </a:endParaRPr>
                    </a:p>
                  </a:txBody>
                  <a:tcPr marL="88900" marR="88900" marT="63500" marB="63500" anchor="ctr">
                    <a:lnL w="12700" cap="flat" cmpd="sng" algn="ctr">
                      <a:solidFill>
                        <a:srgbClr val="C7C8CC"/>
                      </a:solidFill>
                      <a:prstDash val="solid"/>
                      <a:round/>
                      <a:headEnd type="none" w="med" len="med"/>
                      <a:tailEnd type="none" w="med" len="med"/>
                    </a:lnL>
                    <a:lnR w="12700" cap="flat" cmpd="sng" algn="ctr">
                      <a:solidFill>
                        <a:srgbClr val="C7C8CC"/>
                      </a:solidFill>
                      <a:prstDash val="solid"/>
                      <a:round/>
                      <a:headEnd type="none" w="med" len="med"/>
                      <a:tailEnd type="none" w="med" len="med"/>
                    </a:lnR>
                    <a:lnT w="12700" cap="flat" cmpd="sng" algn="ctr">
                      <a:solidFill>
                        <a:srgbClr val="C7C8CC"/>
                      </a:solidFill>
                      <a:prstDash val="solid"/>
                      <a:round/>
                      <a:headEnd type="none" w="med" len="med"/>
                      <a:tailEnd type="none" w="med" len="med"/>
                    </a:lnT>
                    <a:lnB w="12700" cap="flat" cmpd="sng" algn="ctr">
                      <a:solidFill>
                        <a:srgbClr val="C7C8CC"/>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4" name="Shape 1"/>
          <p:cNvSpPr/>
          <p:nvPr/>
        </p:nvSpPr>
        <p:spPr>
          <a:xfrm>
            <a:off x="812800" y="5427134"/>
            <a:ext cx="10566400" cy="618067"/>
          </a:xfrm>
          <a:prstGeom prst="roundRect">
            <a:avLst>
              <a:gd name="adj" fmla="val 14384"/>
            </a:avLst>
          </a:prstGeom>
          <a:solidFill>
            <a:srgbClr val="4B206B"/>
          </a:solidFill>
          <a:ln/>
        </p:spPr>
        <p:txBody>
          <a:bodyPr anchor="ctr"/>
          <a:lstStyle/>
          <a:p>
            <a:pPr>
              <a:lnSpc>
                <a:spcPts val="1540"/>
              </a:lnSpc>
            </a:pPr>
            <a:r>
              <a:rPr lang="en-US" sz="1600" dirty="0">
                <a:solidFill>
                  <a:srgbClr val="F4F0FA"/>
                </a:solidFill>
                <a:ea typeface="IBM Plex Sans" pitchFamily="34" charset="-122"/>
                <a:cs typeface="IBM Plex Sans" pitchFamily="34" charset="-120"/>
              </a:rPr>
              <a:t>Architecture is finalized as ResNet-50. Benchmarking EfficientNet-B0 and DenseNet-169 under an identical training budget is planned for the post-midterm ablation phase, not blind selection now.</a:t>
            </a:r>
            <a:endParaRPr lang="en-US" sz="1600" dirty="0"/>
          </a:p>
        </p:txBody>
      </p:sp>
      <p:sp>
        <p:nvSpPr>
          <p:cNvPr id="9" name="Text 16">
            <a:extLst>
              <a:ext uri="{FF2B5EF4-FFF2-40B4-BE49-F238E27FC236}">
                <a16:creationId xmlns:a16="http://schemas.microsoft.com/office/drawing/2014/main" id="{B1EFEA04-7807-9292-E461-1B1EA80D8749}"/>
              </a:ext>
            </a:extLst>
          </p:cNvPr>
          <p:cNvSpPr/>
          <p:nvPr/>
        </p:nvSpPr>
        <p:spPr>
          <a:xfrm>
            <a:off x="10931309" y="6408137"/>
            <a:ext cx="597319" cy="220133"/>
          </a:xfrm>
          <a:prstGeom prst="rect">
            <a:avLst/>
          </a:prstGeom>
          <a:noFill/>
          <a:ln/>
        </p:spPr>
        <p:txBody>
          <a:bodyPr wrap="square" lIns="0" tIns="0" rIns="0" bIns="0" rtlCol="0" anchor="ctr">
            <a:normAutofit/>
          </a:bodyPr>
          <a:lstStyle/>
          <a:p>
            <a:pPr marL="0" indent="0" algn="ctr">
              <a:lnSpc>
                <a:spcPts val="1540"/>
              </a:lnSpc>
              <a:buNone/>
            </a:pPr>
            <a:r>
              <a:rPr lang="en-US" sz="1100" b="1" dirty="0">
                <a:latin typeface="Calibri" panose="020F0502020204030204" pitchFamily="34" charset="0"/>
                <a:cs typeface="Calibri" panose="020F0502020204030204" pitchFamily="34" charset="0"/>
              </a:rPr>
              <a:t>Slide 6</a:t>
            </a:r>
          </a:p>
        </p:txBody>
      </p:sp>
      <p:sp>
        <p:nvSpPr>
          <p:cNvPr id="5" name="Text 15">
            <a:extLst>
              <a:ext uri="{FF2B5EF4-FFF2-40B4-BE49-F238E27FC236}">
                <a16:creationId xmlns:a16="http://schemas.microsoft.com/office/drawing/2014/main" id="{E64ADEA1-339D-D706-7938-D017C2DC4045}"/>
              </a:ext>
            </a:extLst>
          </p:cNvPr>
          <p:cNvSpPr/>
          <p:nvPr/>
        </p:nvSpPr>
        <p:spPr>
          <a:xfrm>
            <a:off x="601785" y="6405034"/>
            <a:ext cx="3779297" cy="220133"/>
          </a:xfrm>
          <a:prstGeom prst="rect">
            <a:avLst/>
          </a:prstGeom>
          <a:noFill/>
          <a:ln/>
        </p:spPr>
        <p:txBody>
          <a:bodyPr wrap="square" lIns="0" tIns="0" rIns="0" bIns="0" rtlCol="0" anchor="t">
            <a:normAutofit/>
          </a:bodyPr>
          <a:lstStyle/>
          <a:p>
            <a:pPr marL="0" indent="0" algn="ctr">
              <a:lnSpc>
                <a:spcPts val="1540"/>
              </a:lnSpc>
              <a:buNone/>
            </a:pPr>
            <a:r>
              <a:rPr lang="en-US" sz="900" dirty="0">
                <a:ea typeface="IBM Plex Sans" pitchFamily="34" charset="-122"/>
                <a:cs typeface="IBM Plex Sans" pitchFamily="34" charset="-120"/>
              </a:rPr>
              <a:t>White blood cell classification – CSCI 7090 – Group 4</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4">
    <p:bg>
      <p:bgPr>
        <a:solidFill>
          <a:srgbClr val="FCFCF6"/>
        </a:solidFill>
        <a:effectLst/>
      </p:bgPr>
    </p:bg>
    <p:spTree>
      <p:nvGrpSpPr>
        <p:cNvPr id="1" name=""/>
        <p:cNvGrpSpPr/>
        <p:nvPr/>
      </p:nvGrpSpPr>
      <p:grpSpPr>
        <a:xfrm>
          <a:off x="0" y="0"/>
          <a:ext cx="0" cy="0"/>
          <a:chOff x="0" y="0"/>
          <a:chExt cx="0" cy="0"/>
        </a:xfrm>
      </p:grpSpPr>
      <p:sp>
        <p:nvSpPr>
          <p:cNvPr id="2" name="Text 0"/>
          <p:cNvSpPr/>
          <p:nvPr/>
        </p:nvSpPr>
        <p:spPr>
          <a:xfrm>
            <a:off x="654303" y="507958"/>
            <a:ext cx="10883392" cy="601132"/>
          </a:xfrm>
          <a:prstGeom prst="rect">
            <a:avLst/>
          </a:prstGeom>
          <a:noFill/>
          <a:ln/>
        </p:spPr>
        <p:txBody>
          <a:bodyPr wrap="square" lIns="0" tIns="0" rIns="0" bIns="0" rtlCol="0" anchor="ctr">
            <a:normAutofit/>
          </a:bodyPr>
          <a:lstStyle/>
          <a:p>
            <a:pPr marL="0" indent="0" algn="ctr">
              <a:lnSpc>
                <a:spcPts val="2970"/>
              </a:lnSpc>
              <a:buNone/>
            </a:pPr>
            <a:r>
              <a:rPr lang="en-US" sz="3600" b="1" dirty="0">
                <a:solidFill>
                  <a:srgbClr val="4B206B"/>
                </a:solidFill>
                <a:latin typeface="Calibri" panose="020F0502020204030204" pitchFamily="34" charset="0"/>
                <a:ea typeface="EB Garamond" pitchFamily="34" charset="-122"/>
                <a:cs typeface="Calibri" panose="020F0502020204030204" pitchFamily="34" charset="0"/>
              </a:rPr>
              <a:t>Implementation: Head replacement, then fine-tune</a:t>
            </a:r>
            <a:endParaRPr lang="en-US" sz="3600" b="1" dirty="0">
              <a:solidFill>
                <a:srgbClr val="4B206B"/>
              </a:solidFill>
              <a:latin typeface="Calibri" panose="020F0502020204030204" pitchFamily="34" charset="0"/>
              <a:cs typeface="Calibri" panose="020F0502020204030204" pitchFamily="34" charset="0"/>
            </a:endParaRPr>
          </a:p>
        </p:txBody>
      </p:sp>
      <p:sp>
        <p:nvSpPr>
          <p:cNvPr id="3" name="Shape 1"/>
          <p:cNvSpPr/>
          <p:nvPr/>
        </p:nvSpPr>
        <p:spPr>
          <a:xfrm>
            <a:off x="3066593" y="1313717"/>
            <a:ext cx="6058813" cy="2413421"/>
          </a:xfrm>
          <a:prstGeom prst="roundRect">
            <a:avLst>
              <a:gd name="adj" fmla="val 3777"/>
            </a:avLst>
          </a:prstGeom>
          <a:solidFill>
            <a:srgbClr val="BA90DC">
              <a:alpha val="12157"/>
            </a:srgbClr>
          </a:solidFill>
          <a:ln w="28575">
            <a:solidFill>
              <a:srgbClr val="4B206B"/>
            </a:solidFill>
          </a:ln>
        </p:spPr>
        <p:txBody>
          <a:bodyPr anchor="ctr"/>
          <a:lstStyle/>
          <a:p>
            <a:pPr>
              <a:lnSpc>
                <a:spcPts val="1473"/>
              </a:lnSpc>
            </a:pPr>
            <a:r>
              <a:rPr lang="en-US" sz="1200" b="1" dirty="0">
                <a:latin typeface="Consolas" panose="020B0609020204030204" pitchFamily="49" charset="0"/>
                <a:ea typeface="IBM Plex Mono" pitchFamily="34" charset="-122"/>
                <a:cs typeface="Consolas" panose="020B0609020204030204" pitchFamily="49" charset="0"/>
              </a:rPr>
              <a:t>def</a:t>
            </a:r>
            <a:r>
              <a:rPr lang="en-US" sz="1200" dirty="0">
                <a:latin typeface="Consolas" panose="020B0609020204030204" pitchFamily="49" charset="0"/>
                <a:ea typeface="IBM Plex Mono" pitchFamily="34" charset="-122"/>
                <a:cs typeface="Consolas" panose="020B0609020204030204" pitchFamily="49" charset="0"/>
              </a:rPr>
              <a:t> </a:t>
            </a:r>
            <a:r>
              <a:rPr lang="en-US" sz="1200" dirty="0" err="1">
                <a:latin typeface="Consolas" panose="020B0609020204030204" pitchFamily="49" charset="0"/>
                <a:ea typeface="IBM Plex Mono" pitchFamily="34" charset="-122"/>
                <a:cs typeface="Consolas" panose="020B0609020204030204" pitchFamily="49" charset="0"/>
              </a:rPr>
              <a:t>build_model</a:t>
            </a:r>
            <a:r>
              <a:rPr lang="en-US" sz="1200" dirty="0">
                <a:latin typeface="Consolas" panose="020B0609020204030204" pitchFamily="49" charset="0"/>
                <a:ea typeface="IBM Plex Mono" pitchFamily="34" charset="-122"/>
                <a:cs typeface="Consolas" panose="020B0609020204030204" pitchFamily="49" charset="0"/>
              </a:rPr>
              <a:t>(name, </a:t>
            </a:r>
            <a:r>
              <a:rPr lang="en-US" sz="1200" dirty="0" err="1">
                <a:latin typeface="Consolas" panose="020B0609020204030204" pitchFamily="49" charset="0"/>
                <a:ea typeface="IBM Plex Mono" pitchFamily="34" charset="-122"/>
                <a:cs typeface="Consolas" panose="020B0609020204030204" pitchFamily="49" charset="0"/>
              </a:rPr>
              <a:t>num_classes</a:t>
            </a:r>
            <a:r>
              <a:rPr lang="en-US" sz="1200" dirty="0">
                <a:latin typeface="Consolas" panose="020B0609020204030204" pitchFamily="49" charset="0"/>
                <a:ea typeface="IBM Plex Mono" pitchFamily="34" charset="-122"/>
                <a:cs typeface="Consolas" panose="020B0609020204030204" pitchFamily="49" charset="0"/>
              </a:rPr>
              <a:t>, pretrained=True):</a:t>
            </a:r>
          </a:p>
          <a:p>
            <a:pPr>
              <a:lnSpc>
                <a:spcPts val="1473"/>
              </a:lnSpc>
            </a:pPr>
            <a:r>
              <a:rPr lang="en-US" sz="1200" b="1" dirty="0">
                <a:latin typeface="Consolas" panose="020B0609020204030204" pitchFamily="49" charset="0"/>
                <a:ea typeface="IBM Plex Mono" pitchFamily="34" charset="-122"/>
                <a:cs typeface="Consolas" panose="020B0609020204030204" pitchFamily="49" charset="0"/>
              </a:rPr>
              <a:t>if</a:t>
            </a:r>
            <a:r>
              <a:rPr lang="en-US" sz="1200" dirty="0">
                <a:latin typeface="Consolas" panose="020B0609020204030204" pitchFamily="49" charset="0"/>
                <a:ea typeface="IBM Plex Mono" pitchFamily="34" charset="-122"/>
                <a:cs typeface="Consolas" panose="020B0609020204030204" pitchFamily="49" charset="0"/>
              </a:rPr>
              <a:t> name == "resnet50":</a:t>
            </a:r>
          </a:p>
          <a:p>
            <a:pPr>
              <a:lnSpc>
                <a:spcPts val="1473"/>
              </a:lnSpc>
            </a:pPr>
            <a:r>
              <a:rPr lang="en-US" sz="1200" dirty="0">
                <a:latin typeface="Consolas" panose="020B0609020204030204" pitchFamily="49" charset="0"/>
                <a:ea typeface="IBM Plex Mono" pitchFamily="34" charset="-122"/>
                <a:cs typeface="Consolas" panose="020B0609020204030204" pitchFamily="49" charset="0"/>
              </a:rPr>
              <a:t>weights = ResNet50_Weights.IMAGENET1K_V2 </a:t>
            </a:r>
            <a:r>
              <a:rPr lang="en-US" sz="1200" b="1" dirty="0">
                <a:latin typeface="Consolas" panose="020B0609020204030204" pitchFamily="49" charset="0"/>
                <a:ea typeface="IBM Plex Mono" pitchFamily="34" charset="-122"/>
                <a:cs typeface="Consolas" panose="020B0609020204030204" pitchFamily="49" charset="0"/>
              </a:rPr>
              <a:t>if</a:t>
            </a:r>
            <a:r>
              <a:rPr lang="en-US" sz="1200" dirty="0">
                <a:latin typeface="Consolas" panose="020B0609020204030204" pitchFamily="49" charset="0"/>
                <a:ea typeface="IBM Plex Mono" pitchFamily="34" charset="-122"/>
                <a:cs typeface="Consolas" panose="020B0609020204030204" pitchFamily="49" charset="0"/>
              </a:rPr>
              <a:t> pretrained </a:t>
            </a:r>
            <a:r>
              <a:rPr lang="en-US" sz="1200" b="1" dirty="0">
                <a:latin typeface="Consolas" panose="020B0609020204030204" pitchFamily="49" charset="0"/>
                <a:ea typeface="IBM Plex Mono" pitchFamily="34" charset="-122"/>
                <a:cs typeface="Consolas" panose="020B0609020204030204" pitchFamily="49" charset="0"/>
              </a:rPr>
              <a:t>else</a:t>
            </a:r>
            <a:r>
              <a:rPr lang="en-US" sz="1200" dirty="0">
                <a:latin typeface="Consolas" panose="020B0609020204030204" pitchFamily="49" charset="0"/>
                <a:ea typeface="IBM Plex Mono" pitchFamily="34" charset="-122"/>
                <a:cs typeface="Consolas" panose="020B0609020204030204" pitchFamily="49" charset="0"/>
              </a:rPr>
              <a:t> None</a:t>
            </a:r>
          </a:p>
          <a:p>
            <a:pPr>
              <a:lnSpc>
                <a:spcPts val="1473"/>
              </a:lnSpc>
            </a:pPr>
            <a:r>
              <a:rPr lang="en-US" sz="1200" dirty="0">
                <a:latin typeface="Consolas" panose="020B0609020204030204" pitchFamily="49" charset="0"/>
                <a:ea typeface="IBM Plex Mono" pitchFamily="34" charset="-122"/>
                <a:cs typeface="Consolas" panose="020B0609020204030204" pitchFamily="49" charset="0"/>
              </a:rPr>
              <a:t>model = resnet50(weights=weights)</a:t>
            </a:r>
          </a:p>
          <a:p>
            <a:pPr>
              <a:lnSpc>
                <a:spcPts val="1473"/>
              </a:lnSpc>
            </a:pPr>
            <a:r>
              <a:rPr lang="en-US" sz="1200" dirty="0" err="1">
                <a:latin typeface="Consolas" panose="020B0609020204030204" pitchFamily="49" charset="0"/>
                <a:ea typeface="IBM Plex Mono" pitchFamily="34" charset="-122"/>
                <a:cs typeface="Consolas" panose="020B0609020204030204" pitchFamily="49" charset="0"/>
              </a:rPr>
              <a:t>model.fc</a:t>
            </a:r>
            <a:r>
              <a:rPr lang="en-US" sz="1200" dirty="0">
                <a:latin typeface="Consolas" panose="020B0609020204030204" pitchFamily="49" charset="0"/>
                <a:ea typeface="IBM Plex Mono" pitchFamily="34" charset="-122"/>
                <a:cs typeface="Consolas" panose="020B0609020204030204" pitchFamily="49" charset="0"/>
              </a:rPr>
              <a:t> = </a:t>
            </a:r>
            <a:r>
              <a:rPr lang="en-US" sz="1200" dirty="0" err="1">
                <a:latin typeface="Consolas" panose="020B0609020204030204" pitchFamily="49" charset="0"/>
                <a:ea typeface="IBM Plex Mono" pitchFamily="34" charset="-122"/>
                <a:cs typeface="Consolas" panose="020B0609020204030204" pitchFamily="49" charset="0"/>
              </a:rPr>
              <a:t>nn.Linear</a:t>
            </a:r>
            <a:r>
              <a:rPr lang="en-US" sz="1200" dirty="0">
                <a:latin typeface="Consolas" panose="020B0609020204030204" pitchFamily="49" charset="0"/>
                <a:ea typeface="IBM Plex Mono" pitchFamily="34" charset="-122"/>
                <a:cs typeface="Consolas" panose="020B0609020204030204" pitchFamily="49" charset="0"/>
              </a:rPr>
              <a:t>(</a:t>
            </a:r>
            <a:r>
              <a:rPr lang="en-US" sz="1200" dirty="0" err="1">
                <a:latin typeface="Consolas" panose="020B0609020204030204" pitchFamily="49" charset="0"/>
                <a:ea typeface="IBM Plex Mono" pitchFamily="34" charset="-122"/>
                <a:cs typeface="Consolas" panose="020B0609020204030204" pitchFamily="49" charset="0"/>
              </a:rPr>
              <a:t>model.fc.in_features</a:t>
            </a:r>
            <a:r>
              <a:rPr lang="en-US" sz="1200" dirty="0">
                <a:latin typeface="Consolas" panose="020B0609020204030204" pitchFamily="49" charset="0"/>
                <a:ea typeface="IBM Plex Mono" pitchFamily="34" charset="-122"/>
                <a:cs typeface="Consolas" panose="020B0609020204030204" pitchFamily="49" charset="0"/>
              </a:rPr>
              <a:t>, </a:t>
            </a:r>
            <a:r>
              <a:rPr lang="en-US" sz="1200" dirty="0" err="1">
                <a:latin typeface="Consolas" panose="020B0609020204030204" pitchFamily="49" charset="0"/>
                <a:ea typeface="IBM Plex Mono" pitchFamily="34" charset="-122"/>
                <a:cs typeface="Consolas" panose="020B0609020204030204" pitchFamily="49" charset="0"/>
              </a:rPr>
              <a:t>num_classes</a:t>
            </a:r>
            <a:r>
              <a:rPr lang="en-US" sz="1200" dirty="0">
                <a:latin typeface="Consolas" panose="020B0609020204030204" pitchFamily="49" charset="0"/>
                <a:ea typeface="IBM Plex Mono" pitchFamily="34" charset="-122"/>
                <a:cs typeface="Consolas" panose="020B0609020204030204" pitchFamily="49" charset="0"/>
              </a:rPr>
              <a:t>)</a:t>
            </a:r>
            <a:endParaRPr lang="en-US" sz="1200" dirty="0">
              <a:latin typeface="Consolas" panose="020B0609020204030204" pitchFamily="49" charset="0"/>
              <a:cs typeface="Consolas" panose="020B0609020204030204" pitchFamily="49" charset="0"/>
            </a:endParaRPr>
          </a:p>
          <a:p>
            <a:pPr>
              <a:lnSpc>
                <a:spcPts val="1473"/>
              </a:lnSpc>
            </a:pPr>
            <a:r>
              <a:rPr lang="en-US" sz="1200" b="1" dirty="0">
                <a:latin typeface="Consolas" panose="020B0609020204030204" pitchFamily="49" charset="0"/>
                <a:ea typeface="IBM Plex Mono" pitchFamily="34" charset="-122"/>
                <a:cs typeface="Consolas" panose="020B0609020204030204" pitchFamily="49" charset="0"/>
              </a:rPr>
              <a:t>return</a:t>
            </a:r>
            <a:r>
              <a:rPr lang="en-US" sz="1200" dirty="0">
                <a:latin typeface="Consolas" panose="020B0609020204030204" pitchFamily="49" charset="0"/>
                <a:ea typeface="IBM Plex Mono" pitchFamily="34" charset="-122"/>
                <a:cs typeface="Consolas" panose="020B0609020204030204" pitchFamily="49" charset="0"/>
              </a:rPr>
              <a:t> model</a:t>
            </a:r>
          </a:p>
          <a:p>
            <a:pPr>
              <a:lnSpc>
                <a:spcPts val="1473"/>
              </a:lnSpc>
            </a:pPr>
            <a:endParaRPr lang="en-US" sz="1200" dirty="0">
              <a:latin typeface="Consolas" panose="020B0609020204030204" pitchFamily="49" charset="0"/>
              <a:ea typeface="IBM Plex Mono" pitchFamily="34" charset="-122"/>
              <a:cs typeface="Consolas" panose="020B0609020204030204" pitchFamily="49" charset="0"/>
            </a:endParaRPr>
          </a:p>
          <a:p>
            <a:pPr>
              <a:lnSpc>
                <a:spcPts val="1473"/>
              </a:lnSpc>
            </a:pPr>
            <a:r>
              <a:rPr lang="en-US" sz="1200" b="1" dirty="0">
                <a:latin typeface="Consolas" panose="020B0609020204030204" pitchFamily="49" charset="0"/>
                <a:ea typeface="IBM Plex Mono" pitchFamily="34" charset="-122"/>
                <a:cs typeface="Consolas" panose="020B0609020204030204" pitchFamily="49" charset="0"/>
              </a:rPr>
              <a:t>def</a:t>
            </a:r>
            <a:r>
              <a:rPr lang="en-US" sz="1200" dirty="0">
                <a:latin typeface="Consolas" panose="020B0609020204030204" pitchFamily="49" charset="0"/>
                <a:ea typeface="IBM Plex Mono" pitchFamily="34" charset="-122"/>
                <a:cs typeface="Consolas" panose="020B0609020204030204" pitchFamily="49" charset="0"/>
              </a:rPr>
              <a:t> </a:t>
            </a:r>
            <a:r>
              <a:rPr lang="en-US" sz="1200" dirty="0" err="1">
                <a:latin typeface="Consolas" panose="020B0609020204030204" pitchFamily="49" charset="0"/>
                <a:ea typeface="IBM Plex Mono" pitchFamily="34" charset="-122"/>
                <a:cs typeface="Consolas" panose="020B0609020204030204" pitchFamily="49" charset="0"/>
              </a:rPr>
              <a:t>set_backbone_trainable</a:t>
            </a:r>
            <a:r>
              <a:rPr lang="en-US" sz="1200" dirty="0">
                <a:latin typeface="Consolas" panose="020B0609020204030204" pitchFamily="49" charset="0"/>
                <a:ea typeface="IBM Plex Mono" pitchFamily="34" charset="-122"/>
                <a:cs typeface="Consolas" panose="020B0609020204030204" pitchFamily="49" charset="0"/>
              </a:rPr>
              <a:t>(model, trainable):</a:t>
            </a:r>
          </a:p>
          <a:p>
            <a:pPr>
              <a:lnSpc>
                <a:spcPts val="1473"/>
              </a:lnSpc>
            </a:pPr>
            <a:r>
              <a:rPr lang="en-US" sz="1200" b="1" dirty="0">
                <a:latin typeface="Consolas" panose="020B0609020204030204" pitchFamily="49" charset="0"/>
                <a:ea typeface="IBM Plex Mono" pitchFamily="34" charset="-122"/>
                <a:cs typeface="Consolas" panose="020B0609020204030204" pitchFamily="49" charset="0"/>
              </a:rPr>
              <a:t>for</a:t>
            </a:r>
            <a:r>
              <a:rPr lang="en-US" sz="1200" dirty="0">
                <a:latin typeface="Consolas" panose="020B0609020204030204" pitchFamily="49" charset="0"/>
                <a:ea typeface="IBM Plex Mono" pitchFamily="34" charset="-122"/>
                <a:cs typeface="Consolas" panose="020B0609020204030204" pitchFamily="49" charset="0"/>
              </a:rPr>
              <a:t> name, p </a:t>
            </a:r>
            <a:r>
              <a:rPr lang="en-US" sz="1200" b="1" dirty="0">
                <a:latin typeface="Consolas" panose="020B0609020204030204" pitchFamily="49" charset="0"/>
                <a:ea typeface="IBM Plex Mono" pitchFamily="34" charset="-122"/>
                <a:cs typeface="Consolas" panose="020B0609020204030204" pitchFamily="49" charset="0"/>
              </a:rPr>
              <a:t>in</a:t>
            </a:r>
            <a:r>
              <a:rPr lang="en-US" sz="1200" dirty="0">
                <a:latin typeface="Consolas" panose="020B0609020204030204" pitchFamily="49" charset="0"/>
                <a:ea typeface="IBM Plex Mono" pitchFamily="34" charset="-122"/>
                <a:cs typeface="Consolas" panose="020B0609020204030204" pitchFamily="49" charset="0"/>
              </a:rPr>
              <a:t> </a:t>
            </a:r>
            <a:r>
              <a:rPr lang="en-US" sz="1200" dirty="0" err="1">
                <a:latin typeface="Consolas" panose="020B0609020204030204" pitchFamily="49" charset="0"/>
                <a:ea typeface="IBM Plex Mono" pitchFamily="34" charset="-122"/>
                <a:cs typeface="Consolas" panose="020B0609020204030204" pitchFamily="49" charset="0"/>
              </a:rPr>
              <a:t>model.named_parameters</a:t>
            </a:r>
            <a:r>
              <a:rPr lang="en-US" sz="1200" dirty="0">
                <a:latin typeface="Consolas" panose="020B0609020204030204" pitchFamily="49" charset="0"/>
                <a:ea typeface="IBM Plex Mono" pitchFamily="34" charset="-122"/>
                <a:cs typeface="Consolas" panose="020B0609020204030204" pitchFamily="49" charset="0"/>
              </a:rPr>
              <a:t>():</a:t>
            </a:r>
            <a:endParaRPr lang="en-US" sz="1200" dirty="0">
              <a:latin typeface="Consolas" panose="020B0609020204030204" pitchFamily="49" charset="0"/>
              <a:cs typeface="Consolas" panose="020B0609020204030204" pitchFamily="49" charset="0"/>
            </a:endParaRPr>
          </a:p>
          <a:p>
            <a:pPr>
              <a:lnSpc>
                <a:spcPts val="1473"/>
              </a:lnSpc>
            </a:pPr>
            <a:r>
              <a:rPr lang="en-US" sz="1200" dirty="0" err="1">
                <a:latin typeface="Consolas" panose="020B0609020204030204" pitchFamily="49" charset="0"/>
                <a:ea typeface="IBM Plex Mono" pitchFamily="34" charset="-122"/>
                <a:cs typeface="Consolas" panose="020B0609020204030204" pitchFamily="49" charset="0"/>
              </a:rPr>
              <a:t>is_head</a:t>
            </a:r>
            <a:r>
              <a:rPr lang="en-US" sz="1200" dirty="0">
                <a:latin typeface="Consolas" panose="020B0609020204030204" pitchFamily="49" charset="0"/>
                <a:ea typeface="IBM Plex Mono" pitchFamily="34" charset="-122"/>
                <a:cs typeface="Consolas" panose="020B0609020204030204" pitchFamily="49" charset="0"/>
              </a:rPr>
              <a:t> = </a:t>
            </a:r>
            <a:r>
              <a:rPr lang="en-US" sz="1200" dirty="0" err="1">
                <a:latin typeface="Consolas" panose="020B0609020204030204" pitchFamily="49" charset="0"/>
                <a:ea typeface="IBM Plex Mono" pitchFamily="34" charset="-122"/>
                <a:cs typeface="Consolas" panose="020B0609020204030204" pitchFamily="49" charset="0"/>
              </a:rPr>
              <a:t>name.startswith</a:t>
            </a:r>
            <a:r>
              <a:rPr lang="en-US" sz="1200" dirty="0">
                <a:latin typeface="Consolas" panose="020B0609020204030204" pitchFamily="49" charset="0"/>
                <a:ea typeface="IBM Plex Mono" pitchFamily="34" charset="-122"/>
                <a:cs typeface="Consolas" panose="020B0609020204030204" pitchFamily="49" charset="0"/>
              </a:rPr>
              <a:t>("fc.")</a:t>
            </a:r>
          </a:p>
          <a:p>
            <a:pPr>
              <a:lnSpc>
                <a:spcPts val="1473"/>
              </a:lnSpc>
            </a:pPr>
            <a:r>
              <a:rPr lang="en-US" sz="1200" dirty="0" err="1">
                <a:latin typeface="Consolas" panose="020B0609020204030204" pitchFamily="49" charset="0"/>
                <a:ea typeface="IBM Plex Mono" pitchFamily="34" charset="-122"/>
                <a:cs typeface="Consolas" panose="020B0609020204030204" pitchFamily="49" charset="0"/>
              </a:rPr>
              <a:t>p.requires_grad</a:t>
            </a:r>
            <a:r>
              <a:rPr lang="en-US" sz="1200" dirty="0">
                <a:latin typeface="Consolas" panose="020B0609020204030204" pitchFamily="49" charset="0"/>
                <a:ea typeface="IBM Plex Mono" pitchFamily="34" charset="-122"/>
                <a:cs typeface="Consolas" panose="020B0609020204030204" pitchFamily="49" charset="0"/>
              </a:rPr>
              <a:t> = True </a:t>
            </a:r>
            <a:r>
              <a:rPr lang="en-US" sz="1200" b="1" dirty="0">
                <a:latin typeface="Consolas" panose="020B0609020204030204" pitchFamily="49" charset="0"/>
                <a:ea typeface="IBM Plex Mono" pitchFamily="34" charset="-122"/>
                <a:cs typeface="Consolas" panose="020B0609020204030204" pitchFamily="49" charset="0"/>
              </a:rPr>
              <a:t>if</a:t>
            </a:r>
            <a:r>
              <a:rPr lang="en-US" sz="1200" dirty="0">
                <a:latin typeface="Consolas" panose="020B0609020204030204" pitchFamily="49" charset="0"/>
                <a:ea typeface="IBM Plex Mono" pitchFamily="34" charset="-122"/>
                <a:cs typeface="Consolas" panose="020B0609020204030204" pitchFamily="49" charset="0"/>
              </a:rPr>
              <a:t> </a:t>
            </a:r>
            <a:r>
              <a:rPr lang="en-US" sz="1200" dirty="0" err="1">
                <a:latin typeface="Consolas" panose="020B0609020204030204" pitchFamily="49" charset="0"/>
                <a:ea typeface="IBM Plex Mono" pitchFamily="34" charset="-122"/>
                <a:cs typeface="Consolas" panose="020B0609020204030204" pitchFamily="49" charset="0"/>
              </a:rPr>
              <a:t>is_head</a:t>
            </a:r>
            <a:r>
              <a:rPr lang="en-US" sz="1200" dirty="0">
                <a:latin typeface="Consolas" panose="020B0609020204030204" pitchFamily="49" charset="0"/>
                <a:ea typeface="IBM Plex Mono" pitchFamily="34" charset="-122"/>
                <a:cs typeface="Consolas" panose="020B0609020204030204" pitchFamily="49" charset="0"/>
              </a:rPr>
              <a:t> </a:t>
            </a:r>
            <a:r>
              <a:rPr lang="en-US" sz="1200" b="1" dirty="0">
                <a:latin typeface="Consolas" panose="020B0609020204030204" pitchFamily="49" charset="0"/>
                <a:ea typeface="IBM Plex Mono" pitchFamily="34" charset="-122"/>
                <a:cs typeface="Consolas" panose="020B0609020204030204" pitchFamily="49" charset="0"/>
              </a:rPr>
              <a:t>else</a:t>
            </a:r>
            <a:r>
              <a:rPr lang="en-US" sz="1200" dirty="0">
                <a:latin typeface="Consolas" panose="020B0609020204030204" pitchFamily="49" charset="0"/>
                <a:ea typeface="IBM Plex Mono" pitchFamily="34" charset="-122"/>
                <a:cs typeface="Consolas" panose="020B0609020204030204" pitchFamily="49" charset="0"/>
              </a:rPr>
              <a:t> trainable</a:t>
            </a:r>
            <a:endParaRPr lang="en-US" sz="1200" dirty="0">
              <a:latin typeface="Consolas" panose="020B0609020204030204" pitchFamily="49" charset="0"/>
              <a:cs typeface="Consolas" panose="020B0609020204030204" pitchFamily="49" charset="0"/>
            </a:endParaRPr>
          </a:p>
        </p:txBody>
      </p:sp>
      <p:sp>
        <p:nvSpPr>
          <p:cNvPr id="14" name="Shape 12"/>
          <p:cNvSpPr/>
          <p:nvPr/>
        </p:nvSpPr>
        <p:spPr>
          <a:xfrm>
            <a:off x="1297940" y="4450821"/>
            <a:ext cx="4631134" cy="1157394"/>
          </a:xfrm>
          <a:prstGeom prst="roundRect">
            <a:avLst>
              <a:gd name="adj" fmla="val 9677"/>
            </a:avLst>
          </a:prstGeom>
          <a:solidFill>
            <a:srgbClr val="BA90DC">
              <a:alpha val="20000"/>
            </a:srgbClr>
          </a:solidFill>
          <a:ln/>
        </p:spPr>
        <p:txBody>
          <a:bodyPr anchor="ctr"/>
          <a:lstStyle/>
          <a:p>
            <a:pPr>
              <a:lnSpc>
                <a:spcPts val="1470"/>
              </a:lnSpc>
            </a:pPr>
            <a:r>
              <a:rPr lang="en-US" sz="1600" b="1" dirty="0">
                <a:ea typeface="IBM Plex Sans" pitchFamily="34" charset="-122"/>
                <a:cs typeface="IBM Plex Sans" pitchFamily="34" charset="-120"/>
              </a:rPr>
              <a:t>Two-stage training:</a:t>
            </a:r>
            <a:r>
              <a:rPr lang="en-US" sz="1600" dirty="0">
                <a:ea typeface="IBM Plex Sans" pitchFamily="34" charset="-122"/>
                <a:cs typeface="IBM Plex Sans" pitchFamily="34" charset="-120"/>
              </a:rPr>
              <a:t> epochs 1-2 train only the new 4-way head (8,196 params); from epoch 3 the whole network trains (23.5M params) at a 10x smaller learning rate for the backbone.</a:t>
            </a:r>
            <a:endParaRPr lang="en-US" sz="1600" dirty="0"/>
          </a:p>
        </p:txBody>
      </p:sp>
      <p:sp>
        <p:nvSpPr>
          <p:cNvPr id="16" name="Shape 14"/>
          <p:cNvSpPr/>
          <p:nvPr/>
        </p:nvSpPr>
        <p:spPr>
          <a:xfrm>
            <a:off x="6345833" y="4136392"/>
            <a:ext cx="4631134" cy="732784"/>
          </a:xfrm>
          <a:prstGeom prst="roundRect">
            <a:avLst>
              <a:gd name="adj" fmla="val 12676"/>
            </a:avLst>
          </a:prstGeom>
          <a:solidFill>
            <a:srgbClr val="BA90DC">
              <a:alpha val="20000"/>
            </a:srgbClr>
          </a:solidFill>
          <a:ln/>
        </p:spPr>
        <p:txBody>
          <a:bodyPr anchor="ctr"/>
          <a:lstStyle/>
          <a:p>
            <a:pPr>
              <a:lnSpc>
                <a:spcPts val="1470"/>
              </a:lnSpc>
            </a:pPr>
            <a:r>
              <a:rPr lang="en-US" sz="1600" b="1" dirty="0">
                <a:ea typeface="IBM Plex Sans" pitchFamily="34" charset="-122"/>
                <a:cs typeface="IBM Plex Sans" pitchFamily="34" charset="-120"/>
              </a:rPr>
              <a:t>Optimizer:</a:t>
            </a:r>
            <a:r>
              <a:rPr lang="en-US" sz="1600" dirty="0">
                <a:ea typeface="IBM Plex Sans" pitchFamily="34" charset="-122"/>
                <a:cs typeface="IBM Plex Sans" pitchFamily="34" charset="-120"/>
              </a:rPr>
              <a:t> Adam, head </a:t>
            </a:r>
            <a:r>
              <a:rPr lang="en-US" sz="1600" dirty="0" err="1">
                <a:ea typeface="IBM Plex Sans" pitchFamily="34" charset="-122"/>
                <a:cs typeface="IBM Plex Sans" pitchFamily="34" charset="-120"/>
              </a:rPr>
              <a:t>lr</a:t>
            </a:r>
            <a:r>
              <a:rPr lang="en-US" sz="1600" dirty="0">
                <a:ea typeface="IBM Plex Sans" pitchFamily="34" charset="-122"/>
                <a:cs typeface="IBM Plex Sans" pitchFamily="34" charset="-120"/>
              </a:rPr>
              <a:t> 1e-3, backbone </a:t>
            </a:r>
            <a:r>
              <a:rPr lang="en-US" sz="1600" dirty="0" err="1">
                <a:ea typeface="IBM Plex Sans" pitchFamily="34" charset="-122"/>
                <a:cs typeface="IBM Plex Sans" pitchFamily="34" charset="-120"/>
              </a:rPr>
              <a:t>lr</a:t>
            </a:r>
            <a:r>
              <a:rPr lang="en-US" sz="1600" dirty="0">
                <a:ea typeface="IBM Plex Sans" pitchFamily="34" charset="-122"/>
                <a:cs typeface="IBM Plex Sans" pitchFamily="34" charset="-120"/>
              </a:rPr>
              <a:t> 1e-4 once unfrozen, weight decay 1e-4, batch size 64, mixed precision, seed 42.</a:t>
            </a:r>
            <a:endParaRPr lang="en-US" sz="1600" dirty="0"/>
          </a:p>
        </p:txBody>
      </p:sp>
      <p:sp>
        <p:nvSpPr>
          <p:cNvPr id="18" name="Shape 16"/>
          <p:cNvSpPr/>
          <p:nvPr/>
        </p:nvSpPr>
        <p:spPr>
          <a:xfrm>
            <a:off x="6345833" y="5155995"/>
            <a:ext cx="4631134" cy="732784"/>
          </a:xfrm>
          <a:prstGeom prst="roundRect">
            <a:avLst>
              <a:gd name="adj" fmla="val 12676"/>
            </a:avLst>
          </a:prstGeom>
          <a:solidFill>
            <a:srgbClr val="BA90DC">
              <a:alpha val="20000"/>
            </a:srgbClr>
          </a:solidFill>
          <a:ln/>
        </p:spPr>
        <p:txBody>
          <a:bodyPr anchor="ctr"/>
          <a:lstStyle/>
          <a:p>
            <a:pPr>
              <a:lnSpc>
                <a:spcPts val="1470"/>
              </a:lnSpc>
            </a:pPr>
            <a:r>
              <a:rPr lang="en-US" sz="1600" b="1" dirty="0">
                <a:ea typeface="IBM Plex Sans" pitchFamily="34" charset="-122"/>
                <a:cs typeface="IBM Plex Sans" pitchFamily="34" charset="-120"/>
              </a:rPr>
              <a:t>Early stopping</a:t>
            </a:r>
            <a:r>
              <a:rPr lang="en-US" sz="1600" dirty="0">
                <a:ea typeface="IBM Plex Sans" pitchFamily="34" charset="-122"/>
                <a:cs typeface="IBM Plex Sans" pitchFamily="34" charset="-120"/>
              </a:rPr>
              <a:t> on validation loss (patience 3); best checkpoint kept. Runs on one </a:t>
            </a:r>
            <a:r>
              <a:rPr lang="en-US" sz="1600" dirty="0" err="1">
                <a:ea typeface="IBM Plex Sans" pitchFamily="34" charset="-122"/>
                <a:cs typeface="IBM Plex Sans" pitchFamily="34" charset="-120"/>
              </a:rPr>
              <a:t>Colab</a:t>
            </a:r>
            <a:r>
              <a:rPr lang="en-US" sz="1600" dirty="0">
                <a:ea typeface="IBM Plex Sans" pitchFamily="34" charset="-122"/>
                <a:cs typeface="IBM Plex Sans" pitchFamily="34" charset="-120"/>
              </a:rPr>
              <a:t> T4 GPU.</a:t>
            </a:r>
            <a:endParaRPr lang="en-US" sz="1600" dirty="0"/>
          </a:p>
        </p:txBody>
      </p:sp>
      <p:sp>
        <p:nvSpPr>
          <p:cNvPr id="25" name="Text 16">
            <a:extLst>
              <a:ext uri="{FF2B5EF4-FFF2-40B4-BE49-F238E27FC236}">
                <a16:creationId xmlns:a16="http://schemas.microsoft.com/office/drawing/2014/main" id="{30EBD955-E22F-98A5-E722-1260374F35BF}"/>
              </a:ext>
            </a:extLst>
          </p:cNvPr>
          <p:cNvSpPr/>
          <p:nvPr/>
        </p:nvSpPr>
        <p:spPr>
          <a:xfrm>
            <a:off x="10931309" y="6408137"/>
            <a:ext cx="597319" cy="220133"/>
          </a:xfrm>
          <a:prstGeom prst="rect">
            <a:avLst/>
          </a:prstGeom>
          <a:noFill/>
          <a:ln/>
        </p:spPr>
        <p:txBody>
          <a:bodyPr wrap="square" lIns="0" tIns="0" rIns="0" bIns="0" rtlCol="0" anchor="ctr">
            <a:normAutofit/>
          </a:bodyPr>
          <a:lstStyle/>
          <a:p>
            <a:pPr marL="0" indent="0" algn="ctr">
              <a:lnSpc>
                <a:spcPts val="1540"/>
              </a:lnSpc>
              <a:buNone/>
            </a:pPr>
            <a:r>
              <a:rPr lang="en-US" sz="1100" b="1" dirty="0">
                <a:latin typeface="Calibri" panose="020F0502020204030204" pitchFamily="34" charset="0"/>
                <a:cs typeface="Calibri" panose="020F0502020204030204" pitchFamily="34" charset="0"/>
              </a:rPr>
              <a:t>Slide 7</a:t>
            </a:r>
          </a:p>
        </p:txBody>
      </p:sp>
      <p:sp>
        <p:nvSpPr>
          <p:cNvPr id="4" name="Text 15">
            <a:extLst>
              <a:ext uri="{FF2B5EF4-FFF2-40B4-BE49-F238E27FC236}">
                <a16:creationId xmlns:a16="http://schemas.microsoft.com/office/drawing/2014/main" id="{6FA7232A-11A9-10DC-C627-F86142782184}"/>
              </a:ext>
            </a:extLst>
          </p:cNvPr>
          <p:cNvSpPr/>
          <p:nvPr/>
        </p:nvSpPr>
        <p:spPr>
          <a:xfrm>
            <a:off x="601785" y="6405034"/>
            <a:ext cx="3779297" cy="220133"/>
          </a:xfrm>
          <a:prstGeom prst="rect">
            <a:avLst/>
          </a:prstGeom>
          <a:noFill/>
          <a:ln/>
        </p:spPr>
        <p:txBody>
          <a:bodyPr wrap="square" lIns="0" tIns="0" rIns="0" bIns="0" rtlCol="0" anchor="t">
            <a:normAutofit/>
          </a:bodyPr>
          <a:lstStyle/>
          <a:p>
            <a:pPr marL="0" indent="0" algn="ctr">
              <a:lnSpc>
                <a:spcPts val="1540"/>
              </a:lnSpc>
              <a:buNone/>
            </a:pPr>
            <a:r>
              <a:rPr lang="en-US" sz="900" dirty="0">
                <a:ea typeface="IBM Plex Sans" pitchFamily="34" charset="-122"/>
                <a:cs typeface="IBM Plex Sans" pitchFamily="34" charset="-120"/>
              </a:rPr>
              <a:t>White blood cell classification – CSCI 7090 – Group 4</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bg>
      <p:bgPr>
        <a:solidFill>
          <a:srgbClr val="FCFCF6"/>
        </a:solidFill>
        <a:effectLst/>
      </p:bgPr>
    </p:bg>
    <p:spTree>
      <p:nvGrpSpPr>
        <p:cNvPr id="1" name=""/>
        <p:cNvGrpSpPr/>
        <p:nvPr/>
      </p:nvGrpSpPr>
      <p:grpSpPr>
        <a:xfrm>
          <a:off x="0" y="0"/>
          <a:ext cx="0" cy="0"/>
          <a:chOff x="0" y="0"/>
          <a:chExt cx="0" cy="0"/>
        </a:xfrm>
      </p:grpSpPr>
      <p:sp>
        <p:nvSpPr>
          <p:cNvPr id="2" name="Text 0"/>
          <p:cNvSpPr/>
          <p:nvPr/>
        </p:nvSpPr>
        <p:spPr>
          <a:xfrm>
            <a:off x="812800" y="602764"/>
            <a:ext cx="10883392" cy="760868"/>
          </a:xfrm>
          <a:prstGeom prst="rect">
            <a:avLst/>
          </a:prstGeom>
          <a:noFill/>
          <a:ln/>
        </p:spPr>
        <p:txBody>
          <a:bodyPr wrap="square" lIns="0" tIns="0" rIns="0" bIns="0" rtlCol="0" anchor="ctr">
            <a:normAutofit/>
          </a:bodyPr>
          <a:lstStyle/>
          <a:p>
            <a:pPr marL="0" indent="0" algn="ctr">
              <a:lnSpc>
                <a:spcPts val="3740"/>
              </a:lnSpc>
              <a:buNone/>
            </a:pPr>
            <a:r>
              <a:rPr lang="en-US" sz="4400" b="1" dirty="0">
                <a:solidFill>
                  <a:srgbClr val="4B206B"/>
                </a:solidFill>
                <a:latin typeface="Calibri" panose="020F0502020204030204" pitchFamily="34" charset="0"/>
                <a:ea typeface="EB Garamond" pitchFamily="34" charset="-122"/>
                <a:cs typeface="Calibri" panose="020F0502020204030204" pitchFamily="34" charset="0"/>
              </a:rPr>
              <a:t>Fine-tuning beats training from scratch</a:t>
            </a:r>
            <a:endParaRPr lang="en-US" sz="4400" b="1" dirty="0">
              <a:solidFill>
                <a:srgbClr val="4B206B"/>
              </a:solidFill>
              <a:latin typeface="Calibri" panose="020F0502020204030204" pitchFamily="34" charset="0"/>
              <a:cs typeface="Calibri" panose="020F0502020204030204" pitchFamily="34" charset="0"/>
            </a:endParaRPr>
          </a:p>
        </p:txBody>
      </p:sp>
      <p:pic>
        <p:nvPicPr>
          <p:cNvPr id="3" name="Image 0" descr="Line chart of validation accuracy by epoch: ResNet-50 reaches about 0.995 by epoch 3, the small CNN peaks near 0.95"/>
          <p:cNvPicPr>
            <a:picLocks noChangeAspect="1"/>
          </p:cNvPicPr>
          <p:nvPr/>
        </p:nvPicPr>
        <p:blipFill>
          <a:blip r:embed="rId3"/>
          <a:srcRect t="-31" b="-31"/>
          <a:stretch/>
        </p:blipFill>
        <p:spPr>
          <a:xfrm>
            <a:off x="490219" y="1693652"/>
            <a:ext cx="6402722" cy="3470275"/>
          </a:xfrm>
          <a:prstGeom prst="roundRect">
            <a:avLst>
              <a:gd name="adj" fmla="val 2214"/>
            </a:avLst>
          </a:prstGeom>
          <a:solidFill>
            <a:schemeClr val="bg1"/>
          </a:solidFill>
        </p:spPr>
      </p:pic>
      <p:sp>
        <p:nvSpPr>
          <p:cNvPr id="4" name="Text 1"/>
          <p:cNvSpPr/>
          <p:nvPr/>
        </p:nvSpPr>
        <p:spPr>
          <a:xfrm>
            <a:off x="812800" y="5408504"/>
            <a:ext cx="6080141" cy="245532"/>
          </a:xfrm>
          <a:prstGeom prst="rect">
            <a:avLst/>
          </a:prstGeom>
          <a:noFill/>
          <a:ln/>
        </p:spPr>
        <p:txBody>
          <a:bodyPr wrap="square" lIns="0" tIns="0" rIns="0" bIns="0" rtlCol="0" anchor="ctr">
            <a:normAutofit/>
          </a:bodyPr>
          <a:lstStyle/>
          <a:p>
            <a:pPr marL="0" indent="0" algn="ctr">
              <a:lnSpc>
                <a:spcPts val="1680"/>
              </a:lnSpc>
              <a:buNone/>
            </a:pPr>
            <a:r>
              <a:rPr lang="en-US" sz="1400" b="1" dirty="0">
                <a:latin typeface="Calibri" panose="020F0502020204030204" pitchFamily="34" charset="0"/>
                <a:ea typeface="IBM Plex Sans" pitchFamily="34" charset="-122"/>
                <a:cs typeface="Calibri" panose="020F0502020204030204" pitchFamily="34" charset="0"/>
              </a:rPr>
              <a:t>Validation split: </a:t>
            </a:r>
            <a:r>
              <a:rPr lang="en-US" sz="1400" dirty="0">
                <a:latin typeface="Calibri" panose="020F0502020204030204" pitchFamily="34" charset="0"/>
                <a:ea typeface="IBM Plex Sans" pitchFamily="34" charset="-122"/>
                <a:cs typeface="Calibri" panose="020F0502020204030204" pitchFamily="34" charset="0"/>
              </a:rPr>
              <a:t>996 images from the train folder. One run per model, seed 42.</a:t>
            </a:r>
            <a:endParaRPr lang="en-US" sz="1400" dirty="0">
              <a:latin typeface="Calibri" panose="020F0502020204030204" pitchFamily="34" charset="0"/>
              <a:cs typeface="Calibri" panose="020F0502020204030204" pitchFamily="34" charset="0"/>
            </a:endParaRPr>
          </a:p>
        </p:txBody>
      </p:sp>
      <p:sp>
        <p:nvSpPr>
          <p:cNvPr id="5" name="Text 2"/>
          <p:cNvSpPr/>
          <p:nvPr/>
        </p:nvSpPr>
        <p:spPr>
          <a:xfrm>
            <a:off x="8764269" y="1909026"/>
            <a:ext cx="1534160" cy="499533"/>
          </a:xfrm>
          <a:prstGeom prst="rect">
            <a:avLst/>
          </a:prstGeom>
          <a:solidFill>
            <a:schemeClr val="bg1"/>
          </a:solidFill>
          <a:ln/>
        </p:spPr>
        <p:txBody>
          <a:bodyPr wrap="square" lIns="0" tIns="0" rIns="0" bIns="0" rtlCol="0" anchor="ctr">
            <a:normAutofit/>
          </a:bodyPr>
          <a:lstStyle/>
          <a:p>
            <a:pPr marL="0" indent="0" algn="ctr">
              <a:lnSpc>
                <a:spcPts val="3740"/>
              </a:lnSpc>
              <a:buNone/>
            </a:pPr>
            <a:r>
              <a:rPr lang="en-US" sz="3400" b="1" dirty="0">
                <a:solidFill>
                  <a:srgbClr val="5B3F8C"/>
                </a:solidFill>
                <a:latin typeface="Calibri" panose="020F0502020204030204" pitchFamily="34" charset="0"/>
                <a:ea typeface="EB Garamond" pitchFamily="34" charset="-122"/>
                <a:cs typeface="Calibri" panose="020F0502020204030204" pitchFamily="34" charset="0"/>
              </a:rPr>
              <a:t>1.000</a:t>
            </a:r>
            <a:endParaRPr lang="en-US" sz="3400" b="1" dirty="0">
              <a:latin typeface="Calibri" panose="020F0502020204030204" pitchFamily="34" charset="0"/>
              <a:cs typeface="Calibri" panose="020F0502020204030204" pitchFamily="34" charset="0"/>
            </a:endParaRPr>
          </a:p>
        </p:txBody>
      </p:sp>
      <p:sp>
        <p:nvSpPr>
          <p:cNvPr id="6" name="Text 3"/>
          <p:cNvSpPr/>
          <p:nvPr/>
        </p:nvSpPr>
        <p:spPr>
          <a:xfrm>
            <a:off x="7428229" y="2639275"/>
            <a:ext cx="4206240" cy="309033"/>
          </a:xfrm>
          <a:prstGeom prst="rect">
            <a:avLst/>
          </a:prstGeom>
          <a:noFill/>
          <a:ln/>
        </p:spPr>
        <p:txBody>
          <a:bodyPr wrap="square" lIns="0" tIns="0" rIns="0" bIns="0" rtlCol="0" anchor="ctr">
            <a:normAutofit/>
          </a:bodyPr>
          <a:lstStyle/>
          <a:p>
            <a:pPr marL="0" indent="0" algn="l">
              <a:lnSpc>
                <a:spcPts val="1680"/>
              </a:lnSpc>
              <a:buNone/>
            </a:pPr>
            <a:r>
              <a:rPr lang="en-US" sz="1400" dirty="0">
                <a:latin typeface="Calibri" panose="020F0502020204030204" pitchFamily="34" charset="0"/>
                <a:ea typeface="IBM Plex Sans" pitchFamily="34" charset="-122"/>
                <a:cs typeface="Calibri" panose="020F0502020204030204" pitchFamily="34" charset="0"/>
              </a:rPr>
              <a:t>ResNet-50, fine-tuned. Best at epoch 4; 0.995 at epoch 7</a:t>
            </a:r>
            <a:endParaRPr lang="en-US" sz="1400" dirty="0">
              <a:latin typeface="Calibri" panose="020F0502020204030204" pitchFamily="34" charset="0"/>
              <a:cs typeface="Calibri" panose="020F0502020204030204" pitchFamily="34" charset="0"/>
            </a:endParaRPr>
          </a:p>
        </p:txBody>
      </p:sp>
      <p:sp>
        <p:nvSpPr>
          <p:cNvPr id="7" name="Text 4"/>
          <p:cNvSpPr/>
          <p:nvPr/>
        </p:nvSpPr>
        <p:spPr>
          <a:xfrm>
            <a:off x="8804910" y="3179024"/>
            <a:ext cx="1534160" cy="499533"/>
          </a:xfrm>
          <a:prstGeom prst="rect">
            <a:avLst/>
          </a:prstGeom>
          <a:solidFill>
            <a:schemeClr val="bg1"/>
          </a:solidFill>
          <a:ln/>
        </p:spPr>
        <p:txBody>
          <a:bodyPr wrap="square" lIns="0" tIns="0" rIns="0" bIns="0" rtlCol="0" anchor="ctr">
            <a:normAutofit/>
          </a:bodyPr>
          <a:lstStyle/>
          <a:p>
            <a:pPr marL="0" indent="0" algn="ctr">
              <a:lnSpc>
                <a:spcPts val="3740"/>
              </a:lnSpc>
              <a:buNone/>
            </a:pPr>
            <a:r>
              <a:rPr lang="en-US" sz="3400" b="1" dirty="0">
                <a:solidFill>
                  <a:srgbClr val="B0405C"/>
                </a:solidFill>
                <a:latin typeface="Calibri" panose="020F0502020204030204" pitchFamily="34" charset="0"/>
                <a:ea typeface="EB Garamond" pitchFamily="34" charset="-122"/>
                <a:cs typeface="Calibri" panose="020F0502020204030204" pitchFamily="34" charset="0"/>
              </a:rPr>
              <a:t>0.950</a:t>
            </a:r>
            <a:endParaRPr lang="en-US" sz="3400" b="1" dirty="0">
              <a:latin typeface="Calibri" panose="020F0502020204030204" pitchFamily="34" charset="0"/>
              <a:cs typeface="Calibri" panose="020F0502020204030204" pitchFamily="34" charset="0"/>
            </a:endParaRPr>
          </a:p>
        </p:txBody>
      </p:sp>
      <p:sp>
        <p:nvSpPr>
          <p:cNvPr id="8" name="Text 5"/>
          <p:cNvSpPr/>
          <p:nvPr/>
        </p:nvSpPr>
        <p:spPr>
          <a:xfrm>
            <a:off x="7718529" y="3907507"/>
            <a:ext cx="3625641" cy="260913"/>
          </a:xfrm>
          <a:prstGeom prst="rect">
            <a:avLst/>
          </a:prstGeom>
          <a:noFill/>
          <a:ln/>
        </p:spPr>
        <p:txBody>
          <a:bodyPr wrap="square" lIns="0" tIns="0" rIns="0" bIns="0" rtlCol="0" anchor="ctr">
            <a:normAutofit/>
          </a:bodyPr>
          <a:lstStyle/>
          <a:p>
            <a:pPr marL="0" indent="0" algn="ctr">
              <a:lnSpc>
                <a:spcPts val="1680"/>
              </a:lnSpc>
              <a:buNone/>
            </a:pPr>
            <a:r>
              <a:rPr lang="en-US" sz="1400" dirty="0">
                <a:latin typeface="Calibri" panose="020F0502020204030204" pitchFamily="34" charset="0"/>
                <a:ea typeface="IBM Plex Sans" pitchFamily="34" charset="-122"/>
                <a:cs typeface="Calibri" panose="020F0502020204030204" pitchFamily="34" charset="0"/>
              </a:rPr>
              <a:t>Small CNN from scratch. Best at epoch 11 of 14</a:t>
            </a:r>
            <a:endParaRPr lang="en-US" sz="1400" dirty="0">
              <a:latin typeface="Calibri" panose="020F0502020204030204" pitchFamily="34" charset="0"/>
              <a:cs typeface="Calibri" panose="020F0502020204030204" pitchFamily="34" charset="0"/>
            </a:endParaRPr>
          </a:p>
        </p:txBody>
      </p:sp>
      <p:sp>
        <p:nvSpPr>
          <p:cNvPr id="9" name="Text 6"/>
          <p:cNvSpPr/>
          <p:nvPr/>
        </p:nvSpPr>
        <p:spPr>
          <a:xfrm>
            <a:off x="8804910" y="4498340"/>
            <a:ext cx="1534160" cy="499533"/>
          </a:xfrm>
          <a:prstGeom prst="rect">
            <a:avLst/>
          </a:prstGeom>
          <a:solidFill>
            <a:schemeClr val="bg1"/>
          </a:solidFill>
          <a:ln/>
        </p:spPr>
        <p:txBody>
          <a:bodyPr wrap="square" lIns="0" tIns="0" rIns="0" bIns="0" rtlCol="0" anchor="ctr">
            <a:normAutofit/>
          </a:bodyPr>
          <a:lstStyle/>
          <a:p>
            <a:pPr marL="0" indent="0" algn="ctr">
              <a:lnSpc>
                <a:spcPts val="3740"/>
              </a:lnSpc>
              <a:buNone/>
            </a:pPr>
            <a:r>
              <a:rPr lang="en-US" sz="3400" b="1" dirty="0">
                <a:solidFill>
                  <a:srgbClr val="666B7D"/>
                </a:solidFill>
                <a:latin typeface="Calibri" panose="020F0502020204030204" pitchFamily="34" charset="0"/>
                <a:ea typeface="EB Garamond" pitchFamily="34" charset="-122"/>
                <a:cs typeface="Calibri" panose="020F0502020204030204" pitchFamily="34" charset="0"/>
              </a:rPr>
              <a:t>0.756</a:t>
            </a:r>
            <a:endParaRPr lang="en-US" sz="3400" b="1" dirty="0">
              <a:latin typeface="Calibri" panose="020F0502020204030204" pitchFamily="34" charset="0"/>
              <a:cs typeface="Calibri" panose="020F0502020204030204" pitchFamily="34" charset="0"/>
            </a:endParaRPr>
          </a:p>
        </p:txBody>
      </p:sp>
      <p:sp>
        <p:nvSpPr>
          <p:cNvPr id="10" name="Text 7"/>
          <p:cNvSpPr/>
          <p:nvPr/>
        </p:nvSpPr>
        <p:spPr>
          <a:xfrm>
            <a:off x="7832299" y="5193382"/>
            <a:ext cx="3479381" cy="260913"/>
          </a:xfrm>
          <a:prstGeom prst="rect">
            <a:avLst/>
          </a:prstGeom>
          <a:noFill/>
          <a:ln/>
        </p:spPr>
        <p:txBody>
          <a:bodyPr wrap="square" lIns="0" tIns="0" rIns="0" bIns="0" rtlCol="0" anchor="ctr">
            <a:normAutofit/>
          </a:bodyPr>
          <a:lstStyle/>
          <a:p>
            <a:pPr marL="0" indent="0" algn="ctr">
              <a:lnSpc>
                <a:spcPts val="1680"/>
              </a:lnSpc>
              <a:buNone/>
            </a:pPr>
            <a:r>
              <a:rPr lang="en-US" sz="1400" dirty="0">
                <a:latin typeface="Calibri" panose="020F0502020204030204" pitchFamily="34" charset="0"/>
                <a:ea typeface="IBM Plex Sans" pitchFamily="34" charset="-122"/>
                <a:cs typeface="Calibri" panose="020F0502020204030204" pitchFamily="34" charset="0"/>
              </a:rPr>
              <a:t>ResNet-50 with the backbone frozen (epoch 2)</a:t>
            </a:r>
            <a:endParaRPr lang="en-US" sz="1400" dirty="0">
              <a:latin typeface="Calibri" panose="020F0502020204030204" pitchFamily="34" charset="0"/>
              <a:cs typeface="Calibri" panose="020F0502020204030204" pitchFamily="34" charset="0"/>
            </a:endParaRPr>
          </a:p>
        </p:txBody>
      </p:sp>
      <p:sp>
        <p:nvSpPr>
          <p:cNvPr id="16" name="Text 16">
            <a:extLst>
              <a:ext uri="{FF2B5EF4-FFF2-40B4-BE49-F238E27FC236}">
                <a16:creationId xmlns:a16="http://schemas.microsoft.com/office/drawing/2014/main" id="{A3FE9F50-D25D-C2C4-A3E8-EE9FBD427FDD}"/>
              </a:ext>
            </a:extLst>
          </p:cNvPr>
          <p:cNvSpPr/>
          <p:nvPr/>
        </p:nvSpPr>
        <p:spPr>
          <a:xfrm>
            <a:off x="10931309" y="6408137"/>
            <a:ext cx="597319" cy="220133"/>
          </a:xfrm>
          <a:prstGeom prst="rect">
            <a:avLst/>
          </a:prstGeom>
          <a:noFill/>
          <a:ln/>
        </p:spPr>
        <p:txBody>
          <a:bodyPr wrap="square" lIns="0" tIns="0" rIns="0" bIns="0" rtlCol="0" anchor="ctr">
            <a:normAutofit/>
          </a:bodyPr>
          <a:lstStyle/>
          <a:p>
            <a:pPr marL="0" indent="0" algn="ctr">
              <a:lnSpc>
                <a:spcPts val="1540"/>
              </a:lnSpc>
              <a:buNone/>
            </a:pPr>
            <a:r>
              <a:rPr lang="en-US" sz="1100" b="1" dirty="0">
                <a:latin typeface="Calibri" panose="020F0502020204030204" pitchFamily="34" charset="0"/>
                <a:cs typeface="Calibri" panose="020F0502020204030204" pitchFamily="34" charset="0"/>
              </a:rPr>
              <a:t>Slide 8</a:t>
            </a:r>
          </a:p>
        </p:txBody>
      </p:sp>
      <p:sp>
        <p:nvSpPr>
          <p:cNvPr id="11" name="Text 15">
            <a:extLst>
              <a:ext uri="{FF2B5EF4-FFF2-40B4-BE49-F238E27FC236}">
                <a16:creationId xmlns:a16="http://schemas.microsoft.com/office/drawing/2014/main" id="{4A0A6D47-0CB6-7371-50D9-C5A8340FADF1}"/>
              </a:ext>
            </a:extLst>
          </p:cNvPr>
          <p:cNvSpPr/>
          <p:nvPr/>
        </p:nvSpPr>
        <p:spPr>
          <a:xfrm>
            <a:off x="601785" y="6405034"/>
            <a:ext cx="3779297" cy="220133"/>
          </a:xfrm>
          <a:prstGeom prst="rect">
            <a:avLst/>
          </a:prstGeom>
          <a:noFill/>
          <a:ln/>
        </p:spPr>
        <p:txBody>
          <a:bodyPr wrap="square" lIns="0" tIns="0" rIns="0" bIns="0" rtlCol="0" anchor="t">
            <a:normAutofit/>
          </a:bodyPr>
          <a:lstStyle/>
          <a:p>
            <a:pPr marL="0" indent="0" algn="ctr">
              <a:lnSpc>
                <a:spcPts val="1540"/>
              </a:lnSpc>
              <a:buNone/>
            </a:pPr>
            <a:r>
              <a:rPr lang="en-US" sz="900" dirty="0">
                <a:ea typeface="IBM Plex Sans" pitchFamily="34" charset="-122"/>
                <a:cs typeface="IBM Plex Sans" pitchFamily="34" charset="-120"/>
              </a:rPr>
              <a:t>White blood cell classification – CSCI 7090 – Group 4</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CFCF6"/>
        </a:solidFill>
        <a:effectLst/>
      </p:bgPr>
    </p:bg>
    <p:spTree>
      <p:nvGrpSpPr>
        <p:cNvPr id="1" name=""/>
        <p:cNvGrpSpPr/>
        <p:nvPr/>
      </p:nvGrpSpPr>
      <p:grpSpPr>
        <a:xfrm>
          <a:off x="0" y="0"/>
          <a:ext cx="0" cy="0"/>
          <a:chOff x="0" y="0"/>
          <a:chExt cx="0" cy="0"/>
        </a:xfrm>
      </p:grpSpPr>
      <p:sp>
        <p:nvSpPr>
          <p:cNvPr id="15" name="Text 16">
            <a:extLst>
              <a:ext uri="{FF2B5EF4-FFF2-40B4-BE49-F238E27FC236}">
                <a16:creationId xmlns:a16="http://schemas.microsoft.com/office/drawing/2014/main" id="{50CB61D1-36B1-CFD9-44BD-9C21708D553B}"/>
              </a:ext>
            </a:extLst>
          </p:cNvPr>
          <p:cNvSpPr/>
          <p:nvPr/>
        </p:nvSpPr>
        <p:spPr>
          <a:xfrm>
            <a:off x="10931309" y="6408137"/>
            <a:ext cx="597319" cy="220133"/>
          </a:xfrm>
          <a:prstGeom prst="rect">
            <a:avLst/>
          </a:prstGeom>
          <a:noFill/>
          <a:ln/>
        </p:spPr>
        <p:txBody>
          <a:bodyPr wrap="square" lIns="0" tIns="0" rIns="0" bIns="0" rtlCol="0" anchor="ctr">
            <a:normAutofit/>
          </a:bodyPr>
          <a:lstStyle/>
          <a:p>
            <a:pPr marL="0" indent="0" algn="ctr">
              <a:lnSpc>
                <a:spcPts val="1540"/>
              </a:lnSpc>
              <a:buNone/>
            </a:pPr>
            <a:r>
              <a:rPr lang="en-US" sz="1100" b="1" dirty="0">
                <a:latin typeface="Calibri" panose="020F0502020204030204" pitchFamily="34" charset="0"/>
                <a:cs typeface="Calibri" panose="020F0502020204030204" pitchFamily="34" charset="0"/>
              </a:rPr>
              <a:t>Slide 9</a:t>
            </a:r>
          </a:p>
        </p:txBody>
      </p:sp>
      <p:sp>
        <p:nvSpPr>
          <p:cNvPr id="17" name="Text 0">
            <a:extLst>
              <a:ext uri="{FF2B5EF4-FFF2-40B4-BE49-F238E27FC236}">
                <a16:creationId xmlns:a16="http://schemas.microsoft.com/office/drawing/2014/main" id="{D8EB1F57-126B-1ED0-1D75-B2C77BEB2731}"/>
              </a:ext>
            </a:extLst>
          </p:cNvPr>
          <p:cNvSpPr/>
          <p:nvPr/>
        </p:nvSpPr>
        <p:spPr>
          <a:xfrm>
            <a:off x="1354137" y="548640"/>
            <a:ext cx="9483725" cy="924560"/>
          </a:xfrm>
          <a:prstGeom prst="rect">
            <a:avLst/>
          </a:prstGeom>
          <a:noFill/>
          <a:ln/>
        </p:spPr>
        <p:txBody>
          <a:bodyPr wrap="square" lIns="0" tIns="0" rIns="0" bIns="0" rtlCol="0" anchor="ctr">
            <a:noAutofit/>
          </a:bodyPr>
          <a:lstStyle/>
          <a:p>
            <a:pPr marL="0" indent="0" algn="ctr">
              <a:lnSpc>
                <a:spcPts val="3190"/>
              </a:lnSpc>
              <a:buNone/>
            </a:pPr>
            <a:r>
              <a:rPr lang="en-US" sz="4000" b="1" dirty="0">
                <a:solidFill>
                  <a:srgbClr val="4B206B"/>
                </a:solidFill>
                <a:latin typeface="Calibri" panose="020F0502020204030204" pitchFamily="34" charset="0"/>
                <a:ea typeface="EB Garamond" pitchFamily="34" charset="-122"/>
                <a:cs typeface="Calibri" panose="020F0502020204030204" pitchFamily="34" charset="0"/>
              </a:rPr>
              <a:t>Validation is saturated, so the sealed test set decides</a:t>
            </a:r>
            <a:endParaRPr lang="en-US" sz="4000" b="1" dirty="0">
              <a:solidFill>
                <a:srgbClr val="4B206B"/>
              </a:solidFill>
              <a:latin typeface="Calibri" panose="020F0502020204030204" pitchFamily="34" charset="0"/>
              <a:cs typeface="Calibri" panose="020F0502020204030204" pitchFamily="34" charset="0"/>
            </a:endParaRPr>
          </a:p>
        </p:txBody>
      </p:sp>
      <p:graphicFrame>
        <p:nvGraphicFramePr>
          <p:cNvPr id="19" name="Diagram 18">
            <a:extLst>
              <a:ext uri="{FF2B5EF4-FFF2-40B4-BE49-F238E27FC236}">
                <a16:creationId xmlns:a16="http://schemas.microsoft.com/office/drawing/2014/main" id="{72DCF889-87DD-62FC-5ABC-6AABD23385F6}"/>
              </a:ext>
            </a:extLst>
          </p:cNvPr>
          <p:cNvGraphicFramePr/>
          <p:nvPr>
            <p:extLst>
              <p:ext uri="{D42A27DB-BD31-4B8C-83A1-F6EECF244321}">
                <p14:modId xmlns:p14="http://schemas.microsoft.com/office/powerpoint/2010/main" val="2019988001"/>
              </p:ext>
            </p:extLst>
          </p:nvPr>
        </p:nvGraphicFramePr>
        <p:xfrm>
          <a:off x="1010920" y="1494715"/>
          <a:ext cx="10170160" cy="4673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 15">
            <a:extLst>
              <a:ext uri="{FF2B5EF4-FFF2-40B4-BE49-F238E27FC236}">
                <a16:creationId xmlns:a16="http://schemas.microsoft.com/office/drawing/2014/main" id="{3D4ABBC0-5FC2-A1DD-D0EC-A54266198644}"/>
              </a:ext>
            </a:extLst>
          </p:cNvPr>
          <p:cNvSpPr/>
          <p:nvPr/>
        </p:nvSpPr>
        <p:spPr>
          <a:xfrm>
            <a:off x="601785" y="6405034"/>
            <a:ext cx="3779297" cy="220133"/>
          </a:xfrm>
          <a:prstGeom prst="rect">
            <a:avLst/>
          </a:prstGeom>
          <a:noFill/>
          <a:ln/>
        </p:spPr>
        <p:txBody>
          <a:bodyPr wrap="square" lIns="0" tIns="0" rIns="0" bIns="0" rtlCol="0" anchor="t">
            <a:normAutofit/>
          </a:bodyPr>
          <a:lstStyle/>
          <a:p>
            <a:pPr marL="0" indent="0" algn="ctr">
              <a:lnSpc>
                <a:spcPts val="1540"/>
              </a:lnSpc>
              <a:buNone/>
            </a:pPr>
            <a:r>
              <a:rPr lang="en-US" sz="900" dirty="0">
                <a:ea typeface="IBM Plex Sans" pitchFamily="34" charset="-122"/>
                <a:cs typeface="IBM Plex Sans" pitchFamily="34" charset="-120"/>
              </a:rPr>
              <a:t>White blood cell classification – CSCI 7090 – Group 4</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CD13499-2613-19AD-8588-0B1FD3176044}"/>
              </a:ext>
            </a:extLst>
          </p:cNvPr>
          <p:cNvPicPr>
            <a:picLocks noChangeAspect="1"/>
          </p:cNvPicPr>
          <p:nvPr/>
        </p:nvPicPr>
        <p:blipFill>
          <a:blip r:embed="rId2"/>
          <a:stretch>
            <a:fillRect/>
          </a:stretch>
        </p:blipFill>
        <p:spPr>
          <a:xfrm>
            <a:off x="4164298" y="1468920"/>
            <a:ext cx="7185212" cy="4558360"/>
          </a:xfrm>
          <a:prstGeom prst="rect">
            <a:avLst/>
          </a:prstGeom>
        </p:spPr>
      </p:pic>
      <p:sp>
        <p:nvSpPr>
          <p:cNvPr id="3" name="Text 0">
            <a:extLst>
              <a:ext uri="{FF2B5EF4-FFF2-40B4-BE49-F238E27FC236}">
                <a16:creationId xmlns:a16="http://schemas.microsoft.com/office/drawing/2014/main" id="{E9C49661-B36A-2954-6D50-431AF4EE984F}"/>
              </a:ext>
            </a:extLst>
          </p:cNvPr>
          <p:cNvSpPr/>
          <p:nvPr/>
        </p:nvSpPr>
        <p:spPr>
          <a:xfrm>
            <a:off x="1407966" y="639986"/>
            <a:ext cx="9376068" cy="613186"/>
          </a:xfrm>
          <a:prstGeom prst="rect">
            <a:avLst/>
          </a:prstGeom>
          <a:noFill/>
          <a:ln/>
        </p:spPr>
        <p:txBody>
          <a:bodyPr wrap="square" lIns="0" tIns="0" rIns="0" bIns="0" rtlCol="0" anchor="ctr">
            <a:noAutofit/>
          </a:bodyPr>
          <a:lstStyle/>
          <a:p>
            <a:pPr marL="0" indent="0" algn="ctr">
              <a:lnSpc>
                <a:spcPts val="3190"/>
              </a:lnSpc>
              <a:buNone/>
            </a:pPr>
            <a:r>
              <a:rPr lang="en-US" sz="4800" b="1" dirty="0">
                <a:solidFill>
                  <a:srgbClr val="4B206B"/>
                </a:solidFill>
                <a:latin typeface="Calibri" panose="020F0502020204030204" pitchFamily="34" charset="0"/>
                <a:ea typeface="EB Garamond" pitchFamily="34" charset="-122"/>
                <a:cs typeface="Calibri" panose="020F0502020204030204" pitchFamily="34" charset="0"/>
              </a:rPr>
              <a:t>Live demo: What the model sees</a:t>
            </a:r>
            <a:endParaRPr lang="en-US" sz="3600" b="1" dirty="0">
              <a:solidFill>
                <a:srgbClr val="4B206B"/>
              </a:solidFill>
              <a:latin typeface="Calibri" panose="020F0502020204030204" pitchFamily="34" charset="0"/>
              <a:cs typeface="Calibri" panose="020F0502020204030204" pitchFamily="34" charset="0"/>
            </a:endParaRPr>
          </a:p>
        </p:txBody>
      </p:sp>
      <p:sp>
        <p:nvSpPr>
          <p:cNvPr id="5" name="Text 15">
            <a:extLst>
              <a:ext uri="{FF2B5EF4-FFF2-40B4-BE49-F238E27FC236}">
                <a16:creationId xmlns:a16="http://schemas.microsoft.com/office/drawing/2014/main" id="{3005B356-A183-E61D-30BA-0731F0E263E4}"/>
              </a:ext>
            </a:extLst>
          </p:cNvPr>
          <p:cNvSpPr/>
          <p:nvPr/>
        </p:nvSpPr>
        <p:spPr>
          <a:xfrm>
            <a:off x="601785" y="6405034"/>
            <a:ext cx="3779297" cy="220133"/>
          </a:xfrm>
          <a:prstGeom prst="rect">
            <a:avLst/>
          </a:prstGeom>
          <a:noFill/>
          <a:ln/>
        </p:spPr>
        <p:txBody>
          <a:bodyPr wrap="square" lIns="0" tIns="0" rIns="0" bIns="0" rtlCol="0" anchor="t">
            <a:normAutofit/>
          </a:bodyPr>
          <a:lstStyle/>
          <a:p>
            <a:pPr marL="0" indent="0" algn="ctr">
              <a:lnSpc>
                <a:spcPts val="1540"/>
              </a:lnSpc>
              <a:buNone/>
            </a:pPr>
            <a:r>
              <a:rPr lang="en-US" sz="900" dirty="0">
                <a:ea typeface="IBM Plex Sans" pitchFamily="34" charset="-122"/>
                <a:cs typeface="IBM Plex Sans" pitchFamily="34" charset="-120"/>
              </a:rPr>
              <a:t>White blood cell classification – CSCI 7090 – Group 4</a:t>
            </a:r>
            <a:endParaRPr lang="en-US" sz="900" dirty="0"/>
          </a:p>
        </p:txBody>
      </p:sp>
      <p:sp>
        <p:nvSpPr>
          <p:cNvPr id="6" name="Text 16">
            <a:extLst>
              <a:ext uri="{FF2B5EF4-FFF2-40B4-BE49-F238E27FC236}">
                <a16:creationId xmlns:a16="http://schemas.microsoft.com/office/drawing/2014/main" id="{726150A7-9AC1-509A-29E8-252275E11B88}"/>
              </a:ext>
            </a:extLst>
          </p:cNvPr>
          <p:cNvSpPr/>
          <p:nvPr/>
        </p:nvSpPr>
        <p:spPr>
          <a:xfrm>
            <a:off x="10931309" y="6408137"/>
            <a:ext cx="597319" cy="220133"/>
          </a:xfrm>
          <a:prstGeom prst="rect">
            <a:avLst/>
          </a:prstGeom>
          <a:noFill/>
          <a:ln/>
        </p:spPr>
        <p:txBody>
          <a:bodyPr wrap="square" lIns="0" tIns="0" rIns="0" bIns="0" rtlCol="0" anchor="ctr">
            <a:normAutofit/>
          </a:bodyPr>
          <a:lstStyle/>
          <a:p>
            <a:pPr marL="0" indent="0" algn="ctr">
              <a:lnSpc>
                <a:spcPts val="1540"/>
              </a:lnSpc>
              <a:buNone/>
            </a:pPr>
            <a:r>
              <a:rPr lang="en-US" sz="1100" b="1" dirty="0">
                <a:latin typeface="Calibri" panose="020F0502020204030204" pitchFamily="34" charset="0"/>
                <a:cs typeface="Calibri" panose="020F0502020204030204" pitchFamily="34" charset="0"/>
              </a:rPr>
              <a:t>Slide 10</a:t>
            </a:r>
          </a:p>
        </p:txBody>
      </p:sp>
      <p:sp>
        <p:nvSpPr>
          <p:cNvPr id="7" name="Text 1">
            <a:extLst>
              <a:ext uri="{FF2B5EF4-FFF2-40B4-BE49-F238E27FC236}">
                <a16:creationId xmlns:a16="http://schemas.microsoft.com/office/drawing/2014/main" id="{7BEF05A2-476A-4EE5-C2BC-3E915E208CAB}"/>
              </a:ext>
            </a:extLst>
          </p:cNvPr>
          <p:cNvSpPr/>
          <p:nvPr/>
        </p:nvSpPr>
        <p:spPr>
          <a:xfrm>
            <a:off x="516441" y="2844118"/>
            <a:ext cx="3377381" cy="1807964"/>
          </a:xfrm>
          <a:prstGeom prst="rect">
            <a:avLst/>
          </a:prstGeom>
          <a:noFill/>
          <a:ln/>
        </p:spPr>
        <p:txBody>
          <a:bodyPr wrap="square" lIns="0" tIns="0" rIns="0" bIns="0" rtlCol="0" anchor="ctr">
            <a:noAutofit/>
          </a:bodyPr>
          <a:lstStyle/>
          <a:p>
            <a:r>
              <a:rPr lang="en-US" sz="1200" b="1" dirty="0">
                <a:latin typeface="Calibri" panose="020F0502020204030204" pitchFamily="34" charset="0"/>
                <a:cs typeface="Calibri" panose="020F0502020204030204" pitchFamily="34" charset="0"/>
              </a:rPr>
              <a:t>Prediction, class probabilities and Grad-CAM heatmap.</a:t>
            </a:r>
            <a:br>
              <a:rPr lang="en-US" sz="1200" dirty="0">
                <a:latin typeface="Calibri" panose="020F0502020204030204" pitchFamily="34" charset="0"/>
                <a:cs typeface="Calibri" panose="020F0502020204030204" pitchFamily="34" charset="0"/>
              </a:rPr>
            </a:br>
            <a:endParaRPr lang="en-US" sz="1200" dirty="0">
              <a:latin typeface="Calibri" panose="020F0502020204030204" pitchFamily="34" charset="0"/>
              <a:cs typeface="Calibri" panose="020F0502020204030204" pitchFamily="34" charset="0"/>
            </a:endParaRPr>
          </a:p>
          <a:p>
            <a:r>
              <a:rPr lang="en-US" sz="1200" dirty="0">
                <a:latin typeface="Calibri" panose="020F0502020204030204" pitchFamily="34" charset="0"/>
                <a:cs typeface="Calibri" panose="020F0502020204030204" pitchFamily="34" charset="0"/>
              </a:rPr>
              <a:t>The heatmap lands on the white cell, not the red cells around it.</a:t>
            </a:r>
            <a:endParaRPr lang="en-US" sz="1200" b="1" dirty="0">
              <a:latin typeface="Calibri" panose="020F0502020204030204" pitchFamily="34" charset="0"/>
              <a:ea typeface="IBM Plex Sans" pitchFamily="34" charset="-122"/>
              <a:cs typeface="Calibri" panose="020F0502020204030204" pitchFamily="34" charset="0"/>
            </a:endParaRPr>
          </a:p>
          <a:p>
            <a:pPr marL="0" indent="0">
              <a:buNone/>
            </a:pPr>
            <a:endParaRPr lang="en-US" sz="1200" b="1" dirty="0">
              <a:latin typeface="Calibri" panose="020F0502020204030204" pitchFamily="34" charset="0"/>
              <a:ea typeface="IBM Plex Sans" pitchFamily="34" charset="-122"/>
              <a:cs typeface="Calibri" panose="020F0502020204030204" pitchFamily="34" charset="0"/>
            </a:endParaRPr>
          </a:p>
          <a:p>
            <a:pPr marL="0" indent="0">
              <a:buNone/>
            </a:pPr>
            <a:r>
              <a:rPr lang="en-US" sz="1200" b="1" i="1" dirty="0">
                <a:latin typeface="Calibri" panose="020F0502020204030204" pitchFamily="34" charset="0"/>
                <a:ea typeface="IBM Plex Sans" pitchFamily="34" charset="-122"/>
                <a:cs typeface="Calibri" panose="020F0502020204030204" pitchFamily="34" charset="0"/>
              </a:rPr>
              <a:t>Note: </a:t>
            </a:r>
            <a:r>
              <a:rPr lang="en-US" sz="1200" i="1" dirty="0">
                <a:latin typeface="Calibri" panose="020F0502020204030204" pitchFamily="34" charset="0"/>
                <a:ea typeface="IBM Plex Sans" pitchFamily="34" charset="-122"/>
                <a:cs typeface="Calibri" panose="020F0502020204030204" pitchFamily="34" charset="0"/>
              </a:rPr>
              <a:t>Validation example, not a test result. Research prototype, not a clinical tool.</a:t>
            </a:r>
            <a:endParaRPr lang="en-US" sz="1200" i="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5126386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79E600EE-1477-1D0C-1B75-ED903693E7CB}"/>
              </a:ext>
            </a:extLst>
          </p:cNvPr>
          <p:cNvSpPr/>
          <p:nvPr/>
        </p:nvSpPr>
        <p:spPr>
          <a:xfrm>
            <a:off x="1407966" y="639986"/>
            <a:ext cx="9376068" cy="613186"/>
          </a:xfrm>
          <a:prstGeom prst="rect">
            <a:avLst/>
          </a:prstGeom>
          <a:noFill/>
          <a:ln/>
        </p:spPr>
        <p:txBody>
          <a:bodyPr wrap="square" lIns="0" tIns="0" rIns="0" bIns="0" rtlCol="0" anchor="ctr">
            <a:noAutofit/>
          </a:bodyPr>
          <a:lstStyle/>
          <a:p>
            <a:pPr marL="0" indent="0" algn="ctr">
              <a:lnSpc>
                <a:spcPts val="3190"/>
              </a:lnSpc>
              <a:buNone/>
            </a:pPr>
            <a:r>
              <a:rPr lang="en-US" sz="4800" b="1" dirty="0">
                <a:solidFill>
                  <a:srgbClr val="4B206B"/>
                </a:solidFill>
                <a:latin typeface="Calibri" panose="020F0502020204030204" pitchFamily="34" charset="0"/>
                <a:ea typeface="EB Garamond" pitchFamily="34" charset="-122"/>
                <a:cs typeface="Calibri" panose="020F0502020204030204" pitchFamily="34" charset="0"/>
              </a:rPr>
              <a:t>References</a:t>
            </a:r>
            <a:endParaRPr lang="en-US" sz="3600" b="1" dirty="0">
              <a:solidFill>
                <a:srgbClr val="4B206B"/>
              </a:solidFill>
              <a:latin typeface="Calibri" panose="020F0502020204030204" pitchFamily="34" charset="0"/>
              <a:cs typeface="Calibri" panose="020F0502020204030204" pitchFamily="34" charset="0"/>
            </a:endParaRPr>
          </a:p>
        </p:txBody>
      </p:sp>
      <p:sp>
        <p:nvSpPr>
          <p:cNvPr id="3" name="Text 15">
            <a:extLst>
              <a:ext uri="{FF2B5EF4-FFF2-40B4-BE49-F238E27FC236}">
                <a16:creationId xmlns:a16="http://schemas.microsoft.com/office/drawing/2014/main" id="{33BAD962-4175-7FBF-30A6-AD7039A04111}"/>
              </a:ext>
            </a:extLst>
          </p:cNvPr>
          <p:cNvSpPr/>
          <p:nvPr/>
        </p:nvSpPr>
        <p:spPr>
          <a:xfrm>
            <a:off x="601785" y="6405034"/>
            <a:ext cx="3779297" cy="220133"/>
          </a:xfrm>
          <a:prstGeom prst="rect">
            <a:avLst/>
          </a:prstGeom>
          <a:noFill/>
          <a:ln/>
        </p:spPr>
        <p:txBody>
          <a:bodyPr wrap="square" lIns="0" tIns="0" rIns="0" bIns="0" rtlCol="0" anchor="t">
            <a:normAutofit/>
          </a:bodyPr>
          <a:lstStyle/>
          <a:p>
            <a:pPr marL="0" indent="0" algn="ctr">
              <a:lnSpc>
                <a:spcPts val="1540"/>
              </a:lnSpc>
              <a:buNone/>
            </a:pPr>
            <a:r>
              <a:rPr lang="en-US" sz="900" dirty="0">
                <a:ea typeface="IBM Plex Sans" pitchFamily="34" charset="-122"/>
                <a:cs typeface="IBM Plex Sans" pitchFamily="34" charset="-120"/>
              </a:rPr>
              <a:t>White blood cell classification – CSCI 7090 – Group 4</a:t>
            </a:r>
            <a:endParaRPr lang="en-US" sz="900" dirty="0"/>
          </a:p>
        </p:txBody>
      </p:sp>
      <p:sp>
        <p:nvSpPr>
          <p:cNvPr id="4" name="Text 16">
            <a:extLst>
              <a:ext uri="{FF2B5EF4-FFF2-40B4-BE49-F238E27FC236}">
                <a16:creationId xmlns:a16="http://schemas.microsoft.com/office/drawing/2014/main" id="{AECF2379-FC51-78E4-2827-98EDDC74E787}"/>
              </a:ext>
            </a:extLst>
          </p:cNvPr>
          <p:cNvSpPr/>
          <p:nvPr/>
        </p:nvSpPr>
        <p:spPr>
          <a:xfrm>
            <a:off x="10931309" y="6408137"/>
            <a:ext cx="597319" cy="220133"/>
          </a:xfrm>
          <a:prstGeom prst="rect">
            <a:avLst/>
          </a:prstGeom>
          <a:noFill/>
          <a:ln/>
        </p:spPr>
        <p:txBody>
          <a:bodyPr wrap="square" lIns="0" tIns="0" rIns="0" bIns="0" rtlCol="0" anchor="ctr">
            <a:normAutofit/>
          </a:bodyPr>
          <a:lstStyle/>
          <a:p>
            <a:pPr marL="0" indent="0" algn="ctr">
              <a:lnSpc>
                <a:spcPts val="1540"/>
              </a:lnSpc>
              <a:buNone/>
            </a:pPr>
            <a:r>
              <a:rPr lang="en-US" sz="1100" b="1" dirty="0">
                <a:latin typeface="Calibri" panose="020F0502020204030204" pitchFamily="34" charset="0"/>
                <a:cs typeface="Calibri" panose="020F0502020204030204" pitchFamily="34" charset="0"/>
              </a:rPr>
              <a:t>Slide 11</a:t>
            </a:r>
          </a:p>
        </p:txBody>
      </p:sp>
      <p:sp>
        <p:nvSpPr>
          <p:cNvPr id="5" name="Rectangle 1">
            <a:extLst>
              <a:ext uri="{FF2B5EF4-FFF2-40B4-BE49-F238E27FC236}">
                <a16:creationId xmlns:a16="http://schemas.microsoft.com/office/drawing/2014/main" id="{DA580324-8E3D-D86A-A575-E1B2E46E351E}"/>
              </a:ext>
            </a:extLst>
          </p:cNvPr>
          <p:cNvSpPr>
            <a:spLocks noChangeArrowheads="1"/>
          </p:cNvSpPr>
          <p:nvPr/>
        </p:nvSpPr>
        <p:spPr bwMode="auto">
          <a:xfrm>
            <a:off x="1298231" y="1350708"/>
            <a:ext cx="9595537" cy="46166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0" i="0" u="none" strike="noStrike" cap="none" normalizeH="0" baseline="0" dirty="0" err="1">
                <a:ln>
                  <a:noFill/>
                </a:ln>
                <a:solidFill>
                  <a:srgbClr val="000000"/>
                </a:solidFill>
                <a:effectLst/>
                <a:latin typeface="Calibri" panose="020F0502020204030204" pitchFamily="34" charset="0"/>
                <a:cs typeface="Calibri" panose="020F0502020204030204" pitchFamily="34" charset="0"/>
              </a:rPr>
              <a:t>Davamani</a:t>
            </a:r>
            <a:r>
              <a:rPr kumimoji="0" lang="en-US" altLang="en-US" sz="1400" b="0" i="0" u="none" strike="noStrike" cap="none" normalizeH="0" baseline="0" dirty="0">
                <a:ln>
                  <a:noFill/>
                </a:ln>
                <a:solidFill>
                  <a:srgbClr val="000000"/>
                </a:solidFill>
                <a:effectLst/>
                <a:latin typeface="Calibri" panose="020F0502020204030204" pitchFamily="34" charset="0"/>
                <a:cs typeface="Calibri" panose="020F0502020204030204" pitchFamily="34" charset="0"/>
              </a:rPr>
              <a:t>, K. A., Jawahar, M., Anbarasi, L. J., Ravi, V., Al </a:t>
            </a:r>
            <a:r>
              <a:rPr kumimoji="0" lang="en-US" altLang="en-US" sz="1400" b="0" i="0" u="none" strike="noStrike" cap="none" normalizeH="0" baseline="0" dirty="0" err="1">
                <a:ln>
                  <a:noFill/>
                </a:ln>
                <a:solidFill>
                  <a:srgbClr val="000000"/>
                </a:solidFill>
                <a:effectLst/>
                <a:latin typeface="Calibri" panose="020F0502020204030204" pitchFamily="34" charset="0"/>
                <a:cs typeface="Calibri" panose="020F0502020204030204" pitchFamily="34" charset="0"/>
              </a:rPr>
              <a:t>Mazroa</a:t>
            </a:r>
            <a:r>
              <a:rPr kumimoji="0" lang="en-US" altLang="en-US" sz="1400" b="0" i="0" u="none" strike="noStrike" cap="none" normalizeH="0" baseline="0" dirty="0">
                <a:ln>
                  <a:noFill/>
                </a:ln>
                <a:solidFill>
                  <a:srgbClr val="000000"/>
                </a:solidFill>
                <a:effectLst/>
                <a:latin typeface="Calibri" panose="020F0502020204030204" pitchFamily="34" charset="0"/>
                <a:cs typeface="Calibri" panose="020F0502020204030204" pitchFamily="34" charset="0"/>
              </a:rPr>
              <a:t>, A., &amp; Robin, C. R. R. (2025). Deep transfer learning technique to detect white blood cell classification in regular clinical practice using histopathological images. </a:t>
            </a:r>
            <a:r>
              <a:rPr kumimoji="0" lang="en-US" altLang="en-US" sz="1400" b="0" i="1" u="none" strike="noStrike" cap="none" normalizeH="0" baseline="0" dirty="0">
                <a:ln>
                  <a:noFill/>
                </a:ln>
                <a:solidFill>
                  <a:srgbClr val="000000"/>
                </a:solidFill>
                <a:effectLst/>
                <a:latin typeface="Calibri" panose="020F0502020204030204" pitchFamily="34" charset="0"/>
                <a:cs typeface="Calibri" panose="020F0502020204030204" pitchFamily="34" charset="0"/>
              </a:rPr>
              <a:t>Multimedia Tools and Applications, 84</a:t>
            </a:r>
            <a:r>
              <a:rPr kumimoji="0" lang="en-US" altLang="en-US" sz="1400" b="0" i="0" u="none" strike="noStrike" cap="none" normalizeH="0" baseline="0" dirty="0">
                <a:ln>
                  <a:noFill/>
                </a:ln>
                <a:solidFill>
                  <a:srgbClr val="000000"/>
                </a:solidFill>
                <a:effectLst/>
                <a:latin typeface="Calibri" panose="020F0502020204030204" pitchFamily="34" charset="0"/>
                <a:cs typeface="Calibri" panose="020F0502020204030204" pitchFamily="34" charset="0"/>
              </a:rPr>
              <a:t>(9), 5699–5723. </a:t>
            </a:r>
            <a:r>
              <a:rPr kumimoji="0" lang="en-US" altLang="en-US" sz="1400" b="0" i="0" u="none" strike="noStrike" cap="none" normalizeH="0" baseline="0" dirty="0">
                <a:ln>
                  <a:noFill/>
                </a:ln>
                <a:solidFill>
                  <a:srgbClr val="000000"/>
                </a:solidFill>
                <a:effectLst/>
                <a:latin typeface="Calibri" panose="020F0502020204030204" pitchFamily="34" charset="0"/>
                <a:cs typeface="Calibri" panose="020F0502020204030204" pitchFamily="34" charset="0"/>
                <a:hlinkClick r:id="rId2"/>
              </a:rPr>
              <a:t>https://doi.org/10.1007/s11042-024-19133-8</a:t>
            </a:r>
            <a:endParaRPr kumimoji="0" lang="en-US" altLang="en-US" sz="14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0" i="0" u="none" strike="noStrike" cap="none" normalizeH="0" baseline="0" dirty="0">
                <a:ln>
                  <a:noFill/>
                </a:ln>
                <a:solidFill>
                  <a:srgbClr val="000000"/>
                </a:solidFill>
                <a:effectLst/>
                <a:latin typeface="Calibri" panose="020F0502020204030204" pitchFamily="34" charset="0"/>
                <a:cs typeface="Calibri" panose="020F0502020204030204" pitchFamily="34" charset="0"/>
              </a:rPr>
              <a:t>Gupta, S., &amp; Mishra, A. (2024). Deep transfer learning-based classification of white blood cells using customized classification base. In </a:t>
            </a:r>
            <a:r>
              <a:rPr kumimoji="0" lang="en-US" altLang="en-US" sz="1400" b="0" i="1" u="none" strike="noStrike" cap="none" normalizeH="0" baseline="0" dirty="0">
                <a:ln>
                  <a:noFill/>
                </a:ln>
                <a:solidFill>
                  <a:srgbClr val="000000"/>
                </a:solidFill>
                <a:effectLst/>
                <a:latin typeface="Calibri" panose="020F0502020204030204" pitchFamily="34" charset="0"/>
                <a:cs typeface="Calibri" panose="020F0502020204030204" pitchFamily="34" charset="0"/>
              </a:rPr>
              <a:t>Proceedings of the 2024 Sixteenth International Conference on Contemporary Computing (IC3-2024)</a:t>
            </a:r>
            <a:r>
              <a:rPr kumimoji="0" lang="en-US" altLang="en-US" sz="1400" b="0" i="0" u="none" strike="noStrike" cap="none" normalizeH="0" baseline="0" dirty="0">
                <a:ln>
                  <a:noFill/>
                </a:ln>
                <a:solidFill>
                  <a:srgbClr val="000000"/>
                </a:solidFill>
                <a:effectLst/>
                <a:latin typeface="Calibri" panose="020F0502020204030204" pitchFamily="34" charset="0"/>
                <a:cs typeface="Calibri" panose="020F0502020204030204" pitchFamily="34" charset="0"/>
              </a:rPr>
              <a:t>. ACM. </a:t>
            </a:r>
            <a:r>
              <a:rPr kumimoji="0" lang="en-US" altLang="en-US" sz="1400" b="0" i="0" u="none" strike="noStrike" cap="none" normalizeH="0" baseline="0" dirty="0">
                <a:ln>
                  <a:noFill/>
                </a:ln>
                <a:solidFill>
                  <a:srgbClr val="000000"/>
                </a:solidFill>
                <a:effectLst/>
                <a:latin typeface="Calibri" panose="020F0502020204030204" pitchFamily="34" charset="0"/>
                <a:cs typeface="Calibri" panose="020F0502020204030204" pitchFamily="34" charset="0"/>
                <a:hlinkClick r:id="rId3"/>
              </a:rPr>
              <a:t>https://doi.org/10.1145/3675888.3676117</a:t>
            </a:r>
            <a:endParaRPr kumimoji="0" lang="en-US" altLang="en-US" sz="14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0" i="0" u="none" strike="noStrike" cap="none" normalizeH="0" baseline="0" dirty="0">
                <a:ln>
                  <a:noFill/>
                </a:ln>
                <a:solidFill>
                  <a:srgbClr val="000000"/>
                </a:solidFill>
                <a:effectLst/>
                <a:latin typeface="Calibri" panose="020F0502020204030204" pitchFamily="34" charset="0"/>
                <a:cs typeface="Calibri" panose="020F0502020204030204" pitchFamily="34" charset="0"/>
              </a:rPr>
              <a:t>He, K., Zhang, X., Ren, S., &amp; Sun, J. (2016). Deep residual learning for image recognition. In </a:t>
            </a:r>
            <a:r>
              <a:rPr kumimoji="0" lang="en-US" altLang="en-US" sz="1400" b="0" i="1" u="none" strike="noStrike" cap="none" normalizeH="0" baseline="0" dirty="0">
                <a:ln>
                  <a:noFill/>
                </a:ln>
                <a:solidFill>
                  <a:srgbClr val="000000"/>
                </a:solidFill>
                <a:effectLst/>
                <a:latin typeface="Calibri" panose="020F0502020204030204" pitchFamily="34" charset="0"/>
                <a:cs typeface="Calibri" panose="020F0502020204030204" pitchFamily="34" charset="0"/>
              </a:rPr>
              <a:t>Proceedings of the IEEE Conference on Computer Vision and Pattern Recognition</a:t>
            </a:r>
            <a:r>
              <a:rPr kumimoji="0" lang="en-US" altLang="en-US" sz="1400" b="0" i="0" u="none" strike="noStrike" cap="none" normalizeH="0" baseline="0" dirty="0">
                <a:ln>
                  <a:noFill/>
                </a:ln>
                <a:solidFill>
                  <a:srgbClr val="000000"/>
                </a:solidFill>
                <a:effectLst/>
                <a:latin typeface="Calibri" panose="020F0502020204030204" pitchFamily="34" charset="0"/>
                <a:cs typeface="Calibri" panose="020F0502020204030204" pitchFamily="34" charset="0"/>
              </a:rPr>
              <a:t> (pp. 770–778). IEEE. </a:t>
            </a:r>
            <a:r>
              <a:rPr kumimoji="0" lang="en-US" altLang="en-US" sz="1400" b="0" i="0" u="none" strike="noStrike" cap="none" normalizeH="0" baseline="0" dirty="0">
                <a:ln>
                  <a:noFill/>
                </a:ln>
                <a:solidFill>
                  <a:srgbClr val="000000"/>
                </a:solidFill>
                <a:effectLst/>
                <a:latin typeface="Calibri" panose="020F0502020204030204" pitchFamily="34" charset="0"/>
                <a:cs typeface="Calibri" panose="020F0502020204030204" pitchFamily="34" charset="0"/>
                <a:hlinkClick r:id="rId4"/>
              </a:rPr>
              <a:t>https://doi.org/10.1109/CVPR.2016.90</a:t>
            </a:r>
            <a:endParaRPr kumimoji="0" lang="en-US" altLang="en-US" sz="14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0" i="0" u="none" strike="noStrike" cap="none" normalizeH="0" baseline="0" dirty="0">
                <a:ln>
                  <a:noFill/>
                </a:ln>
                <a:solidFill>
                  <a:srgbClr val="000000"/>
                </a:solidFill>
                <a:effectLst/>
                <a:latin typeface="Calibri" panose="020F0502020204030204" pitchFamily="34" charset="0"/>
                <a:cs typeface="Calibri" panose="020F0502020204030204" pitchFamily="34" charset="0"/>
              </a:rPr>
              <a:t>Huang, G., Liu, Z., van der </a:t>
            </a:r>
            <a:r>
              <a:rPr kumimoji="0" lang="en-US" altLang="en-US" sz="1400" b="0" i="0" u="none" strike="noStrike" cap="none" normalizeH="0" baseline="0" dirty="0" err="1">
                <a:ln>
                  <a:noFill/>
                </a:ln>
                <a:solidFill>
                  <a:srgbClr val="000000"/>
                </a:solidFill>
                <a:effectLst/>
                <a:latin typeface="Calibri" panose="020F0502020204030204" pitchFamily="34" charset="0"/>
                <a:cs typeface="Calibri" panose="020F0502020204030204" pitchFamily="34" charset="0"/>
              </a:rPr>
              <a:t>Maaten</a:t>
            </a:r>
            <a:r>
              <a:rPr kumimoji="0" lang="en-US" altLang="en-US" sz="1400" b="0" i="0" u="none" strike="noStrike" cap="none" normalizeH="0" baseline="0" dirty="0">
                <a:ln>
                  <a:noFill/>
                </a:ln>
                <a:solidFill>
                  <a:srgbClr val="000000"/>
                </a:solidFill>
                <a:effectLst/>
                <a:latin typeface="Calibri" panose="020F0502020204030204" pitchFamily="34" charset="0"/>
                <a:cs typeface="Calibri" panose="020F0502020204030204" pitchFamily="34" charset="0"/>
              </a:rPr>
              <a:t>, L., &amp; Weinberger, K. Q. (2017). Densely connected convolutional networks. In </a:t>
            </a:r>
            <a:r>
              <a:rPr kumimoji="0" lang="en-US" altLang="en-US" sz="1400" b="0" i="1" u="none" strike="noStrike" cap="none" normalizeH="0" baseline="0" dirty="0">
                <a:ln>
                  <a:noFill/>
                </a:ln>
                <a:solidFill>
                  <a:srgbClr val="000000"/>
                </a:solidFill>
                <a:effectLst/>
                <a:latin typeface="Calibri" panose="020F0502020204030204" pitchFamily="34" charset="0"/>
                <a:cs typeface="Calibri" panose="020F0502020204030204" pitchFamily="34" charset="0"/>
              </a:rPr>
              <a:t>Proceedings of the IEEE Conference on Computer Vision and Pattern Recognition</a:t>
            </a:r>
            <a:r>
              <a:rPr kumimoji="0" lang="en-US" altLang="en-US" sz="1400" b="0" i="0" u="none" strike="noStrike" cap="none" normalizeH="0" baseline="0" dirty="0">
                <a:ln>
                  <a:noFill/>
                </a:ln>
                <a:solidFill>
                  <a:srgbClr val="000000"/>
                </a:solidFill>
                <a:effectLst/>
                <a:latin typeface="Calibri" panose="020F0502020204030204" pitchFamily="34" charset="0"/>
                <a:cs typeface="Calibri" panose="020F0502020204030204" pitchFamily="34" charset="0"/>
              </a:rPr>
              <a:t> (pp. 4700–4708). IEEE. </a:t>
            </a:r>
            <a:r>
              <a:rPr kumimoji="0" lang="en-US" altLang="en-US" sz="1400" b="0" i="0" u="none" strike="noStrike" cap="none" normalizeH="0" baseline="0" dirty="0">
                <a:ln>
                  <a:noFill/>
                </a:ln>
                <a:solidFill>
                  <a:srgbClr val="000000"/>
                </a:solidFill>
                <a:effectLst/>
                <a:latin typeface="Calibri" panose="020F0502020204030204" pitchFamily="34" charset="0"/>
                <a:cs typeface="Calibri" panose="020F0502020204030204" pitchFamily="34" charset="0"/>
                <a:hlinkClick r:id="rId5"/>
              </a:rPr>
              <a:t>https://doi.org/10.1109/CVPR.2017.243</a:t>
            </a:r>
            <a:endParaRPr kumimoji="0" lang="en-US" altLang="en-US" sz="14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0" i="0" u="none" strike="noStrike" cap="none" normalizeH="0" baseline="0" dirty="0">
                <a:ln>
                  <a:noFill/>
                </a:ln>
                <a:solidFill>
                  <a:srgbClr val="000000"/>
                </a:solidFill>
                <a:effectLst/>
                <a:latin typeface="Calibri" panose="020F0502020204030204" pitchFamily="34" charset="0"/>
                <a:cs typeface="Calibri" panose="020F0502020204030204" pitchFamily="34" charset="0"/>
              </a:rPr>
              <a:t>Mooney, P. (2018). </a:t>
            </a:r>
            <a:r>
              <a:rPr kumimoji="0" lang="en-US" altLang="en-US" sz="1400" b="0" i="1" u="none" strike="noStrike" cap="none" normalizeH="0" baseline="0" dirty="0">
                <a:ln>
                  <a:noFill/>
                </a:ln>
                <a:solidFill>
                  <a:srgbClr val="000000"/>
                </a:solidFill>
                <a:effectLst/>
                <a:latin typeface="Calibri" panose="020F0502020204030204" pitchFamily="34" charset="0"/>
                <a:cs typeface="Calibri" panose="020F0502020204030204" pitchFamily="34" charset="0"/>
              </a:rPr>
              <a:t>Blood cell images</a:t>
            </a:r>
            <a:r>
              <a:rPr kumimoji="0" lang="en-US" altLang="en-US" sz="1400" b="0" i="0" u="none" strike="noStrike" cap="none" normalizeH="0" baseline="0" dirty="0">
                <a:ln>
                  <a:noFill/>
                </a:ln>
                <a:solidFill>
                  <a:srgbClr val="000000"/>
                </a:solidFill>
                <a:effectLst/>
                <a:latin typeface="Calibri" panose="020F0502020204030204" pitchFamily="34" charset="0"/>
                <a:cs typeface="Calibri" panose="020F0502020204030204" pitchFamily="34" charset="0"/>
              </a:rPr>
              <a:t> [Data set]. Kaggle. </a:t>
            </a:r>
            <a:r>
              <a:rPr kumimoji="0" lang="en-US" altLang="en-US" sz="1400" b="0" i="0" u="none" strike="noStrike" cap="none" normalizeH="0" baseline="0" dirty="0">
                <a:ln>
                  <a:noFill/>
                </a:ln>
                <a:solidFill>
                  <a:srgbClr val="000000"/>
                </a:solidFill>
                <a:effectLst/>
                <a:latin typeface="Calibri" panose="020F0502020204030204" pitchFamily="34" charset="0"/>
                <a:cs typeface="Calibri" panose="020F0502020204030204" pitchFamily="34" charset="0"/>
                <a:hlinkClick r:id="rId6"/>
              </a:rPr>
              <a:t>https://www.kaggle.com/datasets/paultimothymooney/blood-cells</a:t>
            </a:r>
            <a:endParaRPr kumimoji="0" lang="en-US" altLang="en-US" sz="14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0" i="0" u="none" strike="noStrike" cap="none" normalizeH="0" baseline="0" dirty="0">
                <a:ln>
                  <a:noFill/>
                </a:ln>
                <a:solidFill>
                  <a:srgbClr val="000000"/>
                </a:solidFill>
                <a:effectLst/>
                <a:latin typeface="Calibri" panose="020F0502020204030204" pitchFamily="34" charset="0"/>
                <a:cs typeface="Calibri" panose="020F0502020204030204" pitchFamily="34" charset="0"/>
              </a:rPr>
              <a:t>Praveen, N., Punn, N. S., </a:t>
            </a:r>
            <a:r>
              <a:rPr kumimoji="0" lang="en-US" altLang="en-US" sz="1400" b="0" i="0" u="none" strike="noStrike" cap="none" normalizeH="0" baseline="0" dirty="0" err="1">
                <a:ln>
                  <a:noFill/>
                </a:ln>
                <a:solidFill>
                  <a:srgbClr val="000000"/>
                </a:solidFill>
                <a:effectLst/>
                <a:latin typeface="Calibri" panose="020F0502020204030204" pitchFamily="34" charset="0"/>
                <a:cs typeface="Calibri" panose="020F0502020204030204" pitchFamily="34" charset="0"/>
              </a:rPr>
              <a:t>Sonbhadra</a:t>
            </a:r>
            <a:r>
              <a:rPr kumimoji="0" lang="en-US" altLang="en-US" sz="1400" b="0" i="0" u="none" strike="noStrike" cap="none" normalizeH="0" baseline="0" dirty="0">
                <a:ln>
                  <a:noFill/>
                </a:ln>
                <a:solidFill>
                  <a:srgbClr val="000000"/>
                </a:solidFill>
                <a:effectLst/>
                <a:latin typeface="Calibri" panose="020F0502020204030204" pitchFamily="34" charset="0"/>
                <a:cs typeface="Calibri" panose="020F0502020204030204" pitchFamily="34" charset="0"/>
              </a:rPr>
              <a:t>, S. K., Agarwal, S., </a:t>
            </a:r>
            <a:r>
              <a:rPr kumimoji="0" lang="en-US" altLang="en-US" sz="1400" b="0" i="0" u="none" strike="noStrike" cap="none" normalizeH="0" baseline="0" dirty="0" err="1">
                <a:ln>
                  <a:noFill/>
                </a:ln>
                <a:solidFill>
                  <a:srgbClr val="000000"/>
                </a:solidFill>
                <a:effectLst/>
                <a:latin typeface="Calibri" panose="020F0502020204030204" pitchFamily="34" charset="0"/>
                <a:cs typeface="Calibri" panose="020F0502020204030204" pitchFamily="34" charset="0"/>
              </a:rPr>
              <a:t>Syafrullah</a:t>
            </a:r>
            <a:r>
              <a:rPr kumimoji="0" lang="en-US" altLang="en-US" sz="1400" b="0" i="0" u="none" strike="noStrike" cap="none" normalizeH="0" baseline="0" dirty="0">
                <a:ln>
                  <a:noFill/>
                </a:ln>
                <a:solidFill>
                  <a:srgbClr val="000000"/>
                </a:solidFill>
                <a:effectLst/>
                <a:latin typeface="Calibri" panose="020F0502020204030204" pitchFamily="34" charset="0"/>
                <a:cs typeface="Calibri" panose="020F0502020204030204" pitchFamily="34" charset="0"/>
              </a:rPr>
              <a:t>, M., &amp; </a:t>
            </a:r>
            <a:r>
              <a:rPr kumimoji="0" lang="en-US" altLang="en-US" sz="1400" b="0" i="0" u="none" strike="noStrike" cap="none" normalizeH="0" baseline="0" dirty="0" err="1">
                <a:ln>
                  <a:noFill/>
                </a:ln>
                <a:solidFill>
                  <a:srgbClr val="000000"/>
                </a:solidFill>
                <a:effectLst/>
                <a:latin typeface="Calibri" panose="020F0502020204030204" pitchFamily="34" charset="0"/>
                <a:cs typeface="Calibri" panose="020F0502020204030204" pitchFamily="34" charset="0"/>
              </a:rPr>
              <a:t>Adiyarta</a:t>
            </a:r>
            <a:r>
              <a:rPr kumimoji="0" lang="en-US" altLang="en-US" sz="1400" b="0" i="0" u="none" strike="noStrike" cap="none" normalizeH="0" baseline="0" dirty="0">
                <a:ln>
                  <a:noFill/>
                </a:ln>
                <a:solidFill>
                  <a:srgbClr val="000000"/>
                </a:solidFill>
                <a:effectLst/>
                <a:latin typeface="Calibri" panose="020F0502020204030204" pitchFamily="34" charset="0"/>
                <a:cs typeface="Calibri" panose="020F0502020204030204" pitchFamily="34" charset="0"/>
              </a:rPr>
              <a:t>, K. (2021). </a:t>
            </a:r>
            <a:r>
              <a:rPr kumimoji="0" lang="en-US" altLang="en-US" sz="1400" b="0" i="1" u="none" strike="noStrike" cap="none" normalizeH="0" baseline="0" dirty="0">
                <a:ln>
                  <a:noFill/>
                </a:ln>
                <a:solidFill>
                  <a:srgbClr val="000000"/>
                </a:solidFill>
                <a:effectLst/>
                <a:latin typeface="Calibri" panose="020F0502020204030204" pitchFamily="34" charset="0"/>
                <a:cs typeface="Calibri" panose="020F0502020204030204" pitchFamily="34" charset="0"/>
              </a:rPr>
              <a:t>White blood cell subtype detection and classification</a:t>
            </a:r>
            <a:r>
              <a:rPr kumimoji="0" lang="en-US" altLang="en-US" sz="1400" b="0" i="0" u="none" strike="noStrike" cap="none" normalizeH="0" baseline="0" dirty="0">
                <a:ln>
                  <a:noFill/>
                </a:ln>
                <a:solidFill>
                  <a:srgbClr val="000000"/>
                </a:solidFill>
                <a:effectLst/>
                <a:latin typeface="Calibri" panose="020F0502020204030204" pitchFamily="34" charset="0"/>
                <a:cs typeface="Calibri" panose="020F0502020204030204" pitchFamily="34" charset="0"/>
              </a:rPr>
              <a:t> (arXiv:2108.04614). </a:t>
            </a:r>
            <a:r>
              <a:rPr kumimoji="0" lang="en-US" altLang="en-US" sz="1400" b="0" i="0" u="none" strike="noStrike" cap="none" normalizeH="0" baseline="0" dirty="0" err="1">
                <a:ln>
                  <a:noFill/>
                </a:ln>
                <a:solidFill>
                  <a:srgbClr val="000000"/>
                </a:solidFill>
                <a:effectLst/>
                <a:latin typeface="Calibri" panose="020F0502020204030204" pitchFamily="34" charset="0"/>
                <a:cs typeface="Calibri" panose="020F0502020204030204" pitchFamily="34" charset="0"/>
              </a:rPr>
              <a:t>arXiv</a:t>
            </a:r>
            <a:r>
              <a:rPr kumimoji="0" lang="en-US" altLang="en-US" sz="1400" b="0" i="0" u="none" strike="noStrike" cap="none" normalizeH="0" baseline="0" dirty="0">
                <a:ln>
                  <a:noFill/>
                </a:ln>
                <a:solidFill>
                  <a:srgbClr val="000000"/>
                </a:solidFill>
                <a:effectLst/>
                <a:latin typeface="Calibri" panose="020F0502020204030204" pitchFamily="34" charset="0"/>
                <a:cs typeface="Calibri" panose="020F0502020204030204" pitchFamily="34" charset="0"/>
              </a:rPr>
              <a:t>. </a:t>
            </a:r>
            <a:r>
              <a:rPr kumimoji="0" lang="en-US" altLang="en-US" sz="1400" b="0" i="0" u="none" strike="noStrike" cap="none" normalizeH="0" baseline="0" dirty="0">
                <a:ln>
                  <a:noFill/>
                </a:ln>
                <a:solidFill>
                  <a:srgbClr val="000000"/>
                </a:solidFill>
                <a:effectLst/>
                <a:latin typeface="Calibri" panose="020F0502020204030204" pitchFamily="34" charset="0"/>
                <a:cs typeface="Calibri" panose="020F0502020204030204" pitchFamily="34" charset="0"/>
                <a:hlinkClick r:id="rId7"/>
              </a:rPr>
              <a:t>https://arxiv.org/abs/2108.04614</a:t>
            </a:r>
            <a:endParaRPr kumimoji="0" lang="en-US" altLang="en-US" sz="14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0" i="0" u="none" strike="noStrike" cap="none" normalizeH="0" baseline="0" dirty="0">
                <a:ln>
                  <a:noFill/>
                </a:ln>
                <a:solidFill>
                  <a:srgbClr val="000000"/>
                </a:solidFill>
                <a:effectLst/>
                <a:latin typeface="Calibri" panose="020F0502020204030204" pitchFamily="34" charset="0"/>
                <a:cs typeface="Calibri" panose="020F0502020204030204" pitchFamily="34" charset="0"/>
              </a:rPr>
              <a:t>Selvaraju, R. R., Cogswell, M., Das, A., </a:t>
            </a:r>
            <a:r>
              <a:rPr kumimoji="0" lang="en-US" altLang="en-US" sz="1400" b="0" i="0" u="none" strike="noStrike" cap="none" normalizeH="0" baseline="0" dirty="0" err="1">
                <a:ln>
                  <a:noFill/>
                </a:ln>
                <a:solidFill>
                  <a:srgbClr val="000000"/>
                </a:solidFill>
                <a:effectLst/>
                <a:latin typeface="Calibri" panose="020F0502020204030204" pitchFamily="34" charset="0"/>
                <a:cs typeface="Calibri" panose="020F0502020204030204" pitchFamily="34" charset="0"/>
              </a:rPr>
              <a:t>Vedantam</a:t>
            </a:r>
            <a:r>
              <a:rPr kumimoji="0" lang="en-US" altLang="en-US" sz="1400" b="0" i="0" u="none" strike="noStrike" cap="none" normalizeH="0" baseline="0" dirty="0">
                <a:ln>
                  <a:noFill/>
                </a:ln>
                <a:solidFill>
                  <a:srgbClr val="000000"/>
                </a:solidFill>
                <a:effectLst/>
                <a:latin typeface="Calibri" panose="020F0502020204030204" pitchFamily="34" charset="0"/>
                <a:cs typeface="Calibri" panose="020F0502020204030204" pitchFamily="34" charset="0"/>
              </a:rPr>
              <a:t>, R., Parikh, D., &amp; Batra, D. (2017). Grad-CAM: Visual explanations from deep networks via gradient-based localization. In </a:t>
            </a:r>
            <a:r>
              <a:rPr kumimoji="0" lang="en-US" altLang="en-US" sz="1400" b="0" i="1" u="none" strike="noStrike" cap="none" normalizeH="0" baseline="0" dirty="0">
                <a:ln>
                  <a:noFill/>
                </a:ln>
                <a:solidFill>
                  <a:srgbClr val="000000"/>
                </a:solidFill>
                <a:effectLst/>
                <a:latin typeface="Calibri" panose="020F0502020204030204" pitchFamily="34" charset="0"/>
                <a:cs typeface="Calibri" panose="020F0502020204030204" pitchFamily="34" charset="0"/>
              </a:rPr>
              <a:t>Proceedings of the IEEE International Conference on Computer Vision</a:t>
            </a:r>
            <a:r>
              <a:rPr kumimoji="0" lang="en-US" altLang="en-US" sz="1400" b="0" i="0" u="none" strike="noStrike" cap="none" normalizeH="0" baseline="0" dirty="0">
                <a:ln>
                  <a:noFill/>
                </a:ln>
                <a:solidFill>
                  <a:srgbClr val="000000"/>
                </a:solidFill>
                <a:effectLst/>
                <a:latin typeface="Calibri" panose="020F0502020204030204" pitchFamily="34" charset="0"/>
                <a:cs typeface="Calibri" panose="020F0502020204030204" pitchFamily="34" charset="0"/>
              </a:rPr>
              <a:t> (pp. 618–626). IEEE. </a:t>
            </a:r>
            <a:r>
              <a:rPr kumimoji="0" lang="en-US" altLang="en-US" sz="1400" b="0" i="0" u="none" strike="noStrike" cap="none" normalizeH="0" baseline="0" dirty="0">
                <a:ln>
                  <a:noFill/>
                </a:ln>
                <a:solidFill>
                  <a:srgbClr val="000000"/>
                </a:solidFill>
                <a:effectLst/>
                <a:latin typeface="Calibri" panose="020F0502020204030204" pitchFamily="34" charset="0"/>
                <a:cs typeface="Calibri" panose="020F0502020204030204" pitchFamily="34" charset="0"/>
                <a:hlinkClick r:id="rId8"/>
              </a:rPr>
              <a:t>https://doi.org/10.1109/ICCV.2017.74</a:t>
            </a:r>
            <a:endParaRPr kumimoji="0" lang="en-US" altLang="en-US" sz="14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0" i="0" u="none" strike="noStrike" cap="none" normalizeH="0" baseline="0" dirty="0">
                <a:ln>
                  <a:noFill/>
                </a:ln>
                <a:solidFill>
                  <a:srgbClr val="000000"/>
                </a:solidFill>
                <a:effectLst/>
                <a:latin typeface="Calibri" panose="020F0502020204030204" pitchFamily="34" charset="0"/>
                <a:cs typeface="Calibri" panose="020F0502020204030204" pitchFamily="34" charset="0"/>
              </a:rPr>
              <a:t>Shorten, C., &amp; </a:t>
            </a:r>
            <a:r>
              <a:rPr kumimoji="0" lang="en-US" altLang="en-US" sz="1400" b="0" i="0" u="none" strike="noStrike" cap="none" normalizeH="0" baseline="0" dirty="0" err="1">
                <a:ln>
                  <a:noFill/>
                </a:ln>
                <a:solidFill>
                  <a:srgbClr val="000000"/>
                </a:solidFill>
                <a:effectLst/>
                <a:latin typeface="Calibri" panose="020F0502020204030204" pitchFamily="34" charset="0"/>
                <a:cs typeface="Calibri" panose="020F0502020204030204" pitchFamily="34" charset="0"/>
              </a:rPr>
              <a:t>Khoshgoftaar</a:t>
            </a:r>
            <a:r>
              <a:rPr kumimoji="0" lang="en-US" altLang="en-US" sz="1400" b="0" i="0" u="none" strike="noStrike" cap="none" normalizeH="0" baseline="0" dirty="0">
                <a:ln>
                  <a:noFill/>
                </a:ln>
                <a:solidFill>
                  <a:srgbClr val="000000"/>
                </a:solidFill>
                <a:effectLst/>
                <a:latin typeface="Calibri" panose="020F0502020204030204" pitchFamily="34" charset="0"/>
                <a:cs typeface="Calibri" panose="020F0502020204030204" pitchFamily="34" charset="0"/>
              </a:rPr>
              <a:t>, T. M. (2019). A survey on image data augmentation for deep learning. </a:t>
            </a:r>
            <a:r>
              <a:rPr kumimoji="0" lang="en-US" altLang="en-US" sz="1400" b="0" i="1" u="none" strike="noStrike" cap="none" normalizeH="0" baseline="0" dirty="0">
                <a:ln>
                  <a:noFill/>
                </a:ln>
                <a:solidFill>
                  <a:srgbClr val="000000"/>
                </a:solidFill>
                <a:effectLst/>
                <a:latin typeface="Calibri" panose="020F0502020204030204" pitchFamily="34" charset="0"/>
                <a:cs typeface="Calibri" panose="020F0502020204030204" pitchFamily="34" charset="0"/>
              </a:rPr>
              <a:t>Journal of Big Data, 6</a:t>
            </a:r>
            <a:r>
              <a:rPr kumimoji="0" lang="en-US" altLang="en-US" sz="1400" b="0" i="0" u="none" strike="noStrike" cap="none" normalizeH="0" baseline="0" dirty="0">
                <a:ln>
                  <a:noFill/>
                </a:ln>
                <a:solidFill>
                  <a:srgbClr val="000000"/>
                </a:solidFill>
                <a:effectLst/>
                <a:latin typeface="Calibri" panose="020F0502020204030204" pitchFamily="34" charset="0"/>
                <a:cs typeface="Calibri" panose="020F0502020204030204" pitchFamily="34" charset="0"/>
              </a:rPr>
              <a:t>(1), Article 60. </a:t>
            </a:r>
            <a:r>
              <a:rPr kumimoji="0" lang="en-US" altLang="en-US" sz="1400" b="0" i="0" u="none" strike="noStrike" cap="none" normalizeH="0" baseline="0" dirty="0">
                <a:ln>
                  <a:noFill/>
                </a:ln>
                <a:solidFill>
                  <a:srgbClr val="000000"/>
                </a:solidFill>
                <a:effectLst/>
                <a:latin typeface="Calibri" panose="020F0502020204030204" pitchFamily="34" charset="0"/>
                <a:cs typeface="Calibri" panose="020F0502020204030204" pitchFamily="34" charset="0"/>
                <a:hlinkClick r:id="rId9"/>
              </a:rPr>
              <a:t>https://doi.org/10.1186/s40537-019-0197-0</a:t>
            </a:r>
            <a:endParaRPr kumimoji="0" lang="en-US" altLang="en-US" sz="14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0" i="0" u="none" strike="noStrike" cap="none" normalizeH="0" baseline="0" dirty="0">
                <a:ln>
                  <a:noFill/>
                </a:ln>
                <a:solidFill>
                  <a:srgbClr val="000000"/>
                </a:solidFill>
                <a:effectLst/>
                <a:latin typeface="Calibri" panose="020F0502020204030204" pitchFamily="34" charset="0"/>
                <a:cs typeface="Calibri" panose="020F0502020204030204" pitchFamily="34" charset="0"/>
              </a:rPr>
              <a:t>Tan, M., &amp; Le, Q. V. (2019). </a:t>
            </a:r>
            <a:r>
              <a:rPr kumimoji="0" lang="en-US" altLang="en-US" sz="1400" b="0" i="0" u="none" strike="noStrike" cap="none" normalizeH="0" baseline="0" dirty="0" err="1">
                <a:ln>
                  <a:noFill/>
                </a:ln>
                <a:solidFill>
                  <a:srgbClr val="000000"/>
                </a:solidFill>
                <a:effectLst/>
                <a:latin typeface="Calibri" panose="020F0502020204030204" pitchFamily="34" charset="0"/>
                <a:cs typeface="Calibri" panose="020F0502020204030204" pitchFamily="34" charset="0"/>
              </a:rPr>
              <a:t>EfficientNet</a:t>
            </a:r>
            <a:r>
              <a:rPr kumimoji="0" lang="en-US" altLang="en-US" sz="1400" b="0" i="0" u="none" strike="noStrike" cap="none" normalizeH="0" baseline="0" dirty="0">
                <a:ln>
                  <a:noFill/>
                </a:ln>
                <a:solidFill>
                  <a:srgbClr val="000000"/>
                </a:solidFill>
                <a:effectLst/>
                <a:latin typeface="Calibri" panose="020F0502020204030204" pitchFamily="34" charset="0"/>
                <a:cs typeface="Calibri" panose="020F0502020204030204" pitchFamily="34" charset="0"/>
              </a:rPr>
              <a:t>: Rethinking model scaling for convolutional neural networks. In </a:t>
            </a:r>
            <a:r>
              <a:rPr kumimoji="0" lang="en-US" altLang="en-US" sz="1400" b="0" i="1" u="none" strike="noStrike" cap="none" normalizeH="0" baseline="0" dirty="0">
                <a:ln>
                  <a:noFill/>
                </a:ln>
                <a:solidFill>
                  <a:srgbClr val="000000"/>
                </a:solidFill>
                <a:effectLst/>
                <a:latin typeface="Calibri" panose="020F0502020204030204" pitchFamily="34" charset="0"/>
                <a:cs typeface="Calibri" panose="020F0502020204030204" pitchFamily="34" charset="0"/>
              </a:rPr>
              <a:t>Proceedings of the 36th International Conference on Machine Learning</a:t>
            </a:r>
            <a:r>
              <a:rPr kumimoji="0" lang="en-US" altLang="en-US" sz="1400" b="0" i="0" u="none" strike="noStrike" cap="none" normalizeH="0" baseline="0" dirty="0">
                <a:ln>
                  <a:noFill/>
                </a:ln>
                <a:solidFill>
                  <a:srgbClr val="000000"/>
                </a:solidFill>
                <a:effectLst/>
                <a:latin typeface="Calibri" panose="020F0502020204030204" pitchFamily="34" charset="0"/>
                <a:cs typeface="Calibri" panose="020F0502020204030204" pitchFamily="34" charset="0"/>
              </a:rPr>
              <a:t> (pp. 6105–6114). PMLR.</a:t>
            </a:r>
            <a:endParaRPr kumimoji="0" lang="en-US" altLang="en-US" sz="14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3088927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E84BF59-CAFF-C53D-7A47-C2A1497C1FA4}"/>
              </a:ext>
            </a:extLst>
          </p:cNvPr>
          <p:cNvPicPr>
            <a:picLocks noChangeAspect="1"/>
          </p:cNvPicPr>
          <p:nvPr/>
        </p:nvPicPr>
        <p:blipFill>
          <a:blip r:embed="rId2"/>
          <a:stretch>
            <a:fillRect/>
          </a:stretch>
        </p:blipFill>
        <p:spPr>
          <a:xfrm>
            <a:off x="3047232" y="391850"/>
            <a:ext cx="6097535" cy="5645325"/>
          </a:xfrm>
          <a:prstGeom prst="rect">
            <a:avLst/>
          </a:prstGeom>
        </p:spPr>
      </p:pic>
      <p:sp>
        <p:nvSpPr>
          <p:cNvPr id="4" name="Text 16">
            <a:extLst>
              <a:ext uri="{FF2B5EF4-FFF2-40B4-BE49-F238E27FC236}">
                <a16:creationId xmlns:a16="http://schemas.microsoft.com/office/drawing/2014/main" id="{ADC49481-2E70-1379-4E4A-CEAF5F8C56D6}"/>
              </a:ext>
            </a:extLst>
          </p:cNvPr>
          <p:cNvSpPr/>
          <p:nvPr/>
        </p:nvSpPr>
        <p:spPr>
          <a:xfrm>
            <a:off x="10931309" y="6408137"/>
            <a:ext cx="597319" cy="220133"/>
          </a:xfrm>
          <a:prstGeom prst="rect">
            <a:avLst/>
          </a:prstGeom>
          <a:noFill/>
          <a:ln/>
        </p:spPr>
        <p:txBody>
          <a:bodyPr wrap="square" lIns="0" tIns="0" rIns="0" bIns="0" rtlCol="0" anchor="ctr">
            <a:normAutofit/>
          </a:bodyPr>
          <a:lstStyle/>
          <a:p>
            <a:pPr marL="0" indent="0" algn="ctr">
              <a:lnSpc>
                <a:spcPts val="1540"/>
              </a:lnSpc>
              <a:buNone/>
            </a:pPr>
            <a:r>
              <a:rPr lang="en-US" sz="1100" b="1" dirty="0">
                <a:latin typeface="Calibri" panose="020F0502020204030204" pitchFamily="34" charset="0"/>
                <a:cs typeface="Calibri" panose="020F0502020204030204" pitchFamily="34" charset="0"/>
              </a:rPr>
              <a:t>Slide 12</a:t>
            </a:r>
          </a:p>
        </p:txBody>
      </p:sp>
      <p:sp>
        <p:nvSpPr>
          <p:cNvPr id="5" name="Text 15">
            <a:extLst>
              <a:ext uri="{FF2B5EF4-FFF2-40B4-BE49-F238E27FC236}">
                <a16:creationId xmlns:a16="http://schemas.microsoft.com/office/drawing/2014/main" id="{690E57A5-8FBB-732D-4310-68DF172C9E66}"/>
              </a:ext>
            </a:extLst>
          </p:cNvPr>
          <p:cNvSpPr/>
          <p:nvPr/>
        </p:nvSpPr>
        <p:spPr>
          <a:xfrm>
            <a:off x="601785" y="6405034"/>
            <a:ext cx="3779297" cy="220133"/>
          </a:xfrm>
          <a:prstGeom prst="rect">
            <a:avLst/>
          </a:prstGeom>
          <a:noFill/>
          <a:ln/>
        </p:spPr>
        <p:txBody>
          <a:bodyPr wrap="square" lIns="0" tIns="0" rIns="0" bIns="0" rtlCol="0" anchor="t">
            <a:normAutofit/>
          </a:bodyPr>
          <a:lstStyle/>
          <a:p>
            <a:pPr marL="0" indent="0" algn="ctr">
              <a:lnSpc>
                <a:spcPts val="1540"/>
              </a:lnSpc>
              <a:buNone/>
            </a:pPr>
            <a:r>
              <a:rPr lang="en-US" sz="900" dirty="0">
                <a:ea typeface="IBM Plex Sans" pitchFamily="34" charset="-122"/>
                <a:cs typeface="IBM Plex Sans" pitchFamily="34" charset="-120"/>
              </a:rPr>
              <a:t>White blood cell classification – CSCI 7090 – Group 4</a:t>
            </a:r>
            <a:endParaRPr lang="en-US" sz="900" dirty="0"/>
          </a:p>
        </p:txBody>
      </p:sp>
    </p:spTree>
    <p:extLst>
      <p:ext uri="{BB962C8B-B14F-4D97-AF65-F5344CB8AC3E}">
        <p14:creationId xmlns:p14="http://schemas.microsoft.com/office/powerpoint/2010/main" val="9070249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116</TotalTime>
  <Words>2741</Words>
  <Application>Microsoft Macintosh PowerPoint</Application>
  <PresentationFormat>Widescreen</PresentationFormat>
  <Paragraphs>171</Paragraphs>
  <Slides>12</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Consolas</vt:lpstr>
      <vt:lpstr>EB Garamond</vt:lpstr>
      <vt:lpstr>IBM Plex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Blood Cell Classification - Midterm</dc:title>
  <dc:subject>PptxGenJS Presentation</dc:subject>
  <dc:creator>PptxGenJS</dc:creator>
  <cp:lastModifiedBy>Yasminrocio Orduzlandazabal</cp:lastModifiedBy>
  <cp:revision>21</cp:revision>
  <dcterms:created xsi:type="dcterms:W3CDTF">2026-09-23T20:25:40Z</dcterms:created>
  <dcterms:modified xsi:type="dcterms:W3CDTF">2026-09-24T19:50:09Z</dcterms:modified>
</cp:coreProperties>
</file>